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4"/>
  </p:notesMasterIdLst>
  <p:handoutMasterIdLst>
    <p:handoutMasterId r:id="rId65"/>
  </p:handoutMasterIdLst>
  <p:sldIdLst>
    <p:sldId id="256" r:id="rId5"/>
    <p:sldId id="257" r:id="rId6"/>
    <p:sldId id="321" r:id="rId7"/>
    <p:sldId id="302" r:id="rId8"/>
    <p:sldId id="258" r:id="rId9"/>
    <p:sldId id="312" r:id="rId10"/>
    <p:sldId id="331" r:id="rId11"/>
    <p:sldId id="332" r:id="rId12"/>
    <p:sldId id="313" r:id="rId13"/>
    <p:sldId id="322" r:id="rId14"/>
    <p:sldId id="324" r:id="rId15"/>
    <p:sldId id="323" r:id="rId16"/>
    <p:sldId id="344" r:id="rId17"/>
    <p:sldId id="262" r:id="rId18"/>
    <p:sldId id="263" r:id="rId19"/>
    <p:sldId id="315" r:id="rId20"/>
    <p:sldId id="319" r:id="rId21"/>
    <p:sldId id="342" r:id="rId22"/>
    <p:sldId id="320" r:id="rId23"/>
    <p:sldId id="317" r:id="rId24"/>
    <p:sldId id="318" r:id="rId25"/>
    <p:sldId id="264" r:id="rId26"/>
    <p:sldId id="265" r:id="rId27"/>
    <p:sldId id="266" r:id="rId28"/>
    <p:sldId id="267" r:id="rId29"/>
    <p:sldId id="270" r:id="rId30"/>
    <p:sldId id="271" r:id="rId31"/>
    <p:sldId id="272" r:id="rId32"/>
    <p:sldId id="273" r:id="rId33"/>
    <p:sldId id="334" r:id="rId34"/>
    <p:sldId id="335" r:id="rId35"/>
    <p:sldId id="274" r:id="rId36"/>
    <p:sldId id="336" r:id="rId37"/>
    <p:sldId id="345" r:id="rId38"/>
    <p:sldId id="276" r:id="rId39"/>
    <p:sldId id="277" r:id="rId40"/>
    <p:sldId id="278" r:id="rId41"/>
    <p:sldId id="279" r:id="rId42"/>
    <p:sldId id="281" r:id="rId43"/>
    <p:sldId id="296" r:id="rId44"/>
    <p:sldId id="290" r:id="rId45"/>
    <p:sldId id="337" r:id="rId46"/>
    <p:sldId id="341" r:id="rId47"/>
    <p:sldId id="339" r:id="rId48"/>
    <p:sldId id="340" r:id="rId49"/>
    <p:sldId id="287" r:id="rId50"/>
    <p:sldId id="325" r:id="rId51"/>
    <p:sldId id="326" r:id="rId52"/>
    <p:sldId id="343" r:id="rId53"/>
    <p:sldId id="333" r:id="rId54"/>
    <p:sldId id="330" r:id="rId55"/>
    <p:sldId id="295" r:id="rId56"/>
    <p:sldId id="327" r:id="rId57"/>
    <p:sldId id="329" r:id="rId58"/>
    <p:sldId id="346" r:id="rId59"/>
    <p:sldId id="328" r:id="rId60"/>
    <p:sldId id="306" r:id="rId61"/>
    <p:sldId id="307" r:id="rId62"/>
    <p:sldId id="303" r:id="rId63"/>
  </p:sldIdLst>
  <p:sldSz cx="9144000" cy="6858000" type="screen4x3"/>
  <p:notesSz cx="6858000" cy="9144000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預設章節" id="{2F2129D0-46EB-4521-AE62-BCD573764BEC}">
          <p14:sldIdLst>
            <p14:sldId id="256"/>
            <p14:sldId id="257"/>
            <p14:sldId id="321"/>
            <p14:sldId id="302"/>
            <p14:sldId id="258"/>
            <p14:sldId id="312"/>
            <p14:sldId id="331"/>
            <p14:sldId id="332"/>
            <p14:sldId id="313"/>
            <p14:sldId id="322"/>
            <p14:sldId id="324"/>
            <p14:sldId id="323"/>
            <p14:sldId id="344"/>
            <p14:sldId id="262"/>
            <p14:sldId id="263"/>
            <p14:sldId id="315"/>
            <p14:sldId id="319"/>
            <p14:sldId id="342"/>
            <p14:sldId id="320"/>
            <p14:sldId id="317"/>
            <p14:sldId id="318"/>
            <p14:sldId id="264"/>
            <p14:sldId id="265"/>
            <p14:sldId id="266"/>
            <p14:sldId id="267"/>
            <p14:sldId id="270"/>
            <p14:sldId id="271"/>
            <p14:sldId id="272"/>
            <p14:sldId id="273"/>
            <p14:sldId id="334"/>
            <p14:sldId id="335"/>
            <p14:sldId id="274"/>
            <p14:sldId id="336"/>
            <p14:sldId id="345"/>
            <p14:sldId id="276"/>
            <p14:sldId id="277"/>
            <p14:sldId id="278"/>
            <p14:sldId id="279"/>
            <p14:sldId id="281"/>
            <p14:sldId id="296"/>
            <p14:sldId id="290"/>
            <p14:sldId id="337"/>
            <p14:sldId id="341"/>
            <p14:sldId id="339"/>
            <p14:sldId id="340"/>
            <p14:sldId id="287"/>
            <p14:sldId id="325"/>
            <p14:sldId id="326"/>
            <p14:sldId id="343"/>
            <p14:sldId id="333"/>
            <p14:sldId id="330"/>
            <p14:sldId id="295"/>
            <p14:sldId id="327"/>
            <p14:sldId id="329"/>
            <p14:sldId id="346"/>
            <p14:sldId id="328"/>
            <p14:sldId id="306"/>
            <p14:sldId id="307"/>
            <p14:sldId id="30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FF"/>
    <a:srgbClr val="000099"/>
    <a:srgbClr val="422C16"/>
    <a:srgbClr val="FFFFFF"/>
    <a:srgbClr val="004C00"/>
    <a:srgbClr val="0C788E"/>
    <a:srgbClr val="025198"/>
    <a:srgbClr val="1C1C1C"/>
    <a:srgbClr val="3E3D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071880-2CB6-4C3B-95DE-FE496FEEB261}" v="1" dt="2026-02-02T08:44:25.5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734" autoAdjust="0"/>
    <p:restoredTop sz="86409" autoAdjust="0"/>
  </p:normalViewPr>
  <p:slideViewPr>
    <p:cSldViewPr>
      <p:cViewPr>
        <p:scale>
          <a:sx n="106" d="100"/>
          <a:sy n="106" d="100"/>
        </p:scale>
        <p:origin x="258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541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theme" Target="theme/theme1.xml"/><Relationship Id="rId7" Type="http://schemas.openxmlformats.org/officeDocument/2006/relationships/slide" Target="slides/slide3.xml"/><Relationship Id="rId71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IANA ASANDEI" userId="S::georgiana.asandei@stud.ubbcluj.ro::3fdd1e49-417e-4b60-910e-9bdb369ca711" providerId="AD" clId="Web-{D3F27320-4050-C3B7-149B-1BEF1CBFD7B0}"/>
    <pc:docChg chg="sldOrd">
      <pc:chgData name="GEORGIANA ASANDEI" userId="S::georgiana.asandei@stud.ubbcluj.ro::3fdd1e49-417e-4b60-910e-9bdb369ca711" providerId="AD" clId="Web-{D3F27320-4050-C3B7-149B-1BEF1CBFD7B0}" dt="2026-01-09T15:19:49.997" v="0"/>
      <pc:docMkLst>
        <pc:docMk/>
      </pc:docMkLst>
      <pc:sldChg chg="ord">
        <pc:chgData name="GEORGIANA ASANDEI" userId="S::georgiana.asandei@stud.ubbcluj.ro::3fdd1e49-417e-4b60-910e-9bdb369ca711" providerId="AD" clId="Web-{D3F27320-4050-C3B7-149B-1BEF1CBFD7B0}" dt="2026-01-09T15:19:49.997" v="0"/>
        <pc:sldMkLst>
          <pc:docMk/>
          <pc:sldMk cId="2946797608" sldId="344"/>
        </pc:sldMkLst>
      </pc:sldChg>
    </pc:docChg>
  </pc:docChgLst>
  <pc:docChgLst>
    <pc:chgData clId="Web-{6A071880-2CB6-4C3B-95DE-FE496FEEB261}"/>
    <pc:docChg chg="sldOrd">
      <pc:chgData name="" userId="" providerId="" clId="Web-{6A071880-2CB6-4C3B-95DE-FE496FEEB261}" dt="2026-02-02T08:44:25.516" v="0"/>
      <pc:docMkLst>
        <pc:docMk/>
      </pc:docMkLst>
      <pc:sldChg chg="ord">
        <pc:chgData name="" userId="" providerId="" clId="Web-{6A071880-2CB6-4C3B-95DE-FE496FEEB261}" dt="2026-02-02T08:44:25.516" v="0"/>
        <pc:sldMkLst>
          <pc:docMk/>
          <pc:sldMk cId="1159126505" sldId="257"/>
        </pc:sldMkLst>
      </pc:sldChg>
    </pc:docChg>
  </pc:docChgLst>
  <pc:docChgLst>
    <pc:chgData name="ȘTEFAN-LUCIAN GRĂMADĂ" userId="S::stefan.gramada@stud.ubbcluj.ro::73a7f720-04aa-4f21-b0e9-0064053b9717" providerId="AD" clId="Web-{55013F92-40A9-AAAE-A6D3-BC1566583249}"/>
    <pc:docChg chg="sldOrd">
      <pc:chgData name="ȘTEFAN-LUCIAN GRĂMADĂ" userId="S::stefan.gramada@stud.ubbcluj.ro::73a7f720-04aa-4f21-b0e9-0064053b9717" providerId="AD" clId="Web-{55013F92-40A9-AAAE-A6D3-BC1566583249}" dt="2026-01-12T08:44:44.457" v="0"/>
      <pc:docMkLst>
        <pc:docMk/>
      </pc:docMkLst>
      <pc:sldChg chg="ord">
        <pc:chgData name="ȘTEFAN-LUCIAN GRĂMADĂ" userId="S::stefan.gramada@stud.ubbcluj.ro::73a7f720-04aa-4f21-b0e9-0064053b9717" providerId="AD" clId="Web-{55013F92-40A9-AAAE-A6D3-BC1566583249}" dt="2026-01-12T08:44:44.457" v="0"/>
        <pc:sldMkLst>
          <pc:docMk/>
          <pc:sldMk cId="3379180113" sldId="330"/>
        </pc:sldMkLst>
      </pc:sldChg>
    </pc:docChg>
  </pc:docChgLst>
  <pc:docChgLst>
    <pc:chgData name="SMARANDA-IOANA HUSĂSAN" userId="S::smaranda.husasan@stud.ubbcluj.ro::a6b1342d-9c21-4e2e-9e56-c087aba95cda" providerId="AD" clId="Web-{9F8AD0EF-4062-7274-387C-DF6943786520}"/>
    <pc:docChg chg="sldOrd">
      <pc:chgData name="SMARANDA-IOANA HUSĂSAN" userId="S::smaranda.husasan@stud.ubbcluj.ro::a6b1342d-9c21-4e2e-9e56-c087aba95cda" providerId="AD" clId="Web-{9F8AD0EF-4062-7274-387C-DF6943786520}" dt="2026-01-08T18:23:26.828" v="0"/>
      <pc:docMkLst>
        <pc:docMk/>
      </pc:docMkLst>
      <pc:sldChg chg="ord">
        <pc:chgData name="SMARANDA-IOANA HUSĂSAN" userId="S::smaranda.husasan@stud.ubbcluj.ro::a6b1342d-9c21-4e2e-9e56-c087aba95cda" providerId="AD" clId="Web-{9F8AD0EF-4062-7274-387C-DF6943786520}" dt="2026-01-08T18:23:26.828" v="0"/>
        <pc:sldMkLst>
          <pc:docMk/>
          <pc:sldMk cId="1030245069" sldId="31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785A17-AB73-224D-9D52-6EBD77D56C0B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98CE79-E0A4-A04F-921B-B34E008C34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10031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700116-F859-4601-952B-9A4941B01D61}" type="datetimeFigureOut">
              <a:rPr lang="zh-TW" altLang="en-US" smtClean="0"/>
              <a:t>2026/2/2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47A39-2CF0-4E8A-B242-D08D0CD53AA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111723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A47A39-2CF0-4E8A-B242-D08D0CD53AA0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3205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1pPr>
            <a:lvl2pPr marL="729651" indent="-280635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2pPr>
            <a:lvl3pPr marL="1122540" indent="-224508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3pPr>
            <a:lvl4pPr marL="1571556" indent="-224508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4pPr>
            <a:lvl5pPr marL="2020573" indent="-224508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5pPr>
            <a:lvl6pPr marL="2469589" indent="-22450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6pPr>
            <a:lvl7pPr marL="2918605" indent="-22450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7pPr>
            <a:lvl8pPr marL="3367621" indent="-22450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8pPr>
            <a:lvl9pPr marL="3816637" indent="-22450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9pPr>
          </a:lstStyle>
          <a:p>
            <a:fld id="{CA74ADB0-345A-4C4A-9BCF-C1731B8C03A9}" type="slidenum">
              <a:rPr lang="en-US" sz="1200">
                <a:latin typeface="Times New Roman" charset="0"/>
              </a:rPr>
              <a:pPr/>
              <a:t>9</a:t>
            </a:fld>
            <a:endParaRPr lang="en-US" sz="1200">
              <a:latin typeface="Times New Roman" charset="0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A47A39-2CF0-4E8A-B242-D08D0CD53AA0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66472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A47A39-2CF0-4E8A-B242-D08D0CD53AA0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19282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1pPr>
            <a:lvl2pPr marL="729651" indent="-280635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2pPr>
            <a:lvl3pPr marL="1122540" indent="-224508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3pPr>
            <a:lvl4pPr marL="1571556" indent="-224508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4pPr>
            <a:lvl5pPr marL="2020573" indent="-224508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5pPr>
            <a:lvl6pPr marL="2469589" indent="-22450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6pPr>
            <a:lvl7pPr marL="2918605" indent="-22450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7pPr>
            <a:lvl8pPr marL="3367621" indent="-22450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8pPr>
            <a:lvl9pPr marL="3816637" indent="-22450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9pPr>
          </a:lstStyle>
          <a:p>
            <a:fld id="{DD94D80E-A582-4D47-8284-1FF8F9AEAB69}" type="slidenum">
              <a:rPr lang="en-US" sz="1200">
                <a:latin typeface="Times New Roman" charset="0"/>
              </a:rPr>
              <a:pPr/>
              <a:t>17</a:t>
            </a:fld>
            <a:endParaRPr lang="en-US" sz="1200">
              <a:latin typeface="Times New Roman" charset="0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pPr defTabSz="441221"/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1pPr>
            <a:lvl2pPr marL="729651" indent="-280635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2pPr>
            <a:lvl3pPr marL="1122540" indent="-224508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3pPr>
            <a:lvl4pPr marL="1571556" indent="-224508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4pPr>
            <a:lvl5pPr marL="2020573" indent="-224508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5pPr>
            <a:lvl6pPr marL="2469589" indent="-22450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6pPr>
            <a:lvl7pPr marL="2918605" indent="-22450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7pPr>
            <a:lvl8pPr marL="3367621" indent="-22450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8pPr>
            <a:lvl9pPr marL="3816637" indent="-22450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9pPr>
          </a:lstStyle>
          <a:p>
            <a:fld id="{872E58BF-BFCE-E14D-97A2-D429766C945E}" type="slidenum">
              <a:rPr lang="en-US" sz="1200">
                <a:latin typeface="Times New Roman" charset="0"/>
              </a:rPr>
              <a:pPr/>
              <a:t>19</a:t>
            </a:fld>
            <a:endParaRPr lang="en-US" sz="1200">
              <a:latin typeface="Times New Roman" charset="0"/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pPr defTabSz="441221"/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1pPr>
            <a:lvl2pPr marL="729651" indent="-280635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2pPr>
            <a:lvl3pPr marL="1122540" indent="-224508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3pPr>
            <a:lvl4pPr marL="1571556" indent="-224508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4pPr>
            <a:lvl5pPr marL="2020573" indent="-224508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5pPr>
            <a:lvl6pPr marL="2469589" indent="-22450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6pPr>
            <a:lvl7pPr marL="2918605" indent="-22450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7pPr>
            <a:lvl8pPr marL="3367621" indent="-22450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8pPr>
            <a:lvl9pPr marL="3816637" indent="-22450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9pPr>
          </a:lstStyle>
          <a:p>
            <a:fld id="{9E63FF0B-4104-6947-A4A5-F3FEA735D844}" type="slidenum">
              <a:rPr lang="en-US" sz="1200">
                <a:latin typeface="Times New Roman" charset="0"/>
              </a:rPr>
              <a:pPr/>
              <a:t>20</a:t>
            </a:fld>
            <a:endParaRPr lang="en-US" sz="1200">
              <a:latin typeface="Times New Roman" charset="0"/>
            </a:endParaRPr>
          </a:p>
        </p:txBody>
      </p:sp>
      <p:sp>
        <p:nvSpPr>
          <p:cNvPr id="100355" name="Text Box 2"/>
          <p:cNvSpPr txBox="1">
            <a:spLocks noChangeArrowheads="1"/>
          </p:cNvSpPr>
          <p:nvPr/>
        </p:nvSpPr>
        <p:spPr bwMode="auto">
          <a:xfrm>
            <a:off x="1165736" y="685918"/>
            <a:ext cx="4526528" cy="342958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89803" tIns="44902" rIns="89803" bIns="44902" anchor="ctr"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00356" name="Rectangle 3"/>
          <p:cNvSpPr>
            <a:spLocks noGrp="1" noChangeArrowheads="1"/>
          </p:cNvSpPr>
          <p:nvPr>
            <p:ph type="body"/>
          </p:nvPr>
        </p:nvSpPr>
        <p:spPr>
          <a:noFill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pPr defTabSz="441221"/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1pPr>
            <a:lvl2pPr marL="729651" indent="-280635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2pPr>
            <a:lvl3pPr marL="1122540" indent="-224508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3pPr>
            <a:lvl4pPr marL="1571556" indent="-224508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4pPr>
            <a:lvl5pPr marL="2020573" indent="-224508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5pPr>
            <a:lvl6pPr marL="2469589" indent="-22450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6pPr>
            <a:lvl7pPr marL="2918605" indent="-22450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7pPr>
            <a:lvl8pPr marL="3367621" indent="-22450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8pPr>
            <a:lvl9pPr marL="3816637" indent="-22450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9pPr>
          </a:lstStyle>
          <a:p>
            <a:fld id="{DD947EB6-3867-DC4F-900F-7DCA4A31B449}" type="slidenum">
              <a:rPr lang="en-US" sz="1200">
                <a:latin typeface="Times New Roman" charset="0"/>
              </a:rPr>
              <a:pPr/>
              <a:t>21</a:t>
            </a:fld>
            <a:endParaRPr lang="en-US" sz="1200">
              <a:latin typeface="Times New Roman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pPr defTabSz="441221"/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A47A39-2CF0-4E8A-B242-D08D0CD53AA0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67651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A47A39-2CF0-4E8A-B242-D08D0CD53AA0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85201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A47A39-2CF0-4E8A-B242-D08D0CD53AA0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71563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6C55AE-B9FF-324B-8FFF-56078DC7F928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2628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A47A39-2CF0-4E8A-B242-D08D0CD53AA0}" type="slidenum">
              <a:rPr lang="zh-TW" altLang="en-US" smtClean="0"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1716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1pPr>
            <a:lvl2pPr marL="729651" indent="-280635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2pPr>
            <a:lvl3pPr marL="1122540" indent="-224508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3pPr>
            <a:lvl4pPr marL="1571556" indent="-224508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4pPr>
            <a:lvl5pPr marL="2020573" indent="-224508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5pPr>
            <a:lvl6pPr marL="2469589" indent="-22450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6pPr>
            <a:lvl7pPr marL="2918605" indent="-22450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7pPr>
            <a:lvl8pPr marL="3367621" indent="-22450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8pPr>
            <a:lvl9pPr marL="3816637" indent="-22450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9pPr>
          </a:lstStyle>
          <a:p>
            <a:fld id="{7EAA8B7F-F39B-E448-96B9-00B1DAACD4D2}" type="slidenum">
              <a:rPr lang="en-US" sz="1200">
                <a:latin typeface="Times New Roman" charset="0"/>
              </a:rPr>
              <a:pPr/>
              <a:t>54</a:t>
            </a:fld>
            <a:endParaRPr lang="en-US" sz="1200">
              <a:latin typeface="Times New Roman" charset="0"/>
            </a:endParaRPr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pPr defTabSz="441221"/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1pPr>
            <a:lvl2pPr marL="729651" indent="-280635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2pPr>
            <a:lvl3pPr marL="1122540" indent="-224508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3pPr>
            <a:lvl4pPr marL="1571556" indent="-224508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4pPr>
            <a:lvl5pPr marL="2020573" indent="-224508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5pPr>
            <a:lvl6pPr marL="2469589" indent="-22450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6pPr>
            <a:lvl7pPr marL="2918605" indent="-22450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7pPr>
            <a:lvl8pPr marL="3367621" indent="-22450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8pPr>
            <a:lvl9pPr marL="3816637" indent="-22450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9pPr>
          </a:lstStyle>
          <a:p>
            <a:fld id="{19AFBD95-DB3E-7E4B-8FF2-697E231ED1A9}" type="slidenum">
              <a:rPr lang="en-US" sz="1200">
                <a:latin typeface="Times New Roman" charset="0"/>
              </a:rPr>
              <a:pPr/>
              <a:t>57</a:t>
            </a:fld>
            <a:endParaRPr lang="en-US" sz="1200">
              <a:latin typeface="Times New Roman" charset="0"/>
            </a:endParaRPr>
          </a:p>
        </p:txBody>
      </p:sp>
      <p:sp>
        <p:nvSpPr>
          <p:cNvPr id="123907" name="Text Box 2"/>
          <p:cNvSpPr txBox="1">
            <a:spLocks noChangeArrowheads="1"/>
          </p:cNvSpPr>
          <p:nvPr/>
        </p:nvSpPr>
        <p:spPr bwMode="auto">
          <a:xfrm>
            <a:off x="1165736" y="685918"/>
            <a:ext cx="4526528" cy="342958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89803" tIns="44902" rIns="89803" bIns="44902" anchor="ctr"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23908" name="Rectangle 3"/>
          <p:cNvSpPr>
            <a:spLocks noGrp="1" noChangeArrowheads="1"/>
          </p:cNvSpPr>
          <p:nvPr>
            <p:ph type="body"/>
          </p:nvPr>
        </p:nvSpPr>
        <p:spPr>
          <a:noFill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pPr defTabSz="441221"/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1pPr>
            <a:lvl2pPr marL="729651" indent="-280635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2pPr>
            <a:lvl3pPr marL="1122540" indent="-224508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3pPr>
            <a:lvl4pPr marL="1571556" indent="-224508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4pPr>
            <a:lvl5pPr marL="2020573" indent="-224508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5pPr>
            <a:lvl6pPr marL="2469589" indent="-22450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6pPr>
            <a:lvl7pPr marL="2918605" indent="-22450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7pPr>
            <a:lvl8pPr marL="3367621" indent="-22450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8pPr>
            <a:lvl9pPr marL="3816637" indent="-22450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9pPr>
          </a:lstStyle>
          <a:p>
            <a:fld id="{610497AB-E304-BC47-A7C5-F090CE8562DE}" type="slidenum">
              <a:rPr lang="en-US" sz="1200">
                <a:latin typeface="Times New Roman" charset="0"/>
              </a:rPr>
              <a:pPr/>
              <a:t>58</a:t>
            </a:fld>
            <a:endParaRPr lang="en-US" sz="1200">
              <a:latin typeface="Times New Roman" charset="0"/>
            </a:endParaRPr>
          </a:p>
        </p:txBody>
      </p:sp>
      <p:sp>
        <p:nvSpPr>
          <p:cNvPr id="124931" name="Text Box 2"/>
          <p:cNvSpPr txBox="1">
            <a:spLocks noChangeArrowheads="1"/>
          </p:cNvSpPr>
          <p:nvPr/>
        </p:nvSpPr>
        <p:spPr bwMode="auto">
          <a:xfrm>
            <a:off x="1165736" y="685918"/>
            <a:ext cx="4526528" cy="342958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89803" tIns="44902" rIns="89803" bIns="44902" anchor="ctr"/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24932" name="Rectangle 3"/>
          <p:cNvSpPr>
            <a:spLocks noGrp="1" noChangeArrowheads="1"/>
          </p:cNvSpPr>
          <p:nvPr>
            <p:ph type="body"/>
          </p:nvPr>
        </p:nvSpPr>
        <p:spPr>
          <a:noFill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none" anchor="ctr"/>
          <a:lstStyle/>
          <a:p>
            <a:pPr defTabSz="441221"/>
            <a:endParaRPr lang="en-US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A47A39-2CF0-4E8A-B242-D08D0CD53AA0}" type="slidenum">
              <a:rPr lang="zh-TW" altLang="en-US" smtClean="0"/>
              <a:t>59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9338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TW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4643E0-B662-4220-9039-53D9C0BA588B}" type="slidenum">
              <a:rPr lang="es-ES" altLang="zh-TW"/>
              <a:pPr>
                <a:defRPr/>
              </a:pPr>
              <a:t>‹#›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3231092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TW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92AFF8-8043-48C3-83EB-0AE57A32FA31}" type="slidenum">
              <a:rPr lang="es-ES" altLang="zh-TW"/>
              <a:pPr>
                <a:defRPr/>
              </a:pPr>
              <a:t>‹#›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1186132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TW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64C699-2813-4839-A564-1D4AB7143241}" type="slidenum">
              <a:rPr lang="es-ES" altLang="zh-TW"/>
              <a:pPr>
                <a:defRPr/>
              </a:pPr>
              <a:t>‹#›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99320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TW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589E98-0587-44B9-8286-1D4C5943D583}" type="slidenum">
              <a:rPr lang="es-ES" altLang="zh-TW"/>
              <a:pPr>
                <a:defRPr/>
              </a:pPr>
              <a:t>‹#›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407191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TW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0ACE62-FF07-4821-9365-806A886549BC}" type="slidenum">
              <a:rPr lang="es-ES" altLang="zh-TW"/>
              <a:pPr>
                <a:defRPr/>
              </a:pPr>
              <a:t>‹#›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771560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TW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67AD75-99EE-404B-B1F5-2DC2978C0D15}" type="slidenum">
              <a:rPr lang="es-ES" altLang="zh-TW"/>
              <a:pPr>
                <a:defRPr/>
              </a:pPr>
              <a:t>‹#›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560719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TW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CE7269-5C5D-4C29-A9CA-FF87F6AC4DB5}" type="slidenum">
              <a:rPr lang="es-ES" altLang="zh-TW"/>
              <a:pPr>
                <a:defRPr/>
              </a:pPr>
              <a:t>‹#›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3413666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TW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3BA58E-C826-4A0F-8C09-4F115BF1FC37}" type="slidenum">
              <a:rPr lang="es-ES" altLang="zh-TW"/>
              <a:pPr>
                <a:defRPr/>
              </a:pPr>
              <a:t>‹#›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1077159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TW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0A5AEB-8D6F-48A0-82CA-0F1DACB61573}" type="slidenum">
              <a:rPr lang="es-ES" altLang="zh-TW"/>
              <a:pPr>
                <a:defRPr/>
              </a:pPr>
              <a:t>‹#›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2261801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TW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3F92B-B85D-4723-91F9-25DABC8E68A4}" type="slidenum">
              <a:rPr lang="es-ES" altLang="zh-TW"/>
              <a:pPr>
                <a:defRPr/>
              </a:pPr>
              <a:t>‹#›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1477571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TW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CF79B3-447E-41FB-964E-E83A77B23B76}" type="slidenum">
              <a:rPr lang="es-ES" altLang="zh-TW"/>
              <a:pPr>
                <a:defRPr/>
              </a:pPr>
              <a:t>‹#›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3221516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924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524000"/>
            <a:ext cx="79248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886200"/>
            <a:ext cx="79248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Curs 11 - PPD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87549A9-B5C0-EB47-BAD8-5EA4F99ABD1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435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zh-TW" dirty="0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zh-TW" dirty="0"/>
              <a:t>Haga clic para modificar el estilo de texto del patrón</a:t>
            </a:r>
          </a:p>
          <a:p>
            <a:pPr lvl="1"/>
            <a:r>
              <a:rPr lang="es-ES" altLang="zh-TW" dirty="0"/>
              <a:t>Segundo nivel</a:t>
            </a:r>
          </a:p>
          <a:p>
            <a:pPr lvl="2"/>
            <a:r>
              <a:rPr lang="es-ES" altLang="zh-TW" dirty="0"/>
              <a:t>Tercer nivel</a:t>
            </a:r>
          </a:p>
          <a:p>
            <a:pPr lvl="3"/>
            <a:r>
              <a:rPr lang="es-ES" altLang="zh-TW" dirty="0"/>
              <a:t>Cuarto nivel</a:t>
            </a:r>
          </a:p>
          <a:p>
            <a:pPr lvl="4"/>
            <a:r>
              <a:rPr lang="es-ES" altLang="zh-TW" dirty="0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endParaRPr lang="es-ES" altLang="zh-TW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06EAB29A-8405-48F1-BE63-C6C0DB2CE135}" type="slidenum">
              <a:rPr lang="es-ES" altLang="zh-TW"/>
              <a:pPr>
                <a:defRPr/>
              </a:pPr>
              <a:t>‹#›</a:t>
            </a:fld>
            <a:endParaRPr lang="es-ES" altLang="zh-TW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kern="1200" baseline="0">
          <a:solidFill>
            <a:schemeClr val="tx2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微軟正黑體" panose="020B0604030504040204" pitchFamily="34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1800" kern="1200" baseline="0">
          <a:solidFill>
            <a:schemeClr val="tx1"/>
          </a:solidFill>
          <a:latin typeface="Calibri" panose="020F0502020204030204" pitchFamily="34" charset="0"/>
          <a:ea typeface="微軟正黑體" panose="020B0604030504040204" pitchFamily="34" charset="-12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微軟正黑體" panose="020B0604030504040204" pitchFamily="34" charset="-12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800" kern="1200" baseline="0">
          <a:solidFill>
            <a:schemeClr val="tx1"/>
          </a:solidFill>
          <a:latin typeface="Calibri" panose="020F0502020204030204" pitchFamily="34" charset="0"/>
          <a:ea typeface="微軟正黑體" panose="020B0604030504040204" pitchFamily="34" charset="-12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800" kern="1200" baseline="0">
          <a:solidFill>
            <a:schemeClr val="tx1"/>
          </a:solidFill>
          <a:latin typeface="Calibri" panose="020F0502020204030204" pitchFamily="34" charset="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if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tcorp.no/technology/bioinformatics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10"/>
          <p:cNvSpPr>
            <a:spLocks noGrp="1" noChangeArrowheads="1"/>
          </p:cNvSpPr>
          <p:nvPr>
            <p:ph type="ctrTitle"/>
          </p:nvPr>
        </p:nvSpPr>
        <p:spPr>
          <a:xfrm>
            <a:off x="899592" y="2996952"/>
            <a:ext cx="7343775" cy="544512"/>
          </a:xfrm>
          <a:noFill/>
        </p:spPr>
        <p:txBody>
          <a:bodyPr anchor="ctr"/>
          <a:lstStyle/>
          <a:p>
            <a:pPr eaLnBrk="1" hangingPunct="1">
              <a:lnSpc>
                <a:spcPts val="7200"/>
              </a:lnSpc>
            </a:pPr>
            <a:r>
              <a:rPr lang="es-ES" altLang="zh-TW" sz="2400" dirty="0" err="1">
                <a:solidFill>
                  <a:schemeClr val="tx1"/>
                </a:solidFill>
              </a:rPr>
              <a:t>Curs</a:t>
            </a:r>
            <a:r>
              <a:rPr lang="es-ES" altLang="zh-TW" sz="2400" dirty="0">
                <a:solidFill>
                  <a:schemeClr val="tx1"/>
                </a:solidFill>
              </a:rPr>
              <a:t> 11</a:t>
            </a:r>
            <a:br>
              <a:rPr lang="es-ES" altLang="zh-TW" sz="2400" dirty="0">
                <a:solidFill>
                  <a:schemeClr val="tx1"/>
                </a:solidFill>
              </a:rPr>
            </a:br>
            <a:r>
              <a:rPr lang="es-ES" altLang="zh-TW" sz="2400" dirty="0" err="1">
                <a:solidFill>
                  <a:schemeClr val="tx1"/>
                </a:solidFill>
              </a:rPr>
              <a:t>Introducere</a:t>
            </a:r>
            <a:r>
              <a:rPr lang="es-ES" altLang="zh-TW" sz="2400" dirty="0">
                <a:solidFill>
                  <a:schemeClr val="tx1"/>
                </a:solidFill>
              </a:rPr>
              <a:t> in CUDA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071E16-B47A-784E-8D5B-444E70BAC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F3ABDD-98D8-3441-B195-A8F45D2BB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4643E0-B662-4220-9039-53D9C0BA588B}" type="slidenum">
              <a:rPr lang="es-ES" altLang="zh-TW" smtClean="0"/>
              <a:pPr>
                <a:defRPr/>
              </a:pPr>
              <a:t>1</a:t>
            </a:fld>
            <a:endParaRPr lang="es-ES" altLang="zh-TW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B6E2A3-D5E5-8F40-8FFF-A92073E86296}"/>
              </a:ext>
            </a:extLst>
          </p:cNvPr>
          <p:cNvSpPr txBox="1"/>
          <p:nvPr/>
        </p:nvSpPr>
        <p:spPr>
          <a:xfrm>
            <a:off x="4509370" y="11398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CUDA?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  <a:latin typeface="Times New Roman" charset="0"/>
              </a:rPr>
              <a:t>C</a:t>
            </a:r>
            <a:r>
              <a:rPr lang="en-US" dirty="0">
                <a:latin typeface="Times New Roman" charset="0"/>
              </a:rPr>
              <a:t>ompute Unified </a:t>
            </a:r>
            <a:r>
              <a:rPr lang="en-US" dirty="0">
                <a:solidFill>
                  <a:schemeClr val="tx2"/>
                </a:solidFill>
                <a:latin typeface="Times New Roman" charset="0"/>
              </a:rPr>
              <a:t>Device</a:t>
            </a:r>
            <a:r>
              <a:rPr lang="en-US" dirty="0">
                <a:latin typeface="Times New Roman" charset="0"/>
              </a:rPr>
              <a:t> </a:t>
            </a:r>
            <a:r>
              <a:rPr lang="en-US" dirty="0">
                <a:solidFill>
                  <a:schemeClr val="tx2"/>
                </a:solidFill>
                <a:latin typeface="Times New Roman" charset="0"/>
              </a:rPr>
              <a:t>A</a:t>
            </a:r>
            <a:r>
              <a:rPr lang="en-US" dirty="0">
                <a:latin typeface="Times New Roman" charset="0"/>
              </a:rPr>
              <a:t>rchitecture</a:t>
            </a:r>
            <a:r>
              <a:rPr lang="ja-JP" altLang="en-US" dirty="0">
                <a:latin typeface="Times New Roman" charset="0"/>
              </a:rPr>
              <a:t>”</a:t>
            </a:r>
            <a:endParaRPr lang="en-US" dirty="0">
              <a:latin typeface="Times New Roman" charset="0"/>
            </a:endParaRP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 </a:t>
            </a:r>
            <a:r>
              <a:rPr lang="en-US" dirty="0" err="1"/>
              <a:t>platforma</a:t>
            </a:r>
            <a:r>
              <a:rPr lang="en-US" dirty="0"/>
              <a:t> de </a:t>
            </a:r>
            <a:r>
              <a:rPr lang="en-US" dirty="0" err="1"/>
              <a:t>programare</a:t>
            </a:r>
            <a:r>
              <a:rPr lang="en-US" dirty="0"/>
              <a:t> </a:t>
            </a:r>
            <a:r>
              <a:rPr lang="en-US" dirty="0" err="1"/>
              <a:t>paralela</a:t>
            </a:r>
            <a:r>
              <a:rPr lang="en-US" dirty="0"/>
              <a:t>-&gt; </a:t>
            </a:r>
          </a:p>
          <a:p>
            <a:r>
              <a:rPr lang="en-US" dirty="0" err="1"/>
              <a:t>Arhitectura</a:t>
            </a:r>
            <a:r>
              <a:rPr lang="en-US" dirty="0"/>
              <a:t> care </a:t>
            </a:r>
            <a:r>
              <a:rPr lang="en-US" dirty="0" err="1"/>
              <a:t>foloseste</a:t>
            </a:r>
            <a:r>
              <a:rPr lang="en-US" dirty="0"/>
              <a:t> GPU </a:t>
            </a:r>
            <a:r>
              <a:rPr lang="en-US" dirty="0" err="1"/>
              <a:t>pt</a:t>
            </a:r>
            <a:r>
              <a:rPr lang="en-US" dirty="0"/>
              <a:t> </a:t>
            </a:r>
            <a:r>
              <a:rPr lang="en-US" dirty="0" err="1"/>
              <a:t>calcul</a:t>
            </a:r>
            <a:r>
              <a:rPr lang="en-US" dirty="0"/>
              <a:t> general</a:t>
            </a:r>
          </a:p>
          <a:p>
            <a:pPr lvl="1"/>
            <a:r>
              <a:rPr lang="en-US" dirty="0"/>
              <a:t>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cresterea</a:t>
            </a:r>
            <a:r>
              <a:rPr lang="en-US" dirty="0"/>
              <a:t> </a:t>
            </a:r>
            <a:r>
              <a:rPr lang="en-US" dirty="0" err="1"/>
              <a:t>performantei</a:t>
            </a:r>
            <a:endParaRPr lang="en-US" dirty="0"/>
          </a:p>
          <a:p>
            <a:endParaRPr lang="en-US" dirty="0"/>
          </a:p>
          <a:p>
            <a:r>
              <a:rPr lang="en-US" dirty="0"/>
              <a:t>Released by NVIDIA in 2007</a:t>
            </a:r>
          </a:p>
          <a:p>
            <a:endParaRPr lang="en-US" dirty="0"/>
          </a:p>
          <a:p>
            <a:r>
              <a:rPr lang="en-US" dirty="0"/>
              <a:t>Model de </a:t>
            </a:r>
            <a:r>
              <a:rPr lang="en-US" dirty="0" err="1"/>
              <a:t>programare</a:t>
            </a:r>
            <a:endParaRPr lang="en-US" dirty="0"/>
          </a:p>
          <a:p>
            <a:pPr lvl="1"/>
            <a:r>
              <a:rPr lang="en-US" dirty="0" err="1"/>
              <a:t>Bazat</a:t>
            </a:r>
            <a:r>
              <a:rPr lang="en-US" dirty="0"/>
              <a:t> pe </a:t>
            </a:r>
            <a:r>
              <a:rPr lang="en-US" dirty="0" err="1"/>
              <a:t>extensii</a:t>
            </a:r>
            <a:r>
              <a:rPr lang="en-US" dirty="0"/>
              <a:t> C / C++ -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permite</a:t>
            </a:r>
            <a:r>
              <a:rPr lang="en-US" dirty="0"/>
              <a:t> ‘heterogeneous programming’</a:t>
            </a:r>
          </a:p>
          <a:p>
            <a:pPr lvl="1"/>
            <a:r>
              <a:rPr lang="en-US" dirty="0"/>
              <a:t>API </a:t>
            </a:r>
            <a:r>
              <a:rPr lang="en-US" dirty="0" err="1"/>
              <a:t>pt</a:t>
            </a:r>
            <a:r>
              <a:rPr lang="en-US" dirty="0"/>
              <a:t> </a:t>
            </a:r>
            <a:r>
              <a:rPr lang="en-US" dirty="0" err="1"/>
              <a:t>gestionarea</a:t>
            </a:r>
            <a:r>
              <a:rPr lang="en-US" dirty="0"/>
              <a:t> device-</a:t>
            </a:r>
            <a:r>
              <a:rPr lang="en-US" dirty="0" err="1"/>
              <a:t>urilor</a:t>
            </a:r>
            <a:r>
              <a:rPr lang="en-US" dirty="0"/>
              <a:t>, a </a:t>
            </a:r>
            <a:r>
              <a:rPr lang="en-US" dirty="0" err="1"/>
              <a:t>memoriei</a:t>
            </a:r>
            <a:r>
              <a:rPr lang="en-US" dirty="0"/>
              <a:t> etc.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E39AE-0DFC-704A-8B20-339BD9852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06056-BF4F-2449-9229-41372A16F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2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1159126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Istoric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rcRect l="1755" r="1755"/>
          <a:stretch>
            <a:fillRect/>
          </a:stretch>
        </p:blipFill>
        <p:spPr/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46739A-0B0C-3E4E-863E-73D41C0F0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776669-7A56-A940-9324-341F91FC0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3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2779715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Aplicatii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268760"/>
            <a:ext cx="8229600" cy="4525963"/>
          </a:xfrm>
        </p:spPr>
        <p:txBody>
          <a:bodyPr/>
          <a:lstStyle/>
          <a:p>
            <a:r>
              <a:rPr lang="en-US" sz="1600" dirty="0" err="1">
                <a:latin typeface="Verdana"/>
                <a:cs typeface="Verdana"/>
              </a:rPr>
              <a:t>Bioinformatica</a:t>
            </a:r>
            <a:endParaRPr lang="en-US" sz="1600" dirty="0">
              <a:latin typeface="Verdana"/>
              <a:cs typeface="Verdana"/>
            </a:endParaRPr>
          </a:p>
          <a:p>
            <a:r>
              <a:rPr lang="en-US" sz="1600" dirty="0" err="1">
                <a:latin typeface="Verdana"/>
                <a:cs typeface="Verdana"/>
              </a:rPr>
              <a:t>Calcul</a:t>
            </a:r>
            <a:r>
              <a:rPr lang="en-US" sz="1600" dirty="0">
                <a:latin typeface="Verdana"/>
                <a:cs typeface="Verdana"/>
              </a:rPr>
              <a:t> </a:t>
            </a:r>
            <a:r>
              <a:rPr lang="en-US" sz="1600" dirty="0" err="1">
                <a:latin typeface="Verdana"/>
                <a:cs typeface="Verdana"/>
              </a:rPr>
              <a:t>financiar</a:t>
            </a:r>
            <a:endParaRPr lang="en-US" sz="1600" dirty="0">
              <a:latin typeface="Verdana"/>
              <a:cs typeface="Verdana"/>
            </a:endParaRPr>
          </a:p>
          <a:p>
            <a:r>
              <a:rPr lang="en-US" sz="1600" dirty="0">
                <a:latin typeface="Verdana"/>
                <a:cs typeface="Verdana"/>
              </a:rPr>
              <a:t>Deep learning</a:t>
            </a:r>
          </a:p>
          <a:p>
            <a:r>
              <a:rPr lang="en-US" altLang="ja-JP" sz="1600" dirty="0">
                <a:latin typeface="Verdana"/>
                <a:cs typeface="Verdana"/>
              </a:rPr>
              <a:t>M</a:t>
            </a:r>
            <a:r>
              <a:rPr lang="en-US" sz="1600" dirty="0">
                <a:latin typeface="Verdana"/>
                <a:cs typeface="Verdana"/>
              </a:rPr>
              <a:t>olecular dynamics</a:t>
            </a:r>
            <a:r>
              <a:rPr lang="en-US" altLang="ja-JP" sz="1600" dirty="0">
                <a:latin typeface="Verdana"/>
                <a:cs typeface="Verdana"/>
              </a:rPr>
              <a:t> simulation</a:t>
            </a:r>
          </a:p>
          <a:p>
            <a:r>
              <a:rPr lang="en-US" sz="1600" dirty="0">
                <a:latin typeface="Verdana"/>
                <a:cs typeface="Verdana"/>
              </a:rPr>
              <a:t>Video</a:t>
            </a:r>
            <a:r>
              <a:rPr lang="en-US" altLang="ja-JP" sz="1600" dirty="0">
                <a:latin typeface="Verdana"/>
                <a:cs typeface="Verdana"/>
              </a:rPr>
              <a:t> and audio coding</a:t>
            </a:r>
            <a:r>
              <a:rPr lang="en-US" sz="1600" dirty="0">
                <a:latin typeface="Verdana"/>
                <a:cs typeface="Verdana"/>
              </a:rPr>
              <a:t> </a:t>
            </a:r>
            <a:r>
              <a:rPr lang="en-US" altLang="ja-JP" sz="1600" dirty="0">
                <a:latin typeface="Verdana"/>
                <a:cs typeface="Verdana"/>
              </a:rPr>
              <a:t>and manipulation</a:t>
            </a:r>
          </a:p>
          <a:p>
            <a:r>
              <a:rPr lang="en-US" altLang="ja-JP" sz="1600" dirty="0">
                <a:latin typeface="Verdana"/>
                <a:cs typeface="Verdana"/>
              </a:rPr>
              <a:t>3D</a:t>
            </a:r>
            <a:r>
              <a:rPr lang="en-US" sz="1600" dirty="0">
                <a:latin typeface="Verdana"/>
                <a:cs typeface="Verdana"/>
              </a:rPr>
              <a:t> imaging and visualization</a:t>
            </a:r>
          </a:p>
          <a:p>
            <a:r>
              <a:rPr lang="en-US" sz="1600" dirty="0">
                <a:latin typeface="Verdana"/>
                <a:cs typeface="Verdana"/>
              </a:rPr>
              <a:t>Consumer game physics</a:t>
            </a:r>
          </a:p>
          <a:p>
            <a:r>
              <a:rPr lang="en-US" sz="1600" dirty="0">
                <a:latin typeface="Verdana"/>
                <a:cs typeface="Verdana"/>
              </a:rPr>
              <a:t>virtual </a:t>
            </a:r>
            <a:r>
              <a:rPr lang="en-US" altLang="ja-JP" sz="1600" dirty="0">
                <a:latin typeface="Verdana"/>
                <a:cs typeface="Verdana"/>
              </a:rPr>
              <a:t>reality products </a:t>
            </a:r>
          </a:p>
          <a:p>
            <a:r>
              <a:rPr lang="is-IS" altLang="ja-JP" sz="1600" dirty="0">
                <a:latin typeface="Verdana"/>
                <a:cs typeface="Verdana"/>
              </a:rPr>
              <a:t>…</a:t>
            </a:r>
            <a:endParaRPr lang="en-US" altLang="ja-JP" sz="1600" dirty="0">
              <a:latin typeface="Verdana"/>
              <a:cs typeface="Verdana"/>
            </a:endParaRP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280" y="1624951"/>
            <a:ext cx="3107152" cy="232939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3280" y="4013525"/>
            <a:ext cx="3208604" cy="214011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30" y="3984924"/>
            <a:ext cx="4981894" cy="2482051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7387DCE-A868-A64E-B4C2-C350ED405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3F2ACDC-9F1C-2A47-BE31-52CA09EEA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4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1230024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GPGPU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GPU au </a:t>
            </a:r>
            <a:r>
              <a:rPr lang="en-US" dirty="0" err="1"/>
              <a:t>devenit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puternice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Mai </a:t>
            </a:r>
            <a:r>
              <a:rPr lang="en-US" dirty="0" err="1"/>
              <a:t>multa</a:t>
            </a:r>
            <a:r>
              <a:rPr lang="en-US" dirty="0"/>
              <a:t> </a:t>
            </a:r>
            <a:r>
              <a:rPr lang="en-US" dirty="0" err="1"/>
              <a:t>putere</a:t>
            </a:r>
            <a:r>
              <a:rPr lang="en-US" dirty="0"/>
              <a:t> de </a:t>
            </a:r>
            <a:r>
              <a:rPr lang="en-US" dirty="0" err="1"/>
              <a:t>calcul</a:t>
            </a:r>
            <a:endParaRPr lang="en-US" dirty="0"/>
          </a:p>
          <a:p>
            <a:pPr lvl="1"/>
            <a:r>
              <a:rPr lang="en-US" dirty="0"/>
              <a:t>Memory bandwidth (on chip) </a:t>
            </a:r>
            <a:r>
              <a:rPr lang="en-US" dirty="0" err="1"/>
              <a:t>ridicata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=&gt; General Purpose GPU (GPGPU)</a:t>
            </a:r>
          </a:p>
          <a:p>
            <a:r>
              <a:rPr lang="en-US" dirty="0" err="1"/>
              <a:t>Sute</a:t>
            </a:r>
            <a:r>
              <a:rPr lang="en-US" dirty="0"/>
              <a:t> de mii de core-</a:t>
            </a:r>
            <a:r>
              <a:rPr lang="en-US" dirty="0" err="1"/>
              <a:t>uri</a:t>
            </a:r>
            <a:r>
              <a:rPr lang="en-US" dirty="0"/>
              <a:t> in GPU care </a:t>
            </a:r>
            <a:r>
              <a:rPr lang="en-US" dirty="0" err="1"/>
              <a:t>ruleaza</a:t>
            </a:r>
            <a:r>
              <a:rPr lang="en-US" dirty="0"/>
              <a:t> </a:t>
            </a:r>
            <a:r>
              <a:rPr lang="en-US" dirty="0" err="1"/>
              <a:t>threaduri</a:t>
            </a:r>
            <a:r>
              <a:rPr lang="en-US" dirty="0"/>
              <a:t> in </a:t>
            </a:r>
            <a:r>
              <a:rPr lang="en-US" dirty="0" err="1"/>
              <a:t>paralel</a:t>
            </a:r>
            <a:endParaRPr lang="en-US" dirty="0"/>
          </a:p>
          <a:p>
            <a:r>
              <a:rPr lang="en-US" dirty="0"/>
              <a:t> core-</a:t>
            </a:r>
            <a:r>
              <a:rPr lang="en-US" dirty="0" err="1"/>
              <a:t>uri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slabe</a:t>
            </a:r>
            <a:r>
              <a:rPr lang="en-US" dirty="0"/>
              <a:t> </a:t>
            </a:r>
            <a:r>
              <a:rPr lang="en-US" dirty="0" err="1"/>
              <a:t>dar</a:t>
            </a:r>
            <a:r>
              <a:rPr lang="en-US" dirty="0"/>
              <a:t> </a:t>
            </a:r>
            <a:r>
              <a:rPr lang="is-IS" dirty="0"/>
              <a:t>… multe...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786D92-6E9B-554E-A9B8-164C99C33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4AFDB9-930A-A247-8624-A4D2DD230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5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110613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4" name="Group 2"/>
          <p:cNvGrpSpPr>
            <a:grpSpLocks/>
          </p:cNvGrpSpPr>
          <p:nvPr/>
        </p:nvGrpSpPr>
        <p:grpSpPr bwMode="auto">
          <a:xfrm>
            <a:off x="4724400" y="2133600"/>
            <a:ext cx="3352800" cy="2743200"/>
            <a:chOff x="3044" y="1052"/>
            <a:chExt cx="1987" cy="1441"/>
          </a:xfrm>
        </p:grpSpPr>
        <p:sp>
          <p:nvSpPr>
            <p:cNvPr id="25616" name="Rectangle 3"/>
            <p:cNvSpPr>
              <a:spLocks noChangeArrowheads="1"/>
            </p:cNvSpPr>
            <p:nvPr/>
          </p:nvSpPr>
          <p:spPr bwMode="auto">
            <a:xfrm>
              <a:off x="3044" y="2245"/>
              <a:ext cx="1987" cy="248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tIns="0" rIns="0" bIns="0" anchor="ctr"/>
            <a:lstStyle/>
            <a:p>
              <a:r>
                <a:rPr lang="en-US" sz="1200" b="1">
                  <a:solidFill>
                    <a:schemeClr val="bg1"/>
                  </a:solidFill>
                  <a:latin typeface="Arial" charset="0"/>
                </a:rPr>
                <a:t>DRAM</a:t>
              </a:r>
            </a:p>
          </p:txBody>
        </p:sp>
        <p:grpSp>
          <p:nvGrpSpPr>
            <p:cNvPr id="25617" name="Group 4"/>
            <p:cNvGrpSpPr>
              <a:grpSpLocks/>
            </p:cNvGrpSpPr>
            <p:nvPr/>
          </p:nvGrpSpPr>
          <p:grpSpPr bwMode="auto">
            <a:xfrm>
              <a:off x="3046" y="1052"/>
              <a:ext cx="1984" cy="1086"/>
              <a:chOff x="1888" y="2761"/>
              <a:chExt cx="1984" cy="1086"/>
            </a:xfrm>
          </p:grpSpPr>
          <p:grpSp>
            <p:nvGrpSpPr>
              <p:cNvPr id="25618" name="Group 5"/>
              <p:cNvGrpSpPr>
                <a:grpSpLocks/>
              </p:cNvGrpSpPr>
              <p:nvPr/>
            </p:nvGrpSpPr>
            <p:grpSpPr bwMode="auto">
              <a:xfrm>
                <a:off x="1888" y="2761"/>
                <a:ext cx="1984" cy="118"/>
                <a:chOff x="-141" y="2876"/>
                <a:chExt cx="1984" cy="118"/>
              </a:xfrm>
            </p:grpSpPr>
            <p:grpSp>
              <p:nvGrpSpPr>
                <p:cNvPr id="25759" name="Group 6"/>
                <p:cNvGrpSpPr>
                  <a:grpSpLocks/>
                </p:cNvGrpSpPr>
                <p:nvPr/>
              </p:nvGrpSpPr>
              <p:grpSpPr bwMode="auto">
                <a:xfrm>
                  <a:off x="-141" y="2876"/>
                  <a:ext cx="124" cy="115"/>
                  <a:chOff x="707" y="1508"/>
                  <a:chExt cx="124" cy="109"/>
                </a:xfrm>
              </p:grpSpPr>
              <p:sp>
                <p:nvSpPr>
                  <p:cNvPr id="25776" name="Rectangle 7"/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08"/>
                    <a:ext cx="124" cy="52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45720" tIns="0" rIns="0" bIns="0" anchor="ctr"/>
                  <a:lstStyle/>
                  <a:p>
                    <a:endParaRPr lang="en-US" sz="1200" b="1">
                      <a:solidFill>
                        <a:schemeClr val="bg1"/>
                      </a:solidFill>
                      <a:latin typeface="Arial" charset="0"/>
                    </a:endParaRPr>
                  </a:p>
                </p:txBody>
              </p:sp>
              <p:sp>
                <p:nvSpPr>
                  <p:cNvPr id="25777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65"/>
                    <a:ext cx="124" cy="52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45720" tIns="0" rIns="0" bIns="0" anchor="ctr"/>
                  <a:lstStyle/>
                  <a:p>
                    <a:endParaRPr lang="en-US" sz="1200" b="1">
                      <a:solidFill>
                        <a:schemeClr val="bg1"/>
                      </a:solidFill>
                      <a:latin typeface="Arial" charset="0"/>
                    </a:endParaRPr>
                  </a:p>
                </p:txBody>
              </p:sp>
            </p:grpSp>
            <p:sp>
              <p:nvSpPr>
                <p:cNvPr id="25760" name="Rectangle 9"/>
                <p:cNvSpPr>
                  <a:spLocks noChangeArrowheads="1"/>
                </p:cNvSpPr>
                <p:nvPr/>
              </p:nvSpPr>
              <p:spPr bwMode="auto">
                <a:xfrm>
                  <a:off x="0" y="2879"/>
                  <a:ext cx="1843" cy="115"/>
                </a:xfrm>
                <a:prstGeom prst="rect">
                  <a:avLst/>
                </a:prstGeom>
                <a:solidFill>
                  <a:srgbClr val="99FF66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pPr algn="ctr"/>
                  <a:endParaRPr lang="en-US" sz="1400" b="1">
                    <a:solidFill>
                      <a:schemeClr val="bg1"/>
                    </a:solidFill>
                    <a:latin typeface="Arial" charset="0"/>
                  </a:endParaRPr>
                </a:p>
              </p:txBody>
            </p:sp>
            <p:sp>
              <p:nvSpPr>
                <p:cNvPr id="25761" name="Line 10"/>
                <p:cNvSpPr>
                  <a:spLocks noChangeShapeType="1"/>
                </p:cNvSpPr>
                <p:nvPr/>
              </p:nvSpPr>
              <p:spPr bwMode="auto">
                <a:xfrm>
                  <a:off x="11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62" name="Line 11"/>
                <p:cNvSpPr>
                  <a:spLocks noChangeShapeType="1"/>
                </p:cNvSpPr>
                <p:nvPr/>
              </p:nvSpPr>
              <p:spPr bwMode="auto">
                <a:xfrm>
                  <a:off x="23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63" name="Line 12"/>
                <p:cNvSpPr>
                  <a:spLocks noChangeShapeType="1"/>
                </p:cNvSpPr>
                <p:nvPr/>
              </p:nvSpPr>
              <p:spPr bwMode="auto">
                <a:xfrm>
                  <a:off x="34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64" name="Line 13"/>
                <p:cNvSpPr>
                  <a:spLocks noChangeShapeType="1"/>
                </p:cNvSpPr>
                <p:nvPr/>
              </p:nvSpPr>
              <p:spPr bwMode="auto">
                <a:xfrm>
                  <a:off x="46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65" name="Line 14"/>
                <p:cNvSpPr>
                  <a:spLocks noChangeShapeType="1"/>
                </p:cNvSpPr>
                <p:nvPr/>
              </p:nvSpPr>
              <p:spPr bwMode="auto">
                <a:xfrm>
                  <a:off x="57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66" name="Line 15"/>
                <p:cNvSpPr>
                  <a:spLocks noChangeShapeType="1"/>
                </p:cNvSpPr>
                <p:nvPr/>
              </p:nvSpPr>
              <p:spPr bwMode="auto">
                <a:xfrm flipH="1">
                  <a:off x="690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67" name="Line 16"/>
                <p:cNvSpPr>
                  <a:spLocks noChangeShapeType="1"/>
                </p:cNvSpPr>
                <p:nvPr/>
              </p:nvSpPr>
              <p:spPr bwMode="auto">
                <a:xfrm flipH="1">
                  <a:off x="138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68" name="Line 17"/>
                <p:cNvSpPr>
                  <a:spLocks noChangeShapeType="1"/>
                </p:cNvSpPr>
                <p:nvPr/>
              </p:nvSpPr>
              <p:spPr bwMode="auto">
                <a:xfrm flipH="1">
                  <a:off x="80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69" name="Line 18"/>
                <p:cNvSpPr>
                  <a:spLocks noChangeShapeType="1"/>
                </p:cNvSpPr>
                <p:nvPr/>
              </p:nvSpPr>
              <p:spPr bwMode="auto">
                <a:xfrm flipH="1">
                  <a:off x="92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70" name="Line 19"/>
                <p:cNvSpPr>
                  <a:spLocks noChangeShapeType="1"/>
                </p:cNvSpPr>
                <p:nvPr/>
              </p:nvSpPr>
              <p:spPr bwMode="auto">
                <a:xfrm flipH="1">
                  <a:off x="103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71" name="Line 20"/>
                <p:cNvSpPr>
                  <a:spLocks noChangeShapeType="1"/>
                </p:cNvSpPr>
                <p:nvPr/>
              </p:nvSpPr>
              <p:spPr bwMode="auto">
                <a:xfrm flipH="1">
                  <a:off x="115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72" name="Line 21"/>
                <p:cNvSpPr>
                  <a:spLocks noChangeShapeType="1"/>
                </p:cNvSpPr>
                <p:nvPr/>
              </p:nvSpPr>
              <p:spPr bwMode="auto">
                <a:xfrm flipH="1">
                  <a:off x="126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73" name="Line 22"/>
                <p:cNvSpPr>
                  <a:spLocks noChangeShapeType="1"/>
                </p:cNvSpPr>
                <p:nvPr/>
              </p:nvSpPr>
              <p:spPr bwMode="auto">
                <a:xfrm flipH="1">
                  <a:off x="149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74" name="Line 23"/>
                <p:cNvSpPr>
                  <a:spLocks noChangeShapeType="1"/>
                </p:cNvSpPr>
                <p:nvPr/>
              </p:nvSpPr>
              <p:spPr bwMode="auto">
                <a:xfrm flipH="1">
                  <a:off x="1612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75" name="Line 24"/>
                <p:cNvSpPr>
                  <a:spLocks noChangeShapeType="1"/>
                </p:cNvSpPr>
                <p:nvPr/>
              </p:nvSpPr>
              <p:spPr bwMode="auto">
                <a:xfrm flipH="1">
                  <a:off x="172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5619" name="Group 25"/>
              <p:cNvGrpSpPr>
                <a:grpSpLocks/>
              </p:cNvGrpSpPr>
              <p:nvPr/>
            </p:nvGrpSpPr>
            <p:grpSpPr bwMode="auto">
              <a:xfrm>
                <a:off x="1888" y="2899"/>
                <a:ext cx="1984" cy="118"/>
                <a:chOff x="-141" y="2876"/>
                <a:chExt cx="1984" cy="118"/>
              </a:xfrm>
            </p:grpSpPr>
            <p:grpSp>
              <p:nvGrpSpPr>
                <p:cNvPr id="25740" name="Group 26"/>
                <p:cNvGrpSpPr>
                  <a:grpSpLocks/>
                </p:cNvGrpSpPr>
                <p:nvPr/>
              </p:nvGrpSpPr>
              <p:grpSpPr bwMode="auto">
                <a:xfrm>
                  <a:off x="-141" y="2876"/>
                  <a:ext cx="124" cy="115"/>
                  <a:chOff x="707" y="1508"/>
                  <a:chExt cx="124" cy="109"/>
                </a:xfrm>
              </p:grpSpPr>
              <p:sp>
                <p:nvSpPr>
                  <p:cNvPr id="25757" name="Rectangle 27"/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08"/>
                    <a:ext cx="124" cy="52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45720" tIns="0" rIns="0" bIns="0" anchor="ctr"/>
                  <a:lstStyle/>
                  <a:p>
                    <a:endParaRPr lang="en-US" sz="1200" b="1">
                      <a:solidFill>
                        <a:schemeClr val="bg1"/>
                      </a:solidFill>
                      <a:latin typeface="Arial" charset="0"/>
                    </a:endParaRPr>
                  </a:p>
                </p:txBody>
              </p:sp>
              <p:sp>
                <p:nvSpPr>
                  <p:cNvPr id="25758" name="Rectangle 28"/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65"/>
                    <a:ext cx="124" cy="52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45720" tIns="0" rIns="0" bIns="0" anchor="ctr"/>
                  <a:lstStyle/>
                  <a:p>
                    <a:endParaRPr lang="en-US" sz="1200" b="1">
                      <a:solidFill>
                        <a:schemeClr val="bg1"/>
                      </a:solidFill>
                      <a:latin typeface="Arial" charset="0"/>
                    </a:endParaRPr>
                  </a:p>
                </p:txBody>
              </p:sp>
            </p:grpSp>
            <p:sp>
              <p:nvSpPr>
                <p:cNvPr id="25741" name="Rectangle 29"/>
                <p:cNvSpPr>
                  <a:spLocks noChangeArrowheads="1"/>
                </p:cNvSpPr>
                <p:nvPr/>
              </p:nvSpPr>
              <p:spPr bwMode="auto">
                <a:xfrm>
                  <a:off x="0" y="2879"/>
                  <a:ext cx="1843" cy="115"/>
                </a:xfrm>
                <a:prstGeom prst="rect">
                  <a:avLst/>
                </a:prstGeom>
                <a:solidFill>
                  <a:srgbClr val="99FF66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pPr algn="ctr"/>
                  <a:endParaRPr lang="en-US" sz="1400" b="1">
                    <a:solidFill>
                      <a:schemeClr val="bg1"/>
                    </a:solidFill>
                    <a:latin typeface="Arial" charset="0"/>
                  </a:endParaRPr>
                </a:p>
              </p:txBody>
            </p:sp>
            <p:sp>
              <p:nvSpPr>
                <p:cNvPr id="25742" name="Line 30"/>
                <p:cNvSpPr>
                  <a:spLocks noChangeShapeType="1"/>
                </p:cNvSpPr>
                <p:nvPr/>
              </p:nvSpPr>
              <p:spPr bwMode="auto">
                <a:xfrm>
                  <a:off x="11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43" name="Line 31"/>
                <p:cNvSpPr>
                  <a:spLocks noChangeShapeType="1"/>
                </p:cNvSpPr>
                <p:nvPr/>
              </p:nvSpPr>
              <p:spPr bwMode="auto">
                <a:xfrm>
                  <a:off x="23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44" name="Line 32"/>
                <p:cNvSpPr>
                  <a:spLocks noChangeShapeType="1"/>
                </p:cNvSpPr>
                <p:nvPr/>
              </p:nvSpPr>
              <p:spPr bwMode="auto">
                <a:xfrm>
                  <a:off x="34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45" name="Line 33"/>
                <p:cNvSpPr>
                  <a:spLocks noChangeShapeType="1"/>
                </p:cNvSpPr>
                <p:nvPr/>
              </p:nvSpPr>
              <p:spPr bwMode="auto">
                <a:xfrm>
                  <a:off x="46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46" name="Line 34"/>
                <p:cNvSpPr>
                  <a:spLocks noChangeShapeType="1"/>
                </p:cNvSpPr>
                <p:nvPr/>
              </p:nvSpPr>
              <p:spPr bwMode="auto">
                <a:xfrm>
                  <a:off x="57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47" name="Line 35"/>
                <p:cNvSpPr>
                  <a:spLocks noChangeShapeType="1"/>
                </p:cNvSpPr>
                <p:nvPr/>
              </p:nvSpPr>
              <p:spPr bwMode="auto">
                <a:xfrm flipH="1">
                  <a:off x="690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48" name="Line 36"/>
                <p:cNvSpPr>
                  <a:spLocks noChangeShapeType="1"/>
                </p:cNvSpPr>
                <p:nvPr/>
              </p:nvSpPr>
              <p:spPr bwMode="auto">
                <a:xfrm flipH="1">
                  <a:off x="138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49" name="Line 37"/>
                <p:cNvSpPr>
                  <a:spLocks noChangeShapeType="1"/>
                </p:cNvSpPr>
                <p:nvPr/>
              </p:nvSpPr>
              <p:spPr bwMode="auto">
                <a:xfrm flipH="1">
                  <a:off x="80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50" name="Line 38"/>
                <p:cNvSpPr>
                  <a:spLocks noChangeShapeType="1"/>
                </p:cNvSpPr>
                <p:nvPr/>
              </p:nvSpPr>
              <p:spPr bwMode="auto">
                <a:xfrm flipH="1">
                  <a:off x="92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51" name="Line 39"/>
                <p:cNvSpPr>
                  <a:spLocks noChangeShapeType="1"/>
                </p:cNvSpPr>
                <p:nvPr/>
              </p:nvSpPr>
              <p:spPr bwMode="auto">
                <a:xfrm flipH="1">
                  <a:off x="103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52" name="Line 40"/>
                <p:cNvSpPr>
                  <a:spLocks noChangeShapeType="1"/>
                </p:cNvSpPr>
                <p:nvPr/>
              </p:nvSpPr>
              <p:spPr bwMode="auto">
                <a:xfrm flipH="1">
                  <a:off x="115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53" name="Line 41"/>
                <p:cNvSpPr>
                  <a:spLocks noChangeShapeType="1"/>
                </p:cNvSpPr>
                <p:nvPr/>
              </p:nvSpPr>
              <p:spPr bwMode="auto">
                <a:xfrm flipH="1">
                  <a:off x="126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54" name="Line 42"/>
                <p:cNvSpPr>
                  <a:spLocks noChangeShapeType="1"/>
                </p:cNvSpPr>
                <p:nvPr/>
              </p:nvSpPr>
              <p:spPr bwMode="auto">
                <a:xfrm flipH="1">
                  <a:off x="149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55" name="Line 43"/>
                <p:cNvSpPr>
                  <a:spLocks noChangeShapeType="1"/>
                </p:cNvSpPr>
                <p:nvPr/>
              </p:nvSpPr>
              <p:spPr bwMode="auto">
                <a:xfrm flipH="1">
                  <a:off x="1612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56" name="Line 44"/>
                <p:cNvSpPr>
                  <a:spLocks noChangeShapeType="1"/>
                </p:cNvSpPr>
                <p:nvPr/>
              </p:nvSpPr>
              <p:spPr bwMode="auto">
                <a:xfrm flipH="1">
                  <a:off x="172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5620" name="Group 45"/>
              <p:cNvGrpSpPr>
                <a:grpSpLocks/>
              </p:cNvGrpSpPr>
              <p:nvPr/>
            </p:nvGrpSpPr>
            <p:grpSpPr bwMode="auto">
              <a:xfrm>
                <a:off x="1888" y="3037"/>
                <a:ext cx="1984" cy="118"/>
                <a:chOff x="-141" y="2876"/>
                <a:chExt cx="1984" cy="118"/>
              </a:xfrm>
            </p:grpSpPr>
            <p:grpSp>
              <p:nvGrpSpPr>
                <p:cNvPr id="25721" name="Group 46"/>
                <p:cNvGrpSpPr>
                  <a:grpSpLocks/>
                </p:cNvGrpSpPr>
                <p:nvPr/>
              </p:nvGrpSpPr>
              <p:grpSpPr bwMode="auto">
                <a:xfrm>
                  <a:off x="-141" y="2876"/>
                  <a:ext cx="124" cy="115"/>
                  <a:chOff x="707" y="1508"/>
                  <a:chExt cx="124" cy="109"/>
                </a:xfrm>
              </p:grpSpPr>
              <p:sp>
                <p:nvSpPr>
                  <p:cNvPr id="25738" name="Rectangle 47"/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08"/>
                    <a:ext cx="124" cy="52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45720" tIns="0" rIns="0" bIns="0" anchor="ctr"/>
                  <a:lstStyle/>
                  <a:p>
                    <a:endParaRPr lang="en-US" sz="1200" b="1">
                      <a:solidFill>
                        <a:schemeClr val="bg1"/>
                      </a:solidFill>
                      <a:latin typeface="Arial" charset="0"/>
                    </a:endParaRPr>
                  </a:p>
                </p:txBody>
              </p:sp>
              <p:sp>
                <p:nvSpPr>
                  <p:cNvPr id="25739" name="Rectangle 48"/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65"/>
                    <a:ext cx="124" cy="52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45720" tIns="0" rIns="0" bIns="0" anchor="ctr"/>
                  <a:lstStyle/>
                  <a:p>
                    <a:endParaRPr lang="en-US" sz="1200" b="1">
                      <a:solidFill>
                        <a:schemeClr val="bg1"/>
                      </a:solidFill>
                      <a:latin typeface="Arial" charset="0"/>
                    </a:endParaRPr>
                  </a:p>
                </p:txBody>
              </p:sp>
            </p:grpSp>
            <p:sp>
              <p:nvSpPr>
                <p:cNvPr id="25722" name="Rectangle 49"/>
                <p:cNvSpPr>
                  <a:spLocks noChangeArrowheads="1"/>
                </p:cNvSpPr>
                <p:nvPr/>
              </p:nvSpPr>
              <p:spPr bwMode="auto">
                <a:xfrm>
                  <a:off x="0" y="2879"/>
                  <a:ext cx="1843" cy="115"/>
                </a:xfrm>
                <a:prstGeom prst="rect">
                  <a:avLst/>
                </a:prstGeom>
                <a:solidFill>
                  <a:srgbClr val="99FF66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pPr algn="ctr"/>
                  <a:endParaRPr lang="en-US" sz="1400" b="1">
                    <a:solidFill>
                      <a:schemeClr val="bg1"/>
                    </a:solidFill>
                    <a:latin typeface="Arial" charset="0"/>
                  </a:endParaRPr>
                </a:p>
              </p:txBody>
            </p:sp>
            <p:sp>
              <p:nvSpPr>
                <p:cNvPr id="25723" name="Line 50"/>
                <p:cNvSpPr>
                  <a:spLocks noChangeShapeType="1"/>
                </p:cNvSpPr>
                <p:nvPr/>
              </p:nvSpPr>
              <p:spPr bwMode="auto">
                <a:xfrm>
                  <a:off x="11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24" name="Line 51"/>
                <p:cNvSpPr>
                  <a:spLocks noChangeShapeType="1"/>
                </p:cNvSpPr>
                <p:nvPr/>
              </p:nvSpPr>
              <p:spPr bwMode="auto">
                <a:xfrm>
                  <a:off x="23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25" name="Line 52"/>
                <p:cNvSpPr>
                  <a:spLocks noChangeShapeType="1"/>
                </p:cNvSpPr>
                <p:nvPr/>
              </p:nvSpPr>
              <p:spPr bwMode="auto">
                <a:xfrm>
                  <a:off x="34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26" name="Line 53"/>
                <p:cNvSpPr>
                  <a:spLocks noChangeShapeType="1"/>
                </p:cNvSpPr>
                <p:nvPr/>
              </p:nvSpPr>
              <p:spPr bwMode="auto">
                <a:xfrm>
                  <a:off x="46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27" name="Line 54"/>
                <p:cNvSpPr>
                  <a:spLocks noChangeShapeType="1"/>
                </p:cNvSpPr>
                <p:nvPr/>
              </p:nvSpPr>
              <p:spPr bwMode="auto">
                <a:xfrm>
                  <a:off x="57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28" name="Line 55"/>
                <p:cNvSpPr>
                  <a:spLocks noChangeShapeType="1"/>
                </p:cNvSpPr>
                <p:nvPr/>
              </p:nvSpPr>
              <p:spPr bwMode="auto">
                <a:xfrm flipH="1">
                  <a:off x="690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29" name="Line 56"/>
                <p:cNvSpPr>
                  <a:spLocks noChangeShapeType="1"/>
                </p:cNvSpPr>
                <p:nvPr/>
              </p:nvSpPr>
              <p:spPr bwMode="auto">
                <a:xfrm flipH="1">
                  <a:off x="138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30" name="Line 57"/>
                <p:cNvSpPr>
                  <a:spLocks noChangeShapeType="1"/>
                </p:cNvSpPr>
                <p:nvPr/>
              </p:nvSpPr>
              <p:spPr bwMode="auto">
                <a:xfrm flipH="1">
                  <a:off x="80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31" name="Line 58"/>
                <p:cNvSpPr>
                  <a:spLocks noChangeShapeType="1"/>
                </p:cNvSpPr>
                <p:nvPr/>
              </p:nvSpPr>
              <p:spPr bwMode="auto">
                <a:xfrm flipH="1">
                  <a:off x="92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32" name="Line 59"/>
                <p:cNvSpPr>
                  <a:spLocks noChangeShapeType="1"/>
                </p:cNvSpPr>
                <p:nvPr/>
              </p:nvSpPr>
              <p:spPr bwMode="auto">
                <a:xfrm flipH="1">
                  <a:off x="103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33" name="Line 60"/>
                <p:cNvSpPr>
                  <a:spLocks noChangeShapeType="1"/>
                </p:cNvSpPr>
                <p:nvPr/>
              </p:nvSpPr>
              <p:spPr bwMode="auto">
                <a:xfrm flipH="1">
                  <a:off x="115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34" name="Line 61"/>
                <p:cNvSpPr>
                  <a:spLocks noChangeShapeType="1"/>
                </p:cNvSpPr>
                <p:nvPr/>
              </p:nvSpPr>
              <p:spPr bwMode="auto">
                <a:xfrm flipH="1">
                  <a:off x="126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35" name="Line 62"/>
                <p:cNvSpPr>
                  <a:spLocks noChangeShapeType="1"/>
                </p:cNvSpPr>
                <p:nvPr/>
              </p:nvSpPr>
              <p:spPr bwMode="auto">
                <a:xfrm flipH="1">
                  <a:off x="149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36" name="Line 63"/>
                <p:cNvSpPr>
                  <a:spLocks noChangeShapeType="1"/>
                </p:cNvSpPr>
                <p:nvPr/>
              </p:nvSpPr>
              <p:spPr bwMode="auto">
                <a:xfrm flipH="1">
                  <a:off x="1612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37" name="Line 64"/>
                <p:cNvSpPr>
                  <a:spLocks noChangeShapeType="1"/>
                </p:cNvSpPr>
                <p:nvPr/>
              </p:nvSpPr>
              <p:spPr bwMode="auto">
                <a:xfrm flipH="1">
                  <a:off x="172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5621" name="Group 65"/>
              <p:cNvGrpSpPr>
                <a:grpSpLocks/>
              </p:cNvGrpSpPr>
              <p:nvPr/>
            </p:nvGrpSpPr>
            <p:grpSpPr bwMode="auto">
              <a:xfrm>
                <a:off x="1888" y="3175"/>
                <a:ext cx="1984" cy="118"/>
                <a:chOff x="-141" y="2876"/>
                <a:chExt cx="1984" cy="118"/>
              </a:xfrm>
            </p:grpSpPr>
            <p:grpSp>
              <p:nvGrpSpPr>
                <p:cNvPr id="25702" name="Group 66"/>
                <p:cNvGrpSpPr>
                  <a:grpSpLocks/>
                </p:cNvGrpSpPr>
                <p:nvPr/>
              </p:nvGrpSpPr>
              <p:grpSpPr bwMode="auto">
                <a:xfrm>
                  <a:off x="-141" y="2876"/>
                  <a:ext cx="124" cy="115"/>
                  <a:chOff x="707" y="1508"/>
                  <a:chExt cx="124" cy="109"/>
                </a:xfrm>
              </p:grpSpPr>
              <p:sp>
                <p:nvSpPr>
                  <p:cNvPr id="25719" name="Rectangle 67"/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08"/>
                    <a:ext cx="124" cy="52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45720" tIns="0" rIns="0" bIns="0" anchor="ctr"/>
                  <a:lstStyle/>
                  <a:p>
                    <a:endParaRPr lang="en-US" sz="1200" b="1">
                      <a:solidFill>
                        <a:schemeClr val="bg1"/>
                      </a:solidFill>
                      <a:latin typeface="Arial" charset="0"/>
                    </a:endParaRPr>
                  </a:p>
                </p:txBody>
              </p:sp>
              <p:sp>
                <p:nvSpPr>
                  <p:cNvPr id="25720" name="Rectangle 68"/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65"/>
                    <a:ext cx="124" cy="52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45720" tIns="0" rIns="0" bIns="0" anchor="ctr"/>
                  <a:lstStyle/>
                  <a:p>
                    <a:endParaRPr lang="en-US" sz="1200" b="1">
                      <a:solidFill>
                        <a:schemeClr val="bg1"/>
                      </a:solidFill>
                      <a:latin typeface="Arial" charset="0"/>
                    </a:endParaRPr>
                  </a:p>
                </p:txBody>
              </p:sp>
            </p:grpSp>
            <p:sp>
              <p:nvSpPr>
                <p:cNvPr id="25703" name="Rectangle 69"/>
                <p:cNvSpPr>
                  <a:spLocks noChangeArrowheads="1"/>
                </p:cNvSpPr>
                <p:nvPr/>
              </p:nvSpPr>
              <p:spPr bwMode="auto">
                <a:xfrm>
                  <a:off x="0" y="2879"/>
                  <a:ext cx="1843" cy="115"/>
                </a:xfrm>
                <a:prstGeom prst="rect">
                  <a:avLst/>
                </a:prstGeom>
                <a:solidFill>
                  <a:srgbClr val="99FF66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pPr algn="ctr"/>
                  <a:endParaRPr lang="en-US" sz="1400" b="1">
                    <a:solidFill>
                      <a:schemeClr val="bg1"/>
                    </a:solidFill>
                    <a:latin typeface="Arial" charset="0"/>
                  </a:endParaRPr>
                </a:p>
              </p:txBody>
            </p:sp>
            <p:sp>
              <p:nvSpPr>
                <p:cNvPr id="25704" name="Line 70"/>
                <p:cNvSpPr>
                  <a:spLocks noChangeShapeType="1"/>
                </p:cNvSpPr>
                <p:nvPr/>
              </p:nvSpPr>
              <p:spPr bwMode="auto">
                <a:xfrm>
                  <a:off x="11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05" name="Line 71"/>
                <p:cNvSpPr>
                  <a:spLocks noChangeShapeType="1"/>
                </p:cNvSpPr>
                <p:nvPr/>
              </p:nvSpPr>
              <p:spPr bwMode="auto">
                <a:xfrm>
                  <a:off x="23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06" name="Line 72"/>
                <p:cNvSpPr>
                  <a:spLocks noChangeShapeType="1"/>
                </p:cNvSpPr>
                <p:nvPr/>
              </p:nvSpPr>
              <p:spPr bwMode="auto">
                <a:xfrm>
                  <a:off x="34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07" name="Line 73"/>
                <p:cNvSpPr>
                  <a:spLocks noChangeShapeType="1"/>
                </p:cNvSpPr>
                <p:nvPr/>
              </p:nvSpPr>
              <p:spPr bwMode="auto">
                <a:xfrm>
                  <a:off x="46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08" name="Line 74"/>
                <p:cNvSpPr>
                  <a:spLocks noChangeShapeType="1"/>
                </p:cNvSpPr>
                <p:nvPr/>
              </p:nvSpPr>
              <p:spPr bwMode="auto">
                <a:xfrm>
                  <a:off x="57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09" name="Line 75"/>
                <p:cNvSpPr>
                  <a:spLocks noChangeShapeType="1"/>
                </p:cNvSpPr>
                <p:nvPr/>
              </p:nvSpPr>
              <p:spPr bwMode="auto">
                <a:xfrm flipH="1">
                  <a:off x="690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10" name="Line 76"/>
                <p:cNvSpPr>
                  <a:spLocks noChangeShapeType="1"/>
                </p:cNvSpPr>
                <p:nvPr/>
              </p:nvSpPr>
              <p:spPr bwMode="auto">
                <a:xfrm flipH="1">
                  <a:off x="138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11" name="Line 77"/>
                <p:cNvSpPr>
                  <a:spLocks noChangeShapeType="1"/>
                </p:cNvSpPr>
                <p:nvPr/>
              </p:nvSpPr>
              <p:spPr bwMode="auto">
                <a:xfrm flipH="1">
                  <a:off x="80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12" name="Line 78"/>
                <p:cNvSpPr>
                  <a:spLocks noChangeShapeType="1"/>
                </p:cNvSpPr>
                <p:nvPr/>
              </p:nvSpPr>
              <p:spPr bwMode="auto">
                <a:xfrm flipH="1">
                  <a:off x="92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13" name="Line 79"/>
                <p:cNvSpPr>
                  <a:spLocks noChangeShapeType="1"/>
                </p:cNvSpPr>
                <p:nvPr/>
              </p:nvSpPr>
              <p:spPr bwMode="auto">
                <a:xfrm flipH="1">
                  <a:off x="103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14" name="Line 80"/>
                <p:cNvSpPr>
                  <a:spLocks noChangeShapeType="1"/>
                </p:cNvSpPr>
                <p:nvPr/>
              </p:nvSpPr>
              <p:spPr bwMode="auto">
                <a:xfrm flipH="1">
                  <a:off x="115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15" name="Line 81"/>
                <p:cNvSpPr>
                  <a:spLocks noChangeShapeType="1"/>
                </p:cNvSpPr>
                <p:nvPr/>
              </p:nvSpPr>
              <p:spPr bwMode="auto">
                <a:xfrm flipH="1">
                  <a:off x="126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16" name="Line 82"/>
                <p:cNvSpPr>
                  <a:spLocks noChangeShapeType="1"/>
                </p:cNvSpPr>
                <p:nvPr/>
              </p:nvSpPr>
              <p:spPr bwMode="auto">
                <a:xfrm flipH="1">
                  <a:off x="149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17" name="Line 83"/>
                <p:cNvSpPr>
                  <a:spLocks noChangeShapeType="1"/>
                </p:cNvSpPr>
                <p:nvPr/>
              </p:nvSpPr>
              <p:spPr bwMode="auto">
                <a:xfrm flipH="1">
                  <a:off x="1612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718" name="Line 84"/>
                <p:cNvSpPr>
                  <a:spLocks noChangeShapeType="1"/>
                </p:cNvSpPr>
                <p:nvPr/>
              </p:nvSpPr>
              <p:spPr bwMode="auto">
                <a:xfrm flipH="1">
                  <a:off x="172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5622" name="Group 85"/>
              <p:cNvGrpSpPr>
                <a:grpSpLocks/>
              </p:cNvGrpSpPr>
              <p:nvPr/>
            </p:nvGrpSpPr>
            <p:grpSpPr bwMode="auto">
              <a:xfrm>
                <a:off x="1888" y="3314"/>
                <a:ext cx="1984" cy="118"/>
                <a:chOff x="-141" y="2876"/>
                <a:chExt cx="1984" cy="118"/>
              </a:xfrm>
            </p:grpSpPr>
            <p:grpSp>
              <p:nvGrpSpPr>
                <p:cNvPr id="25683" name="Group 86"/>
                <p:cNvGrpSpPr>
                  <a:grpSpLocks/>
                </p:cNvGrpSpPr>
                <p:nvPr/>
              </p:nvGrpSpPr>
              <p:grpSpPr bwMode="auto">
                <a:xfrm>
                  <a:off x="-141" y="2876"/>
                  <a:ext cx="124" cy="115"/>
                  <a:chOff x="707" y="1508"/>
                  <a:chExt cx="124" cy="109"/>
                </a:xfrm>
              </p:grpSpPr>
              <p:sp>
                <p:nvSpPr>
                  <p:cNvPr id="25700" name="Rectangle 87"/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08"/>
                    <a:ext cx="124" cy="52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45720" tIns="0" rIns="0" bIns="0" anchor="ctr"/>
                  <a:lstStyle/>
                  <a:p>
                    <a:endParaRPr lang="en-US" sz="1200" b="1">
                      <a:solidFill>
                        <a:schemeClr val="bg1"/>
                      </a:solidFill>
                      <a:latin typeface="Arial" charset="0"/>
                    </a:endParaRPr>
                  </a:p>
                </p:txBody>
              </p:sp>
              <p:sp>
                <p:nvSpPr>
                  <p:cNvPr id="25701" name="Rectangle 88"/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65"/>
                    <a:ext cx="124" cy="52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45720" tIns="0" rIns="0" bIns="0" anchor="ctr"/>
                  <a:lstStyle/>
                  <a:p>
                    <a:endParaRPr lang="en-US" sz="1200" b="1">
                      <a:solidFill>
                        <a:schemeClr val="bg1"/>
                      </a:solidFill>
                      <a:latin typeface="Arial" charset="0"/>
                    </a:endParaRPr>
                  </a:p>
                </p:txBody>
              </p:sp>
            </p:grpSp>
            <p:sp>
              <p:nvSpPr>
                <p:cNvPr id="25684" name="Rectangle 89"/>
                <p:cNvSpPr>
                  <a:spLocks noChangeArrowheads="1"/>
                </p:cNvSpPr>
                <p:nvPr/>
              </p:nvSpPr>
              <p:spPr bwMode="auto">
                <a:xfrm>
                  <a:off x="0" y="2879"/>
                  <a:ext cx="1843" cy="115"/>
                </a:xfrm>
                <a:prstGeom prst="rect">
                  <a:avLst/>
                </a:prstGeom>
                <a:solidFill>
                  <a:srgbClr val="99FF66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pPr algn="ctr"/>
                  <a:endParaRPr lang="en-US" sz="1400" b="1">
                    <a:solidFill>
                      <a:schemeClr val="bg1"/>
                    </a:solidFill>
                    <a:latin typeface="Arial" charset="0"/>
                  </a:endParaRPr>
                </a:p>
              </p:txBody>
            </p:sp>
            <p:sp>
              <p:nvSpPr>
                <p:cNvPr id="25685" name="Line 90"/>
                <p:cNvSpPr>
                  <a:spLocks noChangeShapeType="1"/>
                </p:cNvSpPr>
                <p:nvPr/>
              </p:nvSpPr>
              <p:spPr bwMode="auto">
                <a:xfrm>
                  <a:off x="11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86" name="Line 91"/>
                <p:cNvSpPr>
                  <a:spLocks noChangeShapeType="1"/>
                </p:cNvSpPr>
                <p:nvPr/>
              </p:nvSpPr>
              <p:spPr bwMode="auto">
                <a:xfrm>
                  <a:off x="23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87" name="Line 92"/>
                <p:cNvSpPr>
                  <a:spLocks noChangeShapeType="1"/>
                </p:cNvSpPr>
                <p:nvPr/>
              </p:nvSpPr>
              <p:spPr bwMode="auto">
                <a:xfrm>
                  <a:off x="34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88" name="Line 93"/>
                <p:cNvSpPr>
                  <a:spLocks noChangeShapeType="1"/>
                </p:cNvSpPr>
                <p:nvPr/>
              </p:nvSpPr>
              <p:spPr bwMode="auto">
                <a:xfrm>
                  <a:off x="46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89" name="Line 94"/>
                <p:cNvSpPr>
                  <a:spLocks noChangeShapeType="1"/>
                </p:cNvSpPr>
                <p:nvPr/>
              </p:nvSpPr>
              <p:spPr bwMode="auto">
                <a:xfrm>
                  <a:off x="57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90" name="Line 95"/>
                <p:cNvSpPr>
                  <a:spLocks noChangeShapeType="1"/>
                </p:cNvSpPr>
                <p:nvPr/>
              </p:nvSpPr>
              <p:spPr bwMode="auto">
                <a:xfrm flipH="1">
                  <a:off x="690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91" name="Line 96"/>
                <p:cNvSpPr>
                  <a:spLocks noChangeShapeType="1"/>
                </p:cNvSpPr>
                <p:nvPr/>
              </p:nvSpPr>
              <p:spPr bwMode="auto">
                <a:xfrm flipH="1">
                  <a:off x="138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92" name="Line 97"/>
                <p:cNvSpPr>
                  <a:spLocks noChangeShapeType="1"/>
                </p:cNvSpPr>
                <p:nvPr/>
              </p:nvSpPr>
              <p:spPr bwMode="auto">
                <a:xfrm flipH="1">
                  <a:off x="80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93" name="Line 98"/>
                <p:cNvSpPr>
                  <a:spLocks noChangeShapeType="1"/>
                </p:cNvSpPr>
                <p:nvPr/>
              </p:nvSpPr>
              <p:spPr bwMode="auto">
                <a:xfrm flipH="1">
                  <a:off x="92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94" name="Line 99"/>
                <p:cNvSpPr>
                  <a:spLocks noChangeShapeType="1"/>
                </p:cNvSpPr>
                <p:nvPr/>
              </p:nvSpPr>
              <p:spPr bwMode="auto">
                <a:xfrm flipH="1">
                  <a:off x="103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95" name="Line 100"/>
                <p:cNvSpPr>
                  <a:spLocks noChangeShapeType="1"/>
                </p:cNvSpPr>
                <p:nvPr/>
              </p:nvSpPr>
              <p:spPr bwMode="auto">
                <a:xfrm flipH="1">
                  <a:off x="115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96" name="Line 101"/>
                <p:cNvSpPr>
                  <a:spLocks noChangeShapeType="1"/>
                </p:cNvSpPr>
                <p:nvPr/>
              </p:nvSpPr>
              <p:spPr bwMode="auto">
                <a:xfrm flipH="1">
                  <a:off x="126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97" name="Line 102"/>
                <p:cNvSpPr>
                  <a:spLocks noChangeShapeType="1"/>
                </p:cNvSpPr>
                <p:nvPr/>
              </p:nvSpPr>
              <p:spPr bwMode="auto">
                <a:xfrm flipH="1">
                  <a:off x="149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98" name="Line 103"/>
                <p:cNvSpPr>
                  <a:spLocks noChangeShapeType="1"/>
                </p:cNvSpPr>
                <p:nvPr/>
              </p:nvSpPr>
              <p:spPr bwMode="auto">
                <a:xfrm flipH="1">
                  <a:off x="1612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99" name="Line 104"/>
                <p:cNvSpPr>
                  <a:spLocks noChangeShapeType="1"/>
                </p:cNvSpPr>
                <p:nvPr/>
              </p:nvSpPr>
              <p:spPr bwMode="auto">
                <a:xfrm flipH="1">
                  <a:off x="172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5623" name="Group 105"/>
              <p:cNvGrpSpPr>
                <a:grpSpLocks/>
              </p:cNvGrpSpPr>
              <p:nvPr/>
            </p:nvGrpSpPr>
            <p:grpSpPr bwMode="auto">
              <a:xfrm>
                <a:off x="1888" y="3452"/>
                <a:ext cx="1984" cy="118"/>
                <a:chOff x="-141" y="2876"/>
                <a:chExt cx="1984" cy="118"/>
              </a:xfrm>
            </p:grpSpPr>
            <p:grpSp>
              <p:nvGrpSpPr>
                <p:cNvPr id="25664" name="Group 106"/>
                <p:cNvGrpSpPr>
                  <a:grpSpLocks/>
                </p:cNvGrpSpPr>
                <p:nvPr/>
              </p:nvGrpSpPr>
              <p:grpSpPr bwMode="auto">
                <a:xfrm>
                  <a:off x="-141" y="2876"/>
                  <a:ext cx="124" cy="115"/>
                  <a:chOff x="707" y="1508"/>
                  <a:chExt cx="124" cy="109"/>
                </a:xfrm>
              </p:grpSpPr>
              <p:sp>
                <p:nvSpPr>
                  <p:cNvPr id="25681" name="Rectangle 107"/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08"/>
                    <a:ext cx="124" cy="52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45720" tIns="0" rIns="0" bIns="0" anchor="ctr"/>
                  <a:lstStyle/>
                  <a:p>
                    <a:endParaRPr lang="en-US" sz="1200" b="1">
                      <a:solidFill>
                        <a:schemeClr val="bg1"/>
                      </a:solidFill>
                      <a:latin typeface="Arial" charset="0"/>
                    </a:endParaRPr>
                  </a:p>
                </p:txBody>
              </p:sp>
              <p:sp>
                <p:nvSpPr>
                  <p:cNvPr id="25682" name="Rectangle 108"/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65"/>
                    <a:ext cx="124" cy="52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45720" tIns="0" rIns="0" bIns="0" anchor="ctr"/>
                  <a:lstStyle/>
                  <a:p>
                    <a:endParaRPr lang="en-US" sz="1200" b="1">
                      <a:solidFill>
                        <a:schemeClr val="bg1"/>
                      </a:solidFill>
                      <a:latin typeface="Arial" charset="0"/>
                    </a:endParaRPr>
                  </a:p>
                </p:txBody>
              </p:sp>
            </p:grpSp>
            <p:sp>
              <p:nvSpPr>
                <p:cNvPr id="25665" name="Rectangle 109"/>
                <p:cNvSpPr>
                  <a:spLocks noChangeArrowheads="1"/>
                </p:cNvSpPr>
                <p:nvPr/>
              </p:nvSpPr>
              <p:spPr bwMode="auto">
                <a:xfrm>
                  <a:off x="0" y="2879"/>
                  <a:ext cx="1843" cy="115"/>
                </a:xfrm>
                <a:prstGeom prst="rect">
                  <a:avLst/>
                </a:prstGeom>
                <a:solidFill>
                  <a:srgbClr val="99FF66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pPr algn="ctr"/>
                  <a:endParaRPr lang="en-US" sz="1400" b="1">
                    <a:solidFill>
                      <a:schemeClr val="bg1"/>
                    </a:solidFill>
                    <a:latin typeface="Arial" charset="0"/>
                  </a:endParaRPr>
                </a:p>
              </p:txBody>
            </p:sp>
            <p:sp>
              <p:nvSpPr>
                <p:cNvPr id="25666" name="Line 110"/>
                <p:cNvSpPr>
                  <a:spLocks noChangeShapeType="1"/>
                </p:cNvSpPr>
                <p:nvPr/>
              </p:nvSpPr>
              <p:spPr bwMode="auto">
                <a:xfrm>
                  <a:off x="11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67" name="Line 111"/>
                <p:cNvSpPr>
                  <a:spLocks noChangeShapeType="1"/>
                </p:cNvSpPr>
                <p:nvPr/>
              </p:nvSpPr>
              <p:spPr bwMode="auto">
                <a:xfrm>
                  <a:off x="23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68" name="Line 112"/>
                <p:cNvSpPr>
                  <a:spLocks noChangeShapeType="1"/>
                </p:cNvSpPr>
                <p:nvPr/>
              </p:nvSpPr>
              <p:spPr bwMode="auto">
                <a:xfrm>
                  <a:off x="34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69" name="Line 113"/>
                <p:cNvSpPr>
                  <a:spLocks noChangeShapeType="1"/>
                </p:cNvSpPr>
                <p:nvPr/>
              </p:nvSpPr>
              <p:spPr bwMode="auto">
                <a:xfrm>
                  <a:off x="46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70" name="Line 114"/>
                <p:cNvSpPr>
                  <a:spLocks noChangeShapeType="1"/>
                </p:cNvSpPr>
                <p:nvPr/>
              </p:nvSpPr>
              <p:spPr bwMode="auto">
                <a:xfrm>
                  <a:off x="57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71" name="Line 115"/>
                <p:cNvSpPr>
                  <a:spLocks noChangeShapeType="1"/>
                </p:cNvSpPr>
                <p:nvPr/>
              </p:nvSpPr>
              <p:spPr bwMode="auto">
                <a:xfrm flipH="1">
                  <a:off x="690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72" name="Line 116"/>
                <p:cNvSpPr>
                  <a:spLocks noChangeShapeType="1"/>
                </p:cNvSpPr>
                <p:nvPr/>
              </p:nvSpPr>
              <p:spPr bwMode="auto">
                <a:xfrm flipH="1">
                  <a:off x="138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73" name="Line 117"/>
                <p:cNvSpPr>
                  <a:spLocks noChangeShapeType="1"/>
                </p:cNvSpPr>
                <p:nvPr/>
              </p:nvSpPr>
              <p:spPr bwMode="auto">
                <a:xfrm flipH="1">
                  <a:off x="80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74" name="Line 118"/>
                <p:cNvSpPr>
                  <a:spLocks noChangeShapeType="1"/>
                </p:cNvSpPr>
                <p:nvPr/>
              </p:nvSpPr>
              <p:spPr bwMode="auto">
                <a:xfrm flipH="1">
                  <a:off x="92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75" name="Line 119"/>
                <p:cNvSpPr>
                  <a:spLocks noChangeShapeType="1"/>
                </p:cNvSpPr>
                <p:nvPr/>
              </p:nvSpPr>
              <p:spPr bwMode="auto">
                <a:xfrm flipH="1">
                  <a:off x="103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76" name="Line 120"/>
                <p:cNvSpPr>
                  <a:spLocks noChangeShapeType="1"/>
                </p:cNvSpPr>
                <p:nvPr/>
              </p:nvSpPr>
              <p:spPr bwMode="auto">
                <a:xfrm flipH="1">
                  <a:off x="115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77" name="Line 121"/>
                <p:cNvSpPr>
                  <a:spLocks noChangeShapeType="1"/>
                </p:cNvSpPr>
                <p:nvPr/>
              </p:nvSpPr>
              <p:spPr bwMode="auto">
                <a:xfrm flipH="1">
                  <a:off x="126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78" name="Line 122"/>
                <p:cNvSpPr>
                  <a:spLocks noChangeShapeType="1"/>
                </p:cNvSpPr>
                <p:nvPr/>
              </p:nvSpPr>
              <p:spPr bwMode="auto">
                <a:xfrm flipH="1">
                  <a:off x="149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79" name="Line 123"/>
                <p:cNvSpPr>
                  <a:spLocks noChangeShapeType="1"/>
                </p:cNvSpPr>
                <p:nvPr/>
              </p:nvSpPr>
              <p:spPr bwMode="auto">
                <a:xfrm flipH="1">
                  <a:off x="1612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80" name="Line 124"/>
                <p:cNvSpPr>
                  <a:spLocks noChangeShapeType="1"/>
                </p:cNvSpPr>
                <p:nvPr/>
              </p:nvSpPr>
              <p:spPr bwMode="auto">
                <a:xfrm flipH="1">
                  <a:off x="172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5624" name="Group 125"/>
              <p:cNvGrpSpPr>
                <a:grpSpLocks/>
              </p:cNvGrpSpPr>
              <p:nvPr/>
            </p:nvGrpSpPr>
            <p:grpSpPr bwMode="auto">
              <a:xfrm>
                <a:off x="1888" y="3590"/>
                <a:ext cx="1984" cy="118"/>
                <a:chOff x="-141" y="2876"/>
                <a:chExt cx="1984" cy="118"/>
              </a:xfrm>
            </p:grpSpPr>
            <p:grpSp>
              <p:nvGrpSpPr>
                <p:cNvPr id="25645" name="Group 126"/>
                <p:cNvGrpSpPr>
                  <a:grpSpLocks/>
                </p:cNvGrpSpPr>
                <p:nvPr/>
              </p:nvGrpSpPr>
              <p:grpSpPr bwMode="auto">
                <a:xfrm>
                  <a:off x="-141" y="2876"/>
                  <a:ext cx="124" cy="115"/>
                  <a:chOff x="707" y="1508"/>
                  <a:chExt cx="124" cy="109"/>
                </a:xfrm>
              </p:grpSpPr>
              <p:sp>
                <p:nvSpPr>
                  <p:cNvPr id="25662" name="Rectangle 127"/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08"/>
                    <a:ext cx="124" cy="52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45720" tIns="0" rIns="0" bIns="0" anchor="ctr"/>
                  <a:lstStyle/>
                  <a:p>
                    <a:endParaRPr lang="en-US" sz="1200" b="1">
                      <a:solidFill>
                        <a:schemeClr val="bg1"/>
                      </a:solidFill>
                      <a:latin typeface="Arial" charset="0"/>
                    </a:endParaRPr>
                  </a:p>
                </p:txBody>
              </p:sp>
              <p:sp>
                <p:nvSpPr>
                  <p:cNvPr id="25663" name="Rectangle 128"/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65"/>
                    <a:ext cx="124" cy="52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45720" tIns="0" rIns="0" bIns="0" anchor="ctr"/>
                  <a:lstStyle/>
                  <a:p>
                    <a:endParaRPr lang="en-US" sz="1200" b="1">
                      <a:solidFill>
                        <a:schemeClr val="bg1"/>
                      </a:solidFill>
                      <a:latin typeface="Arial" charset="0"/>
                    </a:endParaRPr>
                  </a:p>
                </p:txBody>
              </p:sp>
            </p:grpSp>
            <p:sp>
              <p:nvSpPr>
                <p:cNvPr id="25646" name="Rectangle 129"/>
                <p:cNvSpPr>
                  <a:spLocks noChangeArrowheads="1"/>
                </p:cNvSpPr>
                <p:nvPr/>
              </p:nvSpPr>
              <p:spPr bwMode="auto">
                <a:xfrm>
                  <a:off x="0" y="2879"/>
                  <a:ext cx="1843" cy="115"/>
                </a:xfrm>
                <a:prstGeom prst="rect">
                  <a:avLst/>
                </a:prstGeom>
                <a:solidFill>
                  <a:srgbClr val="99FF66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pPr algn="ctr"/>
                  <a:endParaRPr lang="en-US" sz="1400" b="1">
                    <a:solidFill>
                      <a:schemeClr val="bg1"/>
                    </a:solidFill>
                    <a:latin typeface="Arial" charset="0"/>
                  </a:endParaRPr>
                </a:p>
              </p:txBody>
            </p:sp>
            <p:sp>
              <p:nvSpPr>
                <p:cNvPr id="25647" name="Line 130"/>
                <p:cNvSpPr>
                  <a:spLocks noChangeShapeType="1"/>
                </p:cNvSpPr>
                <p:nvPr/>
              </p:nvSpPr>
              <p:spPr bwMode="auto">
                <a:xfrm>
                  <a:off x="11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48" name="Line 131"/>
                <p:cNvSpPr>
                  <a:spLocks noChangeShapeType="1"/>
                </p:cNvSpPr>
                <p:nvPr/>
              </p:nvSpPr>
              <p:spPr bwMode="auto">
                <a:xfrm>
                  <a:off x="23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49" name="Line 132"/>
                <p:cNvSpPr>
                  <a:spLocks noChangeShapeType="1"/>
                </p:cNvSpPr>
                <p:nvPr/>
              </p:nvSpPr>
              <p:spPr bwMode="auto">
                <a:xfrm>
                  <a:off x="34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50" name="Line 133"/>
                <p:cNvSpPr>
                  <a:spLocks noChangeShapeType="1"/>
                </p:cNvSpPr>
                <p:nvPr/>
              </p:nvSpPr>
              <p:spPr bwMode="auto">
                <a:xfrm>
                  <a:off x="46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51" name="Line 134"/>
                <p:cNvSpPr>
                  <a:spLocks noChangeShapeType="1"/>
                </p:cNvSpPr>
                <p:nvPr/>
              </p:nvSpPr>
              <p:spPr bwMode="auto">
                <a:xfrm>
                  <a:off x="57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52" name="Line 135"/>
                <p:cNvSpPr>
                  <a:spLocks noChangeShapeType="1"/>
                </p:cNvSpPr>
                <p:nvPr/>
              </p:nvSpPr>
              <p:spPr bwMode="auto">
                <a:xfrm flipH="1">
                  <a:off x="690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53" name="Line 136"/>
                <p:cNvSpPr>
                  <a:spLocks noChangeShapeType="1"/>
                </p:cNvSpPr>
                <p:nvPr/>
              </p:nvSpPr>
              <p:spPr bwMode="auto">
                <a:xfrm flipH="1">
                  <a:off x="138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54" name="Line 137"/>
                <p:cNvSpPr>
                  <a:spLocks noChangeShapeType="1"/>
                </p:cNvSpPr>
                <p:nvPr/>
              </p:nvSpPr>
              <p:spPr bwMode="auto">
                <a:xfrm flipH="1">
                  <a:off x="80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55" name="Line 138"/>
                <p:cNvSpPr>
                  <a:spLocks noChangeShapeType="1"/>
                </p:cNvSpPr>
                <p:nvPr/>
              </p:nvSpPr>
              <p:spPr bwMode="auto">
                <a:xfrm flipH="1">
                  <a:off x="92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56" name="Line 139"/>
                <p:cNvSpPr>
                  <a:spLocks noChangeShapeType="1"/>
                </p:cNvSpPr>
                <p:nvPr/>
              </p:nvSpPr>
              <p:spPr bwMode="auto">
                <a:xfrm flipH="1">
                  <a:off x="103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57" name="Line 140"/>
                <p:cNvSpPr>
                  <a:spLocks noChangeShapeType="1"/>
                </p:cNvSpPr>
                <p:nvPr/>
              </p:nvSpPr>
              <p:spPr bwMode="auto">
                <a:xfrm flipH="1">
                  <a:off x="115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58" name="Line 141"/>
                <p:cNvSpPr>
                  <a:spLocks noChangeShapeType="1"/>
                </p:cNvSpPr>
                <p:nvPr/>
              </p:nvSpPr>
              <p:spPr bwMode="auto">
                <a:xfrm flipH="1">
                  <a:off x="126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59" name="Line 142"/>
                <p:cNvSpPr>
                  <a:spLocks noChangeShapeType="1"/>
                </p:cNvSpPr>
                <p:nvPr/>
              </p:nvSpPr>
              <p:spPr bwMode="auto">
                <a:xfrm flipH="1">
                  <a:off x="149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60" name="Line 143"/>
                <p:cNvSpPr>
                  <a:spLocks noChangeShapeType="1"/>
                </p:cNvSpPr>
                <p:nvPr/>
              </p:nvSpPr>
              <p:spPr bwMode="auto">
                <a:xfrm flipH="1">
                  <a:off x="1612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61" name="Line 144"/>
                <p:cNvSpPr>
                  <a:spLocks noChangeShapeType="1"/>
                </p:cNvSpPr>
                <p:nvPr/>
              </p:nvSpPr>
              <p:spPr bwMode="auto">
                <a:xfrm flipH="1">
                  <a:off x="172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5625" name="Group 145"/>
              <p:cNvGrpSpPr>
                <a:grpSpLocks/>
              </p:cNvGrpSpPr>
              <p:nvPr/>
            </p:nvGrpSpPr>
            <p:grpSpPr bwMode="auto">
              <a:xfrm>
                <a:off x="1888" y="3729"/>
                <a:ext cx="1984" cy="118"/>
                <a:chOff x="-141" y="2876"/>
                <a:chExt cx="1984" cy="118"/>
              </a:xfrm>
            </p:grpSpPr>
            <p:grpSp>
              <p:nvGrpSpPr>
                <p:cNvPr id="25626" name="Group 146"/>
                <p:cNvGrpSpPr>
                  <a:grpSpLocks/>
                </p:cNvGrpSpPr>
                <p:nvPr/>
              </p:nvGrpSpPr>
              <p:grpSpPr bwMode="auto">
                <a:xfrm>
                  <a:off x="-141" y="2876"/>
                  <a:ext cx="124" cy="115"/>
                  <a:chOff x="707" y="1508"/>
                  <a:chExt cx="124" cy="109"/>
                </a:xfrm>
              </p:grpSpPr>
              <p:sp>
                <p:nvSpPr>
                  <p:cNvPr id="25643" name="Rectangle 147"/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08"/>
                    <a:ext cx="124" cy="52"/>
                  </a:xfrm>
                  <a:prstGeom prst="rect">
                    <a:avLst/>
                  </a:prstGeom>
                  <a:solidFill>
                    <a:srgbClr val="FFCC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45720" tIns="0" rIns="0" bIns="0" anchor="ctr"/>
                  <a:lstStyle/>
                  <a:p>
                    <a:endParaRPr lang="en-US" sz="1200" b="1">
                      <a:solidFill>
                        <a:schemeClr val="bg1"/>
                      </a:solidFill>
                      <a:latin typeface="Arial" charset="0"/>
                    </a:endParaRPr>
                  </a:p>
                </p:txBody>
              </p:sp>
              <p:sp>
                <p:nvSpPr>
                  <p:cNvPr id="25644" name="Rectangle 148"/>
                  <p:cNvSpPr>
                    <a:spLocks noChangeArrowheads="1"/>
                  </p:cNvSpPr>
                  <p:nvPr/>
                </p:nvSpPr>
                <p:spPr bwMode="auto">
                  <a:xfrm>
                    <a:off x="707" y="1565"/>
                    <a:ext cx="124" cy="52"/>
                  </a:xfrm>
                  <a:prstGeom prst="rect">
                    <a:avLst/>
                  </a:prstGeom>
                  <a:solidFill>
                    <a:srgbClr val="FF6600"/>
                  </a:solidFill>
                  <a:ln w="9525">
                    <a:solidFill>
                      <a:srgbClr val="969696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45720" tIns="0" rIns="0" bIns="0" anchor="ctr"/>
                  <a:lstStyle/>
                  <a:p>
                    <a:endParaRPr lang="en-US" sz="1200" b="1">
                      <a:solidFill>
                        <a:schemeClr val="bg1"/>
                      </a:solidFill>
                      <a:latin typeface="Arial" charset="0"/>
                    </a:endParaRPr>
                  </a:p>
                </p:txBody>
              </p:sp>
            </p:grpSp>
            <p:sp>
              <p:nvSpPr>
                <p:cNvPr id="25627" name="Rectangle 149"/>
                <p:cNvSpPr>
                  <a:spLocks noChangeArrowheads="1"/>
                </p:cNvSpPr>
                <p:nvPr/>
              </p:nvSpPr>
              <p:spPr bwMode="auto">
                <a:xfrm>
                  <a:off x="0" y="2879"/>
                  <a:ext cx="1843" cy="115"/>
                </a:xfrm>
                <a:prstGeom prst="rect">
                  <a:avLst/>
                </a:prstGeom>
                <a:solidFill>
                  <a:srgbClr val="99FF66"/>
                </a:solidFill>
                <a:ln w="9525">
                  <a:solidFill>
                    <a:srgbClr val="969696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pPr algn="ctr"/>
                  <a:endParaRPr lang="en-US" sz="1400" b="1">
                    <a:solidFill>
                      <a:schemeClr val="bg1"/>
                    </a:solidFill>
                    <a:latin typeface="Arial" charset="0"/>
                  </a:endParaRPr>
                </a:p>
              </p:txBody>
            </p:sp>
            <p:sp>
              <p:nvSpPr>
                <p:cNvPr id="25628" name="Line 150"/>
                <p:cNvSpPr>
                  <a:spLocks noChangeShapeType="1"/>
                </p:cNvSpPr>
                <p:nvPr/>
              </p:nvSpPr>
              <p:spPr bwMode="auto">
                <a:xfrm>
                  <a:off x="11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29" name="Line 151"/>
                <p:cNvSpPr>
                  <a:spLocks noChangeShapeType="1"/>
                </p:cNvSpPr>
                <p:nvPr/>
              </p:nvSpPr>
              <p:spPr bwMode="auto">
                <a:xfrm>
                  <a:off x="23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30" name="Line 152"/>
                <p:cNvSpPr>
                  <a:spLocks noChangeShapeType="1"/>
                </p:cNvSpPr>
                <p:nvPr/>
              </p:nvSpPr>
              <p:spPr bwMode="auto">
                <a:xfrm>
                  <a:off x="34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31" name="Line 153"/>
                <p:cNvSpPr>
                  <a:spLocks noChangeShapeType="1"/>
                </p:cNvSpPr>
                <p:nvPr/>
              </p:nvSpPr>
              <p:spPr bwMode="auto">
                <a:xfrm>
                  <a:off x="460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32" name="Line 154"/>
                <p:cNvSpPr>
                  <a:spLocks noChangeShapeType="1"/>
                </p:cNvSpPr>
                <p:nvPr/>
              </p:nvSpPr>
              <p:spPr bwMode="auto">
                <a:xfrm>
                  <a:off x="575" y="2879"/>
                  <a:ext cx="0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33" name="Line 155"/>
                <p:cNvSpPr>
                  <a:spLocks noChangeShapeType="1"/>
                </p:cNvSpPr>
                <p:nvPr/>
              </p:nvSpPr>
              <p:spPr bwMode="auto">
                <a:xfrm flipH="1">
                  <a:off x="690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34" name="Line 156"/>
                <p:cNvSpPr>
                  <a:spLocks noChangeShapeType="1"/>
                </p:cNvSpPr>
                <p:nvPr/>
              </p:nvSpPr>
              <p:spPr bwMode="auto">
                <a:xfrm flipH="1">
                  <a:off x="138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35" name="Line 157"/>
                <p:cNvSpPr>
                  <a:spLocks noChangeShapeType="1"/>
                </p:cNvSpPr>
                <p:nvPr/>
              </p:nvSpPr>
              <p:spPr bwMode="auto">
                <a:xfrm flipH="1">
                  <a:off x="80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36" name="Line 158"/>
                <p:cNvSpPr>
                  <a:spLocks noChangeShapeType="1"/>
                </p:cNvSpPr>
                <p:nvPr/>
              </p:nvSpPr>
              <p:spPr bwMode="auto">
                <a:xfrm flipH="1">
                  <a:off x="92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37" name="Line 159"/>
                <p:cNvSpPr>
                  <a:spLocks noChangeShapeType="1"/>
                </p:cNvSpPr>
                <p:nvPr/>
              </p:nvSpPr>
              <p:spPr bwMode="auto">
                <a:xfrm flipH="1">
                  <a:off x="103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38" name="Line 160"/>
                <p:cNvSpPr>
                  <a:spLocks noChangeShapeType="1"/>
                </p:cNvSpPr>
                <p:nvPr/>
              </p:nvSpPr>
              <p:spPr bwMode="auto">
                <a:xfrm flipH="1">
                  <a:off x="1151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39" name="Line 161"/>
                <p:cNvSpPr>
                  <a:spLocks noChangeShapeType="1"/>
                </p:cNvSpPr>
                <p:nvPr/>
              </p:nvSpPr>
              <p:spPr bwMode="auto">
                <a:xfrm flipH="1">
                  <a:off x="1266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40" name="Line 162"/>
                <p:cNvSpPr>
                  <a:spLocks noChangeShapeType="1"/>
                </p:cNvSpPr>
                <p:nvPr/>
              </p:nvSpPr>
              <p:spPr bwMode="auto">
                <a:xfrm flipH="1">
                  <a:off x="149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41" name="Line 163"/>
                <p:cNvSpPr>
                  <a:spLocks noChangeShapeType="1"/>
                </p:cNvSpPr>
                <p:nvPr/>
              </p:nvSpPr>
              <p:spPr bwMode="auto">
                <a:xfrm flipH="1">
                  <a:off x="1612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  <p:sp>
              <p:nvSpPr>
                <p:cNvPr id="25642" name="Line 164"/>
                <p:cNvSpPr>
                  <a:spLocks noChangeShapeType="1"/>
                </p:cNvSpPr>
                <p:nvPr/>
              </p:nvSpPr>
              <p:spPr bwMode="auto">
                <a:xfrm flipH="1">
                  <a:off x="1727" y="2879"/>
                  <a:ext cx="1" cy="11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25605" name="Group 165"/>
          <p:cNvGrpSpPr>
            <a:grpSpLocks/>
          </p:cNvGrpSpPr>
          <p:nvPr/>
        </p:nvGrpSpPr>
        <p:grpSpPr bwMode="auto">
          <a:xfrm>
            <a:off x="990600" y="2133600"/>
            <a:ext cx="3276600" cy="2743200"/>
            <a:chOff x="991" y="1935"/>
            <a:chExt cx="1688" cy="1226"/>
          </a:xfrm>
        </p:grpSpPr>
        <p:sp>
          <p:nvSpPr>
            <p:cNvPr id="25609" name="Rectangle 166"/>
            <p:cNvSpPr>
              <a:spLocks noChangeArrowheads="1"/>
            </p:cNvSpPr>
            <p:nvPr/>
          </p:nvSpPr>
          <p:spPr bwMode="auto">
            <a:xfrm>
              <a:off x="992" y="2425"/>
              <a:ext cx="1687" cy="434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  <a:latin typeface="Arial" charset="0"/>
                </a:rPr>
                <a:t>Cache</a:t>
              </a:r>
            </a:p>
          </p:txBody>
        </p:sp>
        <p:sp>
          <p:nvSpPr>
            <p:cNvPr id="25610" name="Rectangle 167"/>
            <p:cNvSpPr>
              <a:spLocks noChangeArrowheads="1"/>
            </p:cNvSpPr>
            <p:nvPr/>
          </p:nvSpPr>
          <p:spPr bwMode="auto">
            <a:xfrm>
              <a:off x="2285" y="1935"/>
              <a:ext cx="394" cy="22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  <a:latin typeface="Arial" charset="0"/>
                </a:rPr>
                <a:t>ALU</a:t>
              </a:r>
            </a:p>
          </p:txBody>
        </p:sp>
        <p:sp>
          <p:nvSpPr>
            <p:cNvPr id="25611" name="Rectangle 168"/>
            <p:cNvSpPr>
              <a:spLocks noChangeArrowheads="1"/>
            </p:cNvSpPr>
            <p:nvPr/>
          </p:nvSpPr>
          <p:spPr bwMode="auto">
            <a:xfrm>
              <a:off x="992" y="1935"/>
              <a:ext cx="836" cy="463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1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  <a:latin typeface="Arial" charset="0"/>
                </a:rPr>
                <a:t>Control</a:t>
              </a:r>
            </a:p>
          </p:txBody>
        </p:sp>
        <p:sp>
          <p:nvSpPr>
            <p:cNvPr id="25612" name="Rectangle 169"/>
            <p:cNvSpPr>
              <a:spLocks noChangeArrowheads="1"/>
            </p:cNvSpPr>
            <p:nvPr/>
          </p:nvSpPr>
          <p:spPr bwMode="auto">
            <a:xfrm>
              <a:off x="2285" y="2178"/>
              <a:ext cx="394" cy="22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  <a:latin typeface="Arial" charset="0"/>
                </a:rPr>
                <a:t>ALU</a:t>
              </a:r>
            </a:p>
          </p:txBody>
        </p:sp>
        <p:sp>
          <p:nvSpPr>
            <p:cNvPr id="25613" name="Rectangle 170"/>
            <p:cNvSpPr>
              <a:spLocks noChangeArrowheads="1"/>
            </p:cNvSpPr>
            <p:nvPr/>
          </p:nvSpPr>
          <p:spPr bwMode="auto">
            <a:xfrm>
              <a:off x="1870" y="1935"/>
              <a:ext cx="394" cy="22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  <a:latin typeface="Arial" charset="0"/>
                </a:rPr>
                <a:t>ALU</a:t>
              </a:r>
            </a:p>
          </p:txBody>
        </p:sp>
        <p:sp>
          <p:nvSpPr>
            <p:cNvPr id="25614" name="Rectangle 171"/>
            <p:cNvSpPr>
              <a:spLocks noChangeArrowheads="1"/>
            </p:cNvSpPr>
            <p:nvPr/>
          </p:nvSpPr>
          <p:spPr bwMode="auto">
            <a:xfrm>
              <a:off x="1870" y="2178"/>
              <a:ext cx="394" cy="22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sz="1400" b="1">
                  <a:solidFill>
                    <a:schemeClr val="bg1"/>
                  </a:solidFill>
                  <a:latin typeface="Arial" charset="0"/>
                </a:rPr>
                <a:t>ALU</a:t>
              </a:r>
            </a:p>
          </p:txBody>
        </p:sp>
        <p:sp>
          <p:nvSpPr>
            <p:cNvPr id="25615" name="Rectangle 172"/>
            <p:cNvSpPr>
              <a:spLocks noChangeArrowheads="1"/>
            </p:cNvSpPr>
            <p:nvPr/>
          </p:nvSpPr>
          <p:spPr bwMode="auto">
            <a:xfrm>
              <a:off x="991" y="2950"/>
              <a:ext cx="1687" cy="211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tIns="0" rIns="0" bIns="0" anchor="ctr"/>
            <a:lstStyle/>
            <a:p>
              <a:r>
                <a:rPr lang="en-US" sz="1200" b="1">
                  <a:solidFill>
                    <a:schemeClr val="bg1"/>
                  </a:solidFill>
                  <a:latin typeface="Arial" charset="0"/>
                </a:rPr>
                <a:t>DRAM</a:t>
              </a:r>
            </a:p>
          </p:txBody>
        </p:sp>
      </p:grpSp>
      <p:sp>
        <p:nvSpPr>
          <p:cNvPr id="25606" name="Text Box 173"/>
          <p:cNvSpPr txBox="1">
            <a:spLocks noChangeArrowheads="1"/>
          </p:cNvSpPr>
          <p:nvPr/>
        </p:nvSpPr>
        <p:spPr bwMode="auto">
          <a:xfrm>
            <a:off x="2133600" y="289560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b="1">
                <a:latin typeface="Arial" charset="0"/>
              </a:rPr>
              <a:t>CPU</a:t>
            </a:r>
          </a:p>
        </p:txBody>
      </p:sp>
      <p:sp>
        <p:nvSpPr>
          <p:cNvPr id="25607" name="Text Box 174"/>
          <p:cNvSpPr txBox="1">
            <a:spLocks noChangeArrowheads="1"/>
          </p:cNvSpPr>
          <p:nvPr/>
        </p:nvSpPr>
        <p:spPr bwMode="auto">
          <a:xfrm>
            <a:off x="5943600" y="281940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b="1">
                <a:latin typeface="Arial" charset="0"/>
              </a:rPr>
              <a:t>GPU</a:t>
            </a:r>
          </a:p>
        </p:txBody>
      </p:sp>
      <p:sp>
        <p:nvSpPr>
          <p:cNvPr id="25608" name="Rectangle 176"/>
          <p:cNvSpPr>
            <a:spLocks noGrp="1" noChangeArrowheads="1"/>
          </p:cNvSpPr>
          <p:nvPr>
            <p:ph type="title"/>
          </p:nvPr>
        </p:nvSpPr>
        <p:spPr>
          <a:xfrm>
            <a:off x="323528" y="332656"/>
            <a:ext cx="8229600" cy="1143000"/>
          </a:xfrm>
        </p:spPr>
        <p:txBody>
          <a:bodyPr/>
          <a:lstStyle/>
          <a:p>
            <a:r>
              <a:rPr lang="en-US" sz="4000" dirty="0">
                <a:solidFill>
                  <a:schemeClr val="tx1"/>
                </a:solidFill>
                <a:latin typeface="Times New Roman" charset="0"/>
              </a:rPr>
              <a:t>CPU vs. GPU</a:t>
            </a:r>
          </a:p>
        </p:txBody>
      </p:sp>
      <p:sp>
        <p:nvSpPr>
          <p:cNvPr id="178" name="Footer Placeholder 3"/>
          <p:cNvSpPr txBox="1">
            <a:spLocks/>
          </p:cNvSpPr>
          <p:nvPr/>
        </p:nvSpPr>
        <p:spPr bwMode="auto">
          <a:xfrm>
            <a:off x="395536" y="6021288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Palatino" charset="0"/>
                <a:ea typeface="ＭＳ Ｐゴシック" charset="0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Palatino" charset="0"/>
                <a:ea typeface="ＭＳ Ｐゴシック" charset="0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Palatino" charset="0"/>
                <a:ea typeface="ＭＳ Ｐゴシック" charset="0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Palatino" charset="0"/>
                <a:ea typeface="ＭＳ Ｐゴシック" charset="0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Palatino" charset="0"/>
                <a:ea typeface="ＭＳ Ｐゴシック" charset="0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Palatino" charset="0"/>
                <a:ea typeface="ＭＳ Ｐゴシック" charset="0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Palatino" charset="0"/>
                <a:ea typeface="ＭＳ Ｐゴシック" charset="0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Palatino" charset="0"/>
                <a:ea typeface="ＭＳ Ｐゴシック" charset="0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Palatino" charset="0"/>
                <a:ea typeface="ＭＳ Ｐゴシック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z="1200"/>
              <a:t>© David Kirk/NVIDIA and Wen-mei W. Hwu, 2007-2010</a:t>
            </a:r>
          </a:p>
          <a:p>
            <a:pPr eaLnBrk="1" hangingPunct="1"/>
            <a:r>
              <a:rPr lang="en-US" sz="1200"/>
              <a:t>ECE 408, University of Illinois, Urbana-Champaign</a:t>
            </a:r>
            <a:endParaRPr lang="en-US" sz="12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3005A9-4157-EB4F-A6E3-8ECA70801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62713D-E494-2645-A4A8-256AEEAF0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967AD75-99EE-404B-B1F5-2DC2978C0D15}" type="slidenum">
              <a:rPr lang="es-ES" altLang="zh-TW" smtClean="0"/>
              <a:pPr>
                <a:defRPr/>
              </a:pPr>
              <a:t>6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103024506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Terminologie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435280" cy="3096344"/>
          </a:xfrm>
        </p:spPr>
        <p:txBody>
          <a:bodyPr numCol="2"/>
          <a:lstStyle/>
          <a:p>
            <a:pPr marL="0" indent="0">
              <a:buNone/>
            </a:pPr>
            <a:r>
              <a:rPr lang="en-US" sz="1600" dirty="0"/>
              <a:t>Host: = CPU </a:t>
            </a:r>
            <a:r>
              <a:rPr lang="en-US" sz="1600" dirty="0" err="1"/>
              <a:t>si</a:t>
            </a:r>
            <a:r>
              <a:rPr lang="en-US" sz="1600" dirty="0"/>
              <a:t> </a:t>
            </a:r>
            <a:r>
              <a:rPr lang="en-US" sz="1600" dirty="0" err="1"/>
              <a:t>memoria</a:t>
            </a:r>
            <a:r>
              <a:rPr lang="en-US" sz="1600" dirty="0"/>
              <a:t> </a:t>
            </a:r>
            <a:r>
              <a:rPr lang="en-US" sz="1600" dirty="0" err="1"/>
              <a:t>asociata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Device: = GPU </a:t>
            </a:r>
            <a:r>
              <a:rPr lang="en-US" sz="1600" dirty="0" err="1"/>
              <a:t>si</a:t>
            </a:r>
            <a:r>
              <a:rPr lang="en-US" sz="1600" dirty="0"/>
              <a:t> </a:t>
            </a:r>
            <a:r>
              <a:rPr lang="en-US" sz="1600" dirty="0" err="1"/>
              <a:t>memoria</a:t>
            </a:r>
            <a:r>
              <a:rPr lang="en-US" sz="1600" dirty="0"/>
              <a:t> </a:t>
            </a:r>
            <a:r>
              <a:rPr lang="en-US" sz="1600" dirty="0" err="1"/>
              <a:t>asociata</a:t>
            </a:r>
            <a:endParaRPr lang="en-US" sz="1600" dirty="0"/>
          </a:p>
          <a:p>
            <a:pPr marL="457200" indent="-457200" defTabSz="449263">
              <a:spcBef>
                <a:spcPts val="600"/>
              </a:spcBef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sz="1600" u="sng" dirty="0">
                <a:solidFill>
                  <a:srgbClr val="3333CC"/>
                </a:solidFill>
                <a:latin typeface="Times New Roman" charset="0"/>
              </a:rPr>
              <a:t>device</a:t>
            </a:r>
          </a:p>
          <a:p>
            <a:pPr marL="973138" lvl="1" indent="-401638" defTabSz="449263">
              <a:spcBef>
                <a:spcPts val="500"/>
              </a:spcBef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sz="1600" dirty="0">
                <a:latin typeface="Times New Roman" charset="0"/>
              </a:rPr>
              <a:t>Is a coprocessor to the CPU or </a:t>
            </a:r>
            <a:r>
              <a:rPr lang="en-US" sz="1600" dirty="0">
                <a:solidFill>
                  <a:srgbClr val="3333CC"/>
                </a:solidFill>
                <a:latin typeface="Times New Roman" charset="0"/>
              </a:rPr>
              <a:t>host</a:t>
            </a:r>
          </a:p>
          <a:p>
            <a:pPr marL="973138" lvl="1" indent="-401638" defTabSz="449263">
              <a:spcBef>
                <a:spcPts val="500"/>
              </a:spcBef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sz="1600" dirty="0">
                <a:latin typeface="Times New Roman" charset="0"/>
              </a:rPr>
              <a:t>Has its own DRAM (</a:t>
            </a:r>
            <a:r>
              <a:rPr lang="en-US" sz="1600" dirty="0">
                <a:solidFill>
                  <a:srgbClr val="3333CC"/>
                </a:solidFill>
                <a:latin typeface="Times New Roman" charset="0"/>
              </a:rPr>
              <a:t>device memory</a:t>
            </a:r>
            <a:r>
              <a:rPr lang="en-US" sz="1600" dirty="0">
                <a:latin typeface="Times New Roman" charset="0"/>
              </a:rPr>
              <a:t>)</a:t>
            </a:r>
            <a:r>
              <a:rPr lang="ar-sa" sz="1600" dirty="0">
                <a:latin typeface="Times New Roman" charset="0"/>
                <a:cs typeface="Times New Roman" charset="0"/>
              </a:rPr>
              <a:t>‏</a:t>
            </a:r>
            <a:endParaRPr lang="en-US" sz="1600" dirty="0">
              <a:latin typeface="Times New Roman" charset="0"/>
            </a:endParaRPr>
          </a:p>
          <a:p>
            <a:pPr marL="973138" lvl="1" indent="-401638" defTabSz="449263">
              <a:spcBef>
                <a:spcPts val="500"/>
              </a:spcBef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sz="1600" dirty="0">
                <a:latin typeface="Times New Roman" charset="0"/>
              </a:rPr>
              <a:t>Runs many </a:t>
            </a:r>
            <a:r>
              <a:rPr lang="en-US" sz="1600" dirty="0">
                <a:solidFill>
                  <a:srgbClr val="3333CC"/>
                </a:solidFill>
                <a:latin typeface="Times New Roman" charset="0"/>
              </a:rPr>
              <a:t>threads</a:t>
            </a:r>
            <a:r>
              <a:rPr lang="en-US" sz="1600" dirty="0">
                <a:latin typeface="Times New Roman" charset="0"/>
              </a:rPr>
              <a:t> </a:t>
            </a:r>
            <a:r>
              <a:rPr lang="en-US" sz="1600" dirty="0">
                <a:solidFill>
                  <a:srgbClr val="3333CC"/>
                </a:solidFill>
                <a:latin typeface="Times New Roman" charset="0"/>
              </a:rPr>
              <a:t>in parallel</a:t>
            </a:r>
          </a:p>
          <a:p>
            <a:pPr marL="973138" lvl="1" indent="-401638" defTabSz="449263">
              <a:spcBef>
                <a:spcPts val="500"/>
              </a:spcBef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sz="1600" dirty="0">
                <a:latin typeface="Times New Roman" charset="0"/>
              </a:rPr>
              <a:t>Is typically a </a:t>
            </a:r>
            <a:r>
              <a:rPr lang="en-US" sz="1600" dirty="0">
                <a:solidFill>
                  <a:srgbClr val="3333CC"/>
                </a:solidFill>
                <a:latin typeface="Times New Roman" charset="0"/>
              </a:rPr>
              <a:t>GPU</a:t>
            </a:r>
            <a:r>
              <a:rPr lang="en-US" sz="1600" dirty="0">
                <a:latin typeface="Times New Roman" charset="0"/>
              </a:rPr>
              <a:t> but can also be another type of  parallel processing device </a:t>
            </a:r>
          </a:p>
          <a:p>
            <a:pPr marL="457200" indent="-457200" defTabSz="449263">
              <a:spcBef>
                <a:spcPts val="600"/>
              </a:spcBef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endParaRPr lang="en-US" sz="1600" b="1" dirty="0">
              <a:latin typeface="Times New Roman" charset="0"/>
            </a:endParaRPr>
          </a:p>
          <a:p>
            <a:pPr marL="457200" indent="-457200" defTabSz="449263">
              <a:spcBef>
                <a:spcPts val="600"/>
              </a:spcBef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endParaRPr lang="en-US" sz="1600" b="1" dirty="0">
              <a:latin typeface="Times New Roman" charset="0"/>
            </a:endParaRPr>
          </a:p>
          <a:p>
            <a:pPr marL="0" indent="0" defTabSz="449263">
              <a:spcBef>
                <a:spcPts val="600"/>
              </a:spcBef>
              <a:buNone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sz="1600" b="1" dirty="0" err="1">
                <a:latin typeface="Times New Roman" charset="0"/>
              </a:rPr>
              <a:t>Diferente</a:t>
            </a:r>
            <a:r>
              <a:rPr lang="en-US" sz="1600" b="1" dirty="0">
                <a:latin typeface="Times New Roman" charset="0"/>
              </a:rPr>
              <a:t> </a:t>
            </a:r>
            <a:r>
              <a:rPr lang="en-US" sz="1600" b="1" dirty="0" err="1">
                <a:latin typeface="Times New Roman" charset="0"/>
              </a:rPr>
              <a:t>intre</a:t>
            </a:r>
            <a:r>
              <a:rPr lang="en-US" sz="1600" b="1" dirty="0">
                <a:latin typeface="Times New Roman" charset="0"/>
              </a:rPr>
              <a:t> </a:t>
            </a:r>
            <a:r>
              <a:rPr lang="en-US" sz="1600" b="1" dirty="0" err="1">
                <a:latin typeface="Times New Roman" charset="0"/>
              </a:rPr>
              <a:t>threadurile</a:t>
            </a:r>
            <a:r>
              <a:rPr lang="en-US" sz="1600" b="1" dirty="0">
                <a:latin typeface="Times New Roman" charset="0"/>
              </a:rPr>
              <a:t> GPU </a:t>
            </a:r>
            <a:r>
              <a:rPr lang="en-US" sz="1600" b="1" dirty="0" err="1">
                <a:latin typeface="Times New Roman" charset="0"/>
              </a:rPr>
              <a:t>si</a:t>
            </a:r>
            <a:r>
              <a:rPr lang="en-US" sz="1600" b="1" dirty="0">
                <a:latin typeface="Times New Roman" charset="0"/>
              </a:rPr>
              <a:t> CPU  </a:t>
            </a:r>
          </a:p>
          <a:p>
            <a:pPr marL="973138" lvl="1" indent="-401638" defTabSz="449263">
              <a:spcBef>
                <a:spcPts val="500"/>
              </a:spcBef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sz="1600" dirty="0">
                <a:latin typeface="Times New Roman" charset="0"/>
              </a:rPr>
              <a:t>GPU threads are extremely lightweight</a:t>
            </a:r>
          </a:p>
          <a:p>
            <a:pPr marL="1430338" lvl="2" indent="-341313" defTabSz="449263">
              <a:spcBef>
                <a:spcPts val="450"/>
              </a:spcBef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sz="1600" dirty="0">
                <a:latin typeface="Times New Roman" charset="0"/>
              </a:rPr>
              <a:t>Very little creation overhead</a:t>
            </a:r>
          </a:p>
          <a:p>
            <a:pPr marL="973138" lvl="1" indent="-401638" defTabSz="449263">
              <a:spcBef>
                <a:spcPts val="500"/>
              </a:spcBef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sz="1600" dirty="0">
                <a:latin typeface="Times New Roman" charset="0"/>
              </a:rPr>
              <a:t>GPU needs 1000s of threads for full efficiency</a:t>
            </a:r>
          </a:p>
          <a:p>
            <a:pPr marL="1430338" lvl="2" indent="-341313" defTabSz="449263">
              <a:spcBef>
                <a:spcPts val="450"/>
              </a:spcBef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sz="1600" dirty="0">
                <a:latin typeface="Times New Roman" charset="0"/>
              </a:rPr>
              <a:t>Multi-core CPU needs only a few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4149080"/>
            <a:ext cx="2016224" cy="194600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4221088"/>
            <a:ext cx="2017355" cy="1816194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A4DF6C-056B-A64E-983C-28A0A7A44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0A7D7B-2531-2943-8389-AA29BC4D1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7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3495838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Heterogeneous Computing</a:t>
            </a:r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1700808"/>
            <a:ext cx="3489738" cy="4525963"/>
          </a:xfrm>
        </p:spPr>
      </p:pic>
      <p:sp>
        <p:nvSpPr>
          <p:cNvPr id="13" name="Rectangle 12"/>
          <p:cNvSpPr/>
          <p:nvPr/>
        </p:nvSpPr>
        <p:spPr bwMode="auto">
          <a:xfrm>
            <a:off x="1187624" y="1844824"/>
            <a:ext cx="2808312" cy="86409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Serial Code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1187624" y="3392996"/>
            <a:ext cx="2808312" cy="86409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Parallel Code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1187624" y="4941168"/>
            <a:ext cx="2808312" cy="86409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Serial Code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" name="Straight Arrow Connector 16"/>
          <p:cNvCxnSpPr>
            <a:stCxn id="13" idx="2"/>
            <a:endCxn id="14" idx="0"/>
          </p:cNvCxnSpPr>
          <p:nvPr/>
        </p:nvCxnSpPr>
        <p:spPr bwMode="auto">
          <a:xfrm>
            <a:off x="2591780" y="2708920"/>
            <a:ext cx="0" cy="68407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Straight Arrow Connector 18"/>
          <p:cNvCxnSpPr>
            <a:stCxn id="14" idx="2"/>
            <a:endCxn id="15" idx="0"/>
          </p:cNvCxnSpPr>
          <p:nvPr/>
        </p:nvCxnSpPr>
        <p:spPr bwMode="auto">
          <a:xfrm>
            <a:off x="2591780" y="4257092"/>
            <a:ext cx="0" cy="68407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2ED55-8A2E-B341-B16D-37782224B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CE5F01-A26B-2F4E-9467-8BC013CC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8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395919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8" name="Group 3"/>
          <p:cNvGrpSpPr>
            <a:grpSpLocks/>
          </p:cNvGrpSpPr>
          <p:nvPr/>
        </p:nvGrpSpPr>
        <p:grpSpPr bwMode="auto">
          <a:xfrm>
            <a:off x="304800" y="1447800"/>
            <a:ext cx="8604250" cy="4497388"/>
            <a:chOff x="202" y="1141"/>
            <a:chExt cx="6503" cy="2550"/>
          </a:xfrm>
        </p:grpSpPr>
        <p:cxnSp>
          <p:nvCxnSpPr>
            <p:cNvPr id="26630" name="AutoShape 4"/>
            <p:cNvCxnSpPr>
              <a:cxnSpLocks noChangeShapeType="1"/>
            </p:cNvCxnSpPr>
            <p:nvPr/>
          </p:nvCxnSpPr>
          <p:spPr bwMode="auto">
            <a:xfrm>
              <a:off x="711" y="3400"/>
              <a:ext cx="0" cy="124"/>
            </a:xfrm>
            <a:prstGeom prst="straightConnector1">
              <a:avLst/>
            </a:prstGeom>
            <a:noFill/>
            <a:ln w="19050">
              <a:solidFill>
                <a:srgbClr val="C0C0C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26631" name="Rectangle 5"/>
            <p:cNvSpPr>
              <a:spLocks noChangeArrowheads="1"/>
            </p:cNvSpPr>
            <p:nvPr/>
          </p:nvSpPr>
          <p:spPr bwMode="auto">
            <a:xfrm>
              <a:off x="430" y="3242"/>
              <a:ext cx="563" cy="154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200" b="1">
                  <a:solidFill>
                    <a:schemeClr val="bg1"/>
                  </a:solidFill>
                  <a:latin typeface="Arial" charset="0"/>
                  <a:cs typeface="Arial" charset="0"/>
                </a:rPr>
                <a:t>Load/store</a:t>
              </a:r>
            </a:p>
          </p:txBody>
        </p:sp>
        <p:sp>
          <p:nvSpPr>
            <p:cNvPr id="26632" name="Rectangle 6"/>
            <p:cNvSpPr>
              <a:spLocks noChangeArrowheads="1"/>
            </p:cNvSpPr>
            <p:nvPr/>
          </p:nvSpPr>
          <p:spPr bwMode="auto">
            <a:xfrm>
              <a:off x="209" y="3524"/>
              <a:ext cx="6496" cy="167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200" b="1">
                  <a:solidFill>
                    <a:schemeClr val="bg1"/>
                  </a:solidFill>
                  <a:latin typeface="Arial" charset="0"/>
                  <a:cs typeface="Arial" charset="0"/>
                </a:rPr>
                <a:t>Global Memory</a:t>
              </a:r>
            </a:p>
          </p:txBody>
        </p:sp>
        <p:cxnSp>
          <p:nvCxnSpPr>
            <p:cNvPr id="26633" name="AutoShape 7"/>
            <p:cNvCxnSpPr>
              <a:cxnSpLocks noChangeShapeType="1"/>
            </p:cNvCxnSpPr>
            <p:nvPr/>
          </p:nvCxnSpPr>
          <p:spPr bwMode="auto">
            <a:xfrm>
              <a:off x="711" y="3043"/>
              <a:ext cx="0" cy="203"/>
            </a:xfrm>
            <a:prstGeom prst="straightConnector1">
              <a:avLst/>
            </a:prstGeom>
            <a:noFill/>
            <a:ln w="19050">
              <a:solidFill>
                <a:srgbClr val="C0C0C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26634" name="Rectangle 8"/>
            <p:cNvSpPr>
              <a:spLocks noChangeArrowheads="1"/>
            </p:cNvSpPr>
            <p:nvPr/>
          </p:nvSpPr>
          <p:spPr bwMode="auto">
            <a:xfrm>
              <a:off x="202" y="2817"/>
              <a:ext cx="364" cy="3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5" name="Rectangle 9"/>
            <p:cNvSpPr>
              <a:spLocks noChangeArrowheads="1"/>
            </p:cNvSpPr>
            <p:nvPr/>
          </p:nvSpPr>
          <p:spPr bwMode="auto">
            <a:xfrm>
              <a:off x="564" y="2817"/>
              <a:ext cx="364" cy="3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6" name="Rectangle 10"/>
            <p:cNvSpPr>
              <a:spLocks noChangeArrowheads="1"/>
            </p:cNvSpPr>
            <p:nvPr/>
          </p:nvSpPr>
          <p:spPr bwMode="auto">
            <a:xfrm>
              <a:off x="202" y="1963"/>
              <a:ext cx="726" cy="89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6637" name="Group 11"/>
            <p:cNvGrpSpPr>
              <a:grpSpLocks/>
            </p:cNvGrpSpPr>
            <p:nvPr/>
          </p:nvGrpSpPr>
          <p:grpSpPr bwMode="auto">
            <a:xfrm>
              <a:off x="231" y="1985"/>
              <a:ext cx="319" cy="456"/>
              <a:chOff x="533" y="394"/>
              <a:chExt cx="266" cy="507"/>
            </a:xfrm>
          </p:grpSpPr>
          <p:sp>
            <p:nvSpPr>
              <p:cNvPr id="26988" name="Rectangle 12"/>
              <p:cNvSpPr>
                <a:spLocks noChangeArrowheads="1"/>
              </p:cNvSpPr>
              <p:nvPr/>
            </p:nvSpPr>
            <p:spPr bwMode="auto">
              <a:xfrm>
                <a:off x="533" y="394"/>
                <a:ext cx="266" cy="507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989" name="Rectangle 13"/>
              <p:cNvSpPr>
                <a:spLocks noChangeArrowheads="1"/>
              </p:cNvSpPr>
              <p:nvPr/>
            </p:nvSpPr>
            <p:spPr bwMode="auto">
              <a:xfrm>
                <a:off x="558" y="418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solidFill>
                    <a:schemeClr val="bg1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90" name="Rectangle 14"/>
              <p:cNvSpPr>
                <a:spLocks noChangeArrowheads="1"/>
              </p:cNvSpPr>
              <p:nvPr/>
            </p:nvSpPr>
            <p:spPr bwMode="auto">
              <a:xfrm>
                <a:off x="678" y="418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91" name="Rectangle 15"/>
              <p:cNvSpPr>
                <a:spLocks noChangeArrowheads="1"/>
              </p:cNvSpPr>
              <p:nvPr/>
            </p:nvSpPr>
            <p:spPr bwMode="auto">
              <a:xfrm>
                <a:off x="558" y="539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92" name="Rectangle 16"/>
              <p:cNvSpPr>
                <a:spLocks noChangeArrowheads="1"/>
              </p:cNvSpPr>
              <p:nvPr/>
            </p:nvSpPr>
            <p:spPr bwMode="auto">
              <a:xfrm>
                <a:off x="678" y="539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93" name="Rectangle 17"/>
              <p:cNvSpPr>
                <a:spLocks noChangeArrowheads="1"/>
              </p:cNvSpPr>
              <p:nvPr/>
            </p:nvSpPr>
            <p:spPr bwMode="auto">
              <a:xfrm>
                <a:off x="558" y="660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94" name="Rectangle 18"/>
              <p:cNvSpPr>
                <a:spLocks noChangeArrowheads="1"/>
              </p:cNvSpPr>
              <p:nvPr/>
            </p:nvSpPr>
            <p:spPr bwMode="auto">
              <a:xfrm>
                <a:off x="678" y="660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95" name="Rectangle 19"/>
              <p:cNvSpPr>
                <a:spLocks noChangeArrowheads="1"/>
              </p:cNvSpPr>
              <p:nvPr/>
            </p:nvSpPr>
            <p:spPr bwMode="auto">
              <a:xfrm>
                <a:off x="558" y="781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96" name="Rectangle 20"/>
              <p:cNvSpPr>
                <a:spLocks noChangeArrowheads="1"/>
              </p:cNvSpPr>
              <p:nvPr/>
            </p:nvSpPr>
            <p:spPr bwMode="auto">
              <a:xfrm>
                <a:off x="678" y="781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</p:grpSp>
        <p:grpSp>
          <p:nvGrpSpPr>
            <p:cNvPr id="26638" name="Group 21"/>
            <p:cNvGrpSpPr>
              <a:grpSpLocks/>
            </p:cNvGrpSpPr>
            <p:nvPr/>
          </p:nvGrpSpPr>
          <p:grpSpPr bwMode="auto">
            <a:xfrm>
              <a:off x="580" y="1985"/>
              <a:ext cx="319" cy="456"/>
              <a:chOff x="533" y="394"/>
              <a:chExt cx="266" cy="507"/>
            </a:xfrm>
          </p:grpSpPr>
          <p:sp>
            <p:nvSpPr>
              <p:cNvPr id="26979" name="Rectangle 22"/>
              <p:cNvSpPr>
                <a:spLocks noChangeArrowheads="1"/>
              </p:cNvSpPr>
              <p:nvPr/>
            </p:nvSpPr>
            <p:spPr bwMode="auto">
              <a:xfrm>
                <a:off x="533" y="394"/>
                <a:ext cx="266" cy="507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980" name="Rectangle 23"/>
              <p:cNvSpPr>
                <a:spLocks noChangeArrowheads="1"/>
              </p:cNvSpPr>
              <p:nvPr/>
            </p:nvSpPr>
            <p:spPr bwMode="auto">
              <a:xfrm>
                <a:off x="558" y="418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solidFill>
                    <a:schemeClr val="bg1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81" name="Rectangle 24"/>
              <p:cNvSpPr>
                <a:spLocks noChangeArrowheads="1"/>
              </p:cNvSpPr>
              <p:nvPr/>
            </p:nvSpPr>
            <p:spPr bwMode="auto">
              <a:xfrm>
                <a:off x="678" y="418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82" name="Rectangle 25"/>
              <p:cNvSpPr>
                <a:spLocks noChangeArrowheads="1"/>
              </p:cNvSpPr>
              <p:nvPr/>
            </p:nvSpPr>
            <p:spPr bwMode="auto">
              <a:xfrm>
                <a:off x="558" y="539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83" name="Rectangle 26"/>
              <p:cNvSpPr>
                <a:spLocks noChangeArrowheads="1"/>
              </p:cNvSpPr>
              <p:nvPr/>
            </p:nvSpPr>
            <p:spPr bwMode="auto">
              <a:xfrm>
                <a:off x="678" y="539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84" name="Rectangle 27"/>
              <p:cNvSpPr>
                <a:spLocks noChangeArrowheads="1"/>
              </p:cNvSpPr>
              <p:nvPr/>
            </p:nvSpPr>
            <p:spPr bwMode="auto">
              <a:xfrm>
                <a:off x="558" y="660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85" name="Rectangle 28"/>
              <p:cNvSpPr>
                <a:spLocks noChangeArrowheads="1"/>
              </p:cNvSpPr>
              <p:nvPr/>
            </p:nvSpPr>
            <p:spPr bwMode="auto">
              <a:xfrm>
                <a:off x="678" y="660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86" name="Rectangle 29"/>
              <p:cNvSpPr>
                <a:spLocks noChangeArrowheads="1"/>
              </p:cNvSpPr>
              <p:nvPr/>
            </p:nvSpPr>
            <p:spPr bwMode="auto">
              <a:xfrm>
                <a:off x="558" y="781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87" name="Rectangle 30"/>
              <p:cNvSpPr>
                <a:spLocks noChangeArrowheads="1"/>
              </p:cNvSpPr>
              <p:nvPr/>
            </p:nvSpPr>
            <p:spPr bwMode="auto">
              <a:xfrm>
                <a:off x="678" y="781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26639" name="Rectangle 31"/>
            <p:cNvSpPr>
              <a:spLocks noChangeArrowheads="1"/>
            </p:cNvSpPr>
            <p:nvPr/>
          </p:nvSpPr>
          <p:spPr bwMode="auto">
            <a:xfrm rot="5400000">
              <a:off x="456" y="2236"/>
              <a:ext cx="217" cy="668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26640" name="AutoShape 32"/>
            <p:cNvCxnSpPr>
              <a:cxnSpLocks noChangeShapeType="1"/>
              <a:stCxn id="26647" idx="2"/>
              <a:endCxn id="26646" idx="0"/>
            </p:cNvCxnSpPr>
            <p:nvPr/>
          </p:nvCxnSpPr>
          <p:spPr bwMode="auto">
            <a:xfrm>
              <a:off x="2087" y="1254"/>
              <a:ext cx="0" cy="120"/>
            </a:xfrm>
            <a:prstGeom prst="straightConnector1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6641" name="AutoShape 33"/>
            <p:cNvCxnSpPr>
              <a:cxnSpLocks noChangeShapeType="1"/>
              <a:stCxn id="26646" idx="2"/>
              <a:endCxn id="26645" idx="0"/>
            </p:cNvCxnSpPr>
            <p:nvPr/>
          </p:nvCxnSpPr>
          <p:spPr bwMode="auto">
            <a:xfrm>
              <a:off x="2087" y="1488"/>
              <a:ext cx="4" cy="106"/>
            </a:xfrm>
            <a:prstGeom prst="straightConnector1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6642" name="AutoShape 34"/>
            <p:cNvCxnSpPr>
              <a:cxnSpLocks noChangeShapeType="1"/>
              <a:stCxn id="26636" idx="0"/>
            </p:cNvCxnSpPr>
            <p:nvPr/>
          </p:nvCxnSpPr>
          <p:spPr bwMode="auto">
            <a:xfrm rot="5400000" flipV="1">
              <a:off x="3309" y="-781"/>
              <a:ext cx="1" cy="5489"/>
            </a:xfrm>
            <a:prstGeom prst="bentConnector3">
              <a:avLst>
                <a:gd name="adj1" fmla="val -10500000"/>
              </a:avLst>
            </a:prstGeom>
            <a:noFill/>
            <a:ln w="19050">
              <a:solidFill>
                <a:srgbClr val="98BC00"/>
              </a:solidFill>
              <a:miter lim="800000"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6643" name="AutoShape 35"/>
            <p:cNvCxnSpPr>
              <a:cxnSpLocks noChangeShapeType="1"/>
              <a:stCxn id="26645" idx="2"/>
            </p:cNvCxnSpPr>
            <p:nvPr/>
          </p:nvCxnSpPr>
          <p:spPr bwMode="auto">
            <a:xfrm>
              <a:off x="2091" y="1742"/>
              <a:ext cx="0" cy="114"/>
            </a:xfrm>
            <a:prstGeom prst="straightConnector1">
              <a:avLst/>
            </a:prstGeom>
            <a:noFill/>
            <a:ln w="19050">
              <a:solidFill>
                <a:srgbClr val="98BC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6644" name="AutoShape 36"/>
            <p:cNvCxnSpPr>
              <a:cxnSpLocks noChangeShapeType="1"/>
              <a:stCxn id="26635" idx="2"/>
              <a:endCxn id="26645" idx="3"/>
            </p:cNvCxnSpPr>
            <p:nvPr/>
          </p:nvCxnSpPr>
          <p:spPr bwMode="auto">
            <a:xfrm rot="5400000" flipH="1" flipV="1">
              <a:off x="1150" y="1264"/>
              <a:ext cx="1182" cy="1989"/>
            </a:xfrm>
            <a:prstGeom prst="bentConnector4">
              <a:avLst>
                <a:gd name="adj1" fmla="val -9560"/>
                <a:gd name="adj2" fmla="val 292106"/>
              </a:avLst>
            </a:prstGeom>
            <a:noFill/>
            <a:ln w="19050">
              <a:solidFill>
                <a:srgbClr val="98BC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26645" name="Rectangle 37"/>
            <p:cNvSpPr>
              <a:spLocks noChangeArrowheads="1"/>
            </p:cNvSpPr>
            <p:nvPr/>
          </p:nvSpPr>
          <p:spPr bwMode="auto">
            <a:xfrm>
              <a:off x="1447" y="1594"/>
              <a:ext cx="1288" cy="148"/>
            </a:xfrm>
            <a:prstGeom prst="rect">
              <a:avLst/>
            </a:prstGeom>
            <a:solidFill>
              <a:srgbClr val="F29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000" b="1">
                  <a:solidFill>
                    <a:srgbClr val="080808"/>
                  </a:solidFill>
                  <a:latin typeface="Arial" charset="0"/>
                  <a:cs typeface="Arial" charset="0"/>
                </a:rPr>
                <a:t>Thread Execution Manager</a:t>
              </a:r>
            </a:p>
          </p:txBody>
        </p:sp>
        <p:sp>
          <p:nvSpPr>
            <p:cNvPr id="26646" name="Rectangle 38"/>
            <p:cNvSpPr>
              <a:spLocks noChangeArrowheads="1"/>
            </p:cNvSpPr>
            <p:nvPr/>
          </p:nvSpPr>
          <p:spPr bwMode="auto">
            <a:xfrm>
              <a:off x="1513" y="1374"/>
              <a:ext cx="1148" cy="114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200" b="1">
                  <a:solidFill>
                    <a:srgbClr val="080808"/>
                  </a:solidFill>
                  <a:latin typeface="Arial" charset="0"/>
                  <a:cs typeface="Arial" charset="0"/>
                </a:rPr>
                <a:t>Input Assembler</a:t>
              </a:r>
            </a:p>
          </p:txBody>
        </p:sp>
        <p:sp>
          <p:nvSpPr>
            <p:cNvPr id="26647" name="Rectangle 39"/>
            <p:cNvSpPr>
              <a:spLocks noChangeArrowheads="1"/>
            </p:cNvSpPr>
            <p:nvPr/>
          </p:nvSpPr>
          <p:spPr bwMode="auto">
            <a:xfrm>
              <a:off x="1513" y="1141"/>
              <a:ext cx="1148" cy="113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200" b="1">
                  <a:solidFill>
                    <a:srgbClr val="080808"/>
                  </a:solidFill>
                  <a:latin typeface="Arial" charset="0"/>
                  <a:cs typeface="Arial" charset="0"/>
                </a:rPr>
                <a:t>Host</a:t>
              </a:r>
            </a:p>
          </p:txBody>
        </p:sp>
        <p:cxnSp>
          <p:nvCxnSpPr>
            <p:cNvPr id="26648" name="AutoShape 40"/>
            <p:cNvCxnSpPr>
              <a:cxnSpLocks noChangeShapeType="1"/>
            </p:cNvCxnSpPr>
            <p:nvPr/>
          </p:nvCxnSpPr>
          <p:spPr bwMode="auto">
            <a:xfrm>
              <a:off x="565" y="2856"/>
              <a:ext cx="0" cy="187"/>
            </a:xfrm>
            <a:prstGeom prst="straightConnector1">
              <a:avLst/>
            </a:prstGeom>
            <a:noFill/>
            <a:ln w="19050">
              <a:solidFill>
                <a:srgbClr val="FF99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6649" name="AutoShape 41"/>
            <p:cNvCxnSpPr>
              <a:cxnSpLocks noChangeShapeType="1"/>
            </p:cNvCxnSpPr>
            <p:nvPr/>
          </p:nvCxnSpPr>
          <p:spPr bwMode="auto">
            <a:xfrm>
              <a:off x="747" y="2856"/>
              <a:ext cx="1" cy="104"/>
            </a:xfrm>
            <a:prstGeom prst="straightConnector1">
              <a:avLst/>
            </a:prstGeom>
            <a:noFill/>
            <a:ln w="19050">
              <a:solidFill>
                <a:srgbClr val="98B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6650" name="AutoShape 42"/>
            <p:cNvCxnSpPr>
              <a:cxnSpLocks noChangeShapeType="1"/>
            </p:cNvCxnSpPr>
            <p:nvPr/>
          </p:nvCxnSpPr>
          <p:spPr bwMode="auto">
            <a:xfrm>
              <a:off x="1346" y="2856"/>
              <a:ext cx="0" cy="187"/>
            </a:xfrm>
            <a:prstGeom prst="straightConnector1">
              <a:avLst/>
            </a:prstGeom>
            <a:noFill/>
            <a:ln w="19050">
              <a:solidFill>
                <a:srgbClr val="DDDDDD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6651" name="AutoShape 43"/>
            <p:cNvCxnSpPr>
              <a:cxnSpLocks noChangeShapeType="1"/>
            </p:cNvCxnSpPr>
            <p:nvPr/>
          </p:nvCxnSpPr>
          <p:spPr bwMode="auto">
            <a:xfrm>
              <a:off x="1528" y="2856"/>
              <a:ext cx="1" cy="104"/>
            </a:xfrm>
            <a:prstGeom prst="straightConnector1">
              <a:avLst/>
            </a:prstGeom>
            <a:noFill/>
            <a:ln w="19050">
              <a:solidFill>
                <a:srgbClr val="98B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6652" name="AutoShape 44"/>
            <p:cNvCxnSpPr>
              <a:cxnSpLocks noChangeShapeType="1"/>
            </p:cNvCxnSpPr>
            <p:nvPr/>
          </p:nvCxnSpPr>
          <p:spPr bwMode="auto">
            <a:xfrm>
              <a:off x="2135" y="2856"/>
              <a:ext cx="0" cy="187"/>
            </a:xfrm>
            <a:prstGeom prst="straightConnector1">
              <a:avLst/>
            </a:prstGeom>
            <a:noFill/>
            <a:ln w="19050">
              <a:solidFill>
                <a:srgbClr val="DDDDDD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6653" name="AutoShape 45"/>
            <p:cNvCxnSpPr>
              <a:cxnSpLocks noChangeShapeType="1"/>
            </p:cNvCxnSpPr>
            <p:nvPr/>
          </p:nvCxnSpPr>
          <p:spPr bwMode="auto">
            <a:xfrm>
              <a:off x="2316" y="2856"/>
              <a:ext cx="1" cy="104"/>
            </a:xfrm>
            <a:prstGeom prst="straightConnector1">
              <a:avLst/>
            </a:prstGeom>
            <a:noFill/>
            <a:ln w="19050">
              <a:solidFill>
                <a:srgbClr val="98B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6654" name="AutoShape 46"/>
            <p:cNvCxnSpPr>
              <a:cxnSpLocks noChangeShapeType="1"/>
            </p:cNvCxnSpPr>
            <p:nvPr/>
          </p:nvCxnSpPr>
          <p:spPr bwMode="auto">
            <a:xfrm>
              <a:off x="2918" y="2856"/>
              <a:ext cx="0" cy="187"/>
            </a:xfrm>
            <a:prstGeom prst="straightConnector1">
              <a:avLst/>
            </a:prstGeom>
            <a:noFill/>
            <a:ln w="19050">
              <a:solidFill>
                <a:srgbClr val="DDDDDD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6655" name="AutoShape 47"/>
            <p:cNvCxnSpPr>
              <a:cxnSpLocks noChangeShapeType="1"/>
            </p:cNvCxnSpPr>
            <p:nvPr/>
          </p:nvCxnSpPr>
          <p:spPr bwMode="auto">
            <a:xfrm>
              <a:off x="3100" y="2856"/>
              <a:ext cx="1" cy="104"/>
            </a:xfrm>
            <a:prstGeom prst="straightConnector1">
              <a:avLst/>
            </a:prstGeom>
            <a:noFill/>
            <a:ln w="19050">
              <a:solidFill>
                <a:srgbClr val="98B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6656" name="AutoShape 48"/>
            <p:cNvCxnSpPr>
              <a:cxnSpLocks noChangeShapeType="1"/>
            </p:cNvCxnSpPr>
            <p:nvPr/>
          </p:nvCxnSpPr>
          <p:spPr bwMode="auto">
            <a:xfrm>
              <a:off x="3698" y="2856"/>
              <a:ext cx="0" cy="187"/>
            </a:xfrm>
            <a:prstGeom prst="straightConnector1">
              <a:avLst/>
            </a:prstGeom>
            <a:noFill/>
            <a:ln w="19050">
              <a:solidFill>
                <a:srgbClr val="DDDDDD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6657" name="AutoShape 49"/>
            <p:cNvCxnSpPr>
              <a:cxnSpLocks noChangeShapeType="1"/>
            </p:cNvCxnSpPr>
            <p:nvPr/>
          </p:nvCxnSpPr>
          <p:spPr bwMode="auto">
            <a:xfrm>
              <a:off x="3880" y="2856"/>
              <a:ext cx="1" cy="104"/>
            </a:xfrm>
            <a:prstGeom prst="straightConnector1">
              <a:avLst/>
            </a:prstGeom>
            <a:noFill/>
            <a:ln w="19050">
              <a:solidFill>
                <a:srgbClr val="98B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6658" name="AutoShape 50"/>
            <p:cNvCxnSpPr>
              <a:cxnSpLocks noChangeShapeType="1"/>
            </p:cNvCxnSpPr>
            <p:nvPr/>
          </p:nvCxnSpPr>
          <p:spPr bwMode="auto">
            <a:xfrm>
              <a:off x="4487" y="2856"/>
              <a:ext cx="0" cy="187"/>
            </a:xfrm>
            <a:prstGeom prst="straightConnector1">
              <a:avLst/>
            </a:prstGeom>
            <a:noFill/>
            <a:ln w="19050">
              <a:solidFill>
                <a:srgbClr val="DDDDDD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6659" name="AutoShape 51"/>
            <p:cNvCxnSpPr>
              <a:cxnSpLocks noChangeShapeType="1"/>
            </p:cNvCxnSpPr>
            <p:nvPr/>
          </p:nvCxnSpPr>
          <p:spPr bwMode="auto">
            <a:xfrm>
              <a:off x="4668" y="2856"/>
              <a:ext cx="1" cy="104"/>
            </a:xfrm>
            <a:prstGeom prst="straightConnector1">
              <a:avLst/>
            </a:prstGeom>
            <a:noFill/>
            <a:ln w="19050">
              <a:solidFill>
                <a:srgbClr val="98B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6660" name="AutoShape 52"/>
            <p:cNvCxnSpPr>
              <a:cxnSpLocks noChangeShapeType="1"/>
            </p:cNvCxnSpPr>
            <p:nvPr/>
          </p:nvCxnSpPr>
          <p:spPr bwMode="auto">
            <a:xfrm>
              <a:off x="5266" y="2856"/>
              <a:ext cx="0" cy="187"/>
            </a:xfrm>
            <a:prstGeom prst="straightConnector1">
              <a:avLst/>
            </a:prstGeom>
            <a:noFill/>
            <a:ln w="19050">
              <a:solidFill>
                <a:srgbClr val="DDDDDD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6661" name="AutoShape 53"/>
            <p:cNvCxnSpPr>
              <a:cxnSpLocks noChangeShapeType="1"/>
            </p:cNvCxnSpPr>
            <p:nvPr/>
          </p:nvCxnSpPr>
          <p:spPr bwMode="auto">
            <a:xfrm>
              <a:off x="5448" y="2856"/>
              <a:ext cx="1" cy="104"/>
            </a:xfrm>
            <a:prstGeom prst="straightConnector1">
              <a:avLst/>
            </a:prstGeom>
            <a:noFill/>
            <a:ln w="19050">
              <a:solidFill>
                <a:srgbClr val="98B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6662" name="AutoShape 54"/>
            <p:cNvCxnSpPr>
              <a:cxnSpLocks noChangeShapeType="1"/>
            </p:cNvCxnSpPr>
            <p:nvPr/>
          </p:nvCxnSpPr>
          <p:spPr bwMode="auto">
            <a:xfrm>
              <a:off x="6054" y="2856"/>
              <a:ext cx="0" cy="187"/>
            </a:xfrm>
            <a:prstGeom prst="straightConnector1">
              <a:avLst/>
            </a:prstGeom>
            <a:noFill/>
            <a:ln w="19050">
              <a:solidFill>
                <a:srgbClr val="C0C0C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6663" name="AutoShape 55"/>
            <p:cNvCxnSpPr>
              <a:cxnSpLocks noChangeShapeType="1"/>
            </p:cNvCxnSpPr>
            <p:nvPr/>
          </p:nvCxnSpPr>
          <p:spPr bwMode="auto">
            <a:xfrm>
              <a:off x="6235" y="2856"/>
              <a:ext cx="1" cy="104"/>
            </a:xfrm>
            <a:prstGeom prst="straightConnector1">
              <a:avLst/>
            </a:prstGeom>
            <a:noFill/>
            <a:ln w="19050">
              <a:solidFill>
                <a:srgbClr val="98BC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6664" name="AutoShape 56"/>
            <p:cNvCxnSpPr>
              <a:cxnSpLocks noChangeShapeType="1"/>
            </p:cNvCxnSpPr>
            <p:nvPr/>
          </p:nvCxnSpPr>
          <p:spPr bwMode="auto">
            <a:xfrm flipH="1">
              <a:off x="3702" y="1874"/>
              <a:ext cx="1" cy="89"/>
            </a:xfrm>
            <a:prstGeom prst="straightConnector1">
              <a:avLst/>
            </a:prstGeom>
            <a:noFill/>
            <a:ln w="19050">
              <a:solidFill>
                <a:srgbClr val="98BC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6665" name="AutoShape 57"/>
            <p:cNvCxnSpPr>
              <a:cxnSpLocks noChangeShapeType="1"/>
            </p:cNvCxnSpPr>
            <p:nvPr/>
          </p:nvCxnSpPr>
          <p:spPr bwMode="auto">
            <a:xfrm flipH="1">
              <a:off x="2918" y="1874"/>
              <a:ext cx="2" cy="89"/>
            </a:xfrm>
            <a:prstGeom prst="straightConnector1">
              <a:avLst/>
            </a:prstGeom>
            <a:noFill/>
            <a:ln w="19050">
              <a:solidFill>
                <a:srgbClr val="98BC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6666" name="AutoShape 58"/>
            <p:cNvCxnSpPr>
              <a:cxnSpLocks noChangeShapeType="1"/>
            </p:cNvCxnSpPr>
            <p:nvPr/>
          </p:nvCxnSpPr>
          <p:spPr bwMode="auto">
            <a:xfrm flipH="1">
              <a:off x="4485" y="1874"/>
              <a:ext cx="2" cy="89"/>
            </a:xfrm>
            <a:prstGeom prst="straightConnector1">
              <a:avLst/>
            </a:prstGeom>
            <a:noFill/>
            <a:ln w="19050">
              <a:solidFill>
                <a:srgbClr val="98BC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6667" name="AutoShape 59"/>
            <p:cNvCxnSpPr>
              <a:cxnSpLocks noChangeShapeType="1"/>
            </p:cNvCxnSpPr>
            <p:nvPr/>
          </p:nvCxnSpPr>
          <p:spPr bwMode="auto">
            <a:xfrm flipH="1">
              <a:off x="2134" y="1874"/>
              <a:ext cx="1" cy="89"/>
            </a:xfrm>
            <a:prstGeom prst="straightConnector1">
              <a:avLst/>
            </a:prstGeom>
            <a:noFill/>
            <a:ln w="19050">
              <a:solidFill>
                <a:srgbClr val="98BC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6668" name="AutoShape 60"/>
            <p:cNvCxnSpPr>
              <a:cxnSpLocks noChangeShapeType="1"/>
            </p:cNvCxnSpPr>
            <p:nvPr/>
          </p:nvCxnSpPr>
          <p:spPr bwMode="auto">
            <a:xfrm flipH="1">
              <a:off x="1348" y="1874"/>
              <a:ext cx="1" cy="89"/>
            </a:xfrm>
            <a:prstGeom prst="straightConnector1">
              <a:avLst/>
            </a:prstGeom>
            <a:noFill/>
            <a:ln w="19050">
              <a:solidFill>
                <a:srgbClr val="98BC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6669" name="AutoShape 61"/>
            <p:cNvCxnSpPr>
              <a:cxnSpLocks noChangeShapeType="1"/>
            </p:cNvCxnSpPr>
            <p:nvPr/>
          </p:nvCxnSpPr>
          <p:spPr bwMode="auto">
            <a:xfrm flipH="1">
              <a:off x="5267" y="1874"/>
              <a:ext cx="1" cy="89"/>
            </a:xfrm>
            <a:prstGeom prst="straightConnector1">
              <a:avLst/>
            </a:prstGeom>
            <a:noFill/>
            <a:ln w="19050">
              <a:solidFill>
                <a:srgbClr val="98BC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26670" name="Rectangle 62"/>
            <p:cNvSpPr>
              <a:spLocks noChangeArrowheads="1"/>
            </p:cNvSpPr>
            <p:nvPr/>
          </p:nvSpPr>
          <p:spPr bwMode="auto">
            <a:xfrm>
              <a:off x="977" y="1963"/>
              <a:ext cx="726" cy="89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6671" name="Group 63"/>
            <p:cNvGrpSpPr>
              <a:grpSpLocks/>
            </p:cNvGrpSpPr>
            <p:nvPr/>
          </p:nvGrpSpPr>
          <p:grpSpPr bwMode="auto">
            <a:xfrm>
              <a:off x="1006" y="1985"/>
              <a:ext cx="319" cy="456"/>
              <a:chOff x="533" y="394"/>
              <a:chExt cx="266" cy="507"/>
            </a:xfrm>
          </p:grpSpPr>
          <p:sp>
            <p:nvSpPr>
              <p:cNvPr id="26970" name="Rectangle 64"/>
              <p:cNvSpPr>
                <a:spLocks noChangeArrowheads="1"/>
              </p:cNvSpPr>
              <p:nvPr/>
            </p:nvSpPr>
            <p:spPr bwMode="auto">
              <a:xfrm>
                <a:off x="533" y="394"/>
                <a:ext cx="266" cy="507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971" name="Rectangle 65"/>
              <p:cNvSpPr>
                <a:spLocks noChangeArrowheads="1"/>
              </p:cNvSpPr>
              <p:nvPr/>
            </p:nvSpPr>
            <p:spPr bwMode="auto">
              <a:xfrm>
                <a:off x="558" y="418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solidFill>
                    <a:schemeClr val="bg1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72" name="Rectangle 66"/>
              <p:cNvSpPr>
                <a:spLocks noChangeArrowheads="1"/>
              </p:cNvSpPr>
              <p:nvPr/>
            </p:nvSpPr>
            <p:spPr bwMode="auto">
              <a:xfrm>
                <a:off x="678" y="418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73" name="Rectangle 67"/>
              <p:cNvSpPr>
                <a:spLocks noChangeArrowheads="1"/>
              </p:cNvSpPr>
              <p:nvPr/>
            </p:nvSpPr>
            <p:spPr bwMode="auto">
              <a:xfrm>
                <a:off x="558" y="539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74" name="Rectangle 68"/>
              <p:cNvSpPr>
                <a:spLocks noChangeArrowheads="1"/>
              </p:cNvSpPr>
              <p:nvPr/>
            </p:nvSpPr>
            <p:spPr bwMode="auto">
              <a:xfrm>
                <a:off x="678" y="539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75" name="Rectangle 69"/>
              <p:cNvSpPr>
                <a:spLocks noChangeArrowheads="1"/>
              </p:cNvSpPr>
              <p:nvPr/>
            </p:nvSpPr>
            <p:spPr bwMode="auto">
              <a:xfrm>
                <a:off x="558" y="660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76" name="Rectangle 70"/>
              <p:cNvSpPr>
                <a:spLocks noChangeArrowheads="1"/>
              </p:cNvSpPr>
              <p:nvPr/>
            </p:nvSpPr>
            <p:spPr bwMode="auto">
              <a:xfrm>
                <a:off x="678" y="660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77" name="Rectangle 71"/>
              <p:cNvSpPr>
                <a:spLocks noChangeArrowheads="1"/>
              </p:cNvSpPr>
              <p:nvPr/>
            </p:nvSpPr>
            <p:spPr bwMode="auto">
              <a:xfrm>
                <a:off x="558" y="781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78" name="Rectangle 72"/>
              <p:cNvSpPr>
                <a:spLocks noChangeArrowheads="1"/>
              </p:cNvSpPr>
              <p:nvPr/>
            </p:nvSpPr>
            <p:spPr bwMode="auto">
              <a:xfrm>
                <a:off x="678" y="781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</p:grpSp>
        <p:grpSp>
          <p:nvGrpSpPr>
            <p:cNvPr id="26672" name="Group 73"/>
            <p:cNvGrpSpPr>
              <a:grpSpLocks/>
            </p:cNvGrpSpPr>
            <p:nvPr/>
          </p:nvGrpSpPr>
          <p:grpSpPr bwMode="auto">
            <a:xfrm>
              <a:off x="1355" y="1985"/>
              <a:ext cx="319" cy="456"/>
              <a:chOff x="533" y="394"/>
              <a:chExt cx="266" cy="507"/>
            </a:xfrm>
          </p:grpSpPr>
          <p:sp>
            <p:nvSpPr>
              <p:cNvPr id="26961" name="Rectangle 74"/>
              <p:cNvSpPr>
                <a:spLocks noChangeArrowheads="1"/>
              </p:cNvSpPr>
              <p:nvPr/>
            </p:nvSpPr>
            <p:spPr bwMode="auto">
              <a:xfrm>
                <a:off x="533" y="394"/>
                <a:ext cx="266" cy="507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962" name="Rectangle 75"/>
              <p:cNvSpPr>
                <a:spLocks noChangeArrowheads="1"/>
              </p:cNvSpPr>
              <p:nvPr/>
            </p:nvSpPr>
            <p:spPr bwMode="auto">
              <a:xfrm>
                <a:off x="558" y="418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solidFill>
                    <a:schemeClr val="bg1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63" name="Rectangle 76"/>
              <p:cNvSpPr>
                <a:spLocks noChangeArrowheads="1"/>
              </p:cNvSpPr>
              <p:nvPr/>
            </p:nvSpPr>
            <p:spPr bwMode="auto">
              <a:xfrm>
                <a:off x="678" y="418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64" name="Rectangle 77"/>
              <p:cNvSpPr>
                <a:spLocks noChangeArrowheads="1"/>
              </p:cNvSpPr>
              <p:nvPr/>
            </p:nvSpPr>
            <p:spPr bwMode="auto">
              <a:xfrm>
                <a:off x="558" y="539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65" name="Rectangle 78"/>
              <p:cNvSpPr>
                <a:spLocks noChangeArrowheads="1"/>
              </p:cNvSpPr>
              <p:nvPr/>
            </p:nvSpPr>
            <p:spPr bwMode="auto">
              <a:xfrm>
                <a:off x="678" y="539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66" name="Rectangle 79"/>
              <p:cNvSpPr>
                <a:spLocks noChangeArrowheads="1"/>
              </p:cNvSpPr>
              <p:nvPr/>
            </p:nvSpPr>
            <p:spPr bwMode="auto">
              <a:xfrm>
                <a:off x="558" y="660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67" name="Rectangle 80"/>
              <p:cNvSpPr>
                <a:spLocks noChangeArrowheads="1"/>
              </p:cNvSpPr>
              <p:nvPr/>
            </p:nvSpPr>
            <p:spPr bwMode="auto">
              <a:xfrm>
                <a:off x="678" y="660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68" name="Rectangle 81"/>
              <p:cNvSpPr>
                <a:spLocks noChangeArrowheads="1"/>
              </p:cNvSpPr>
              <p:nvPr/>
            </p:nvSpPr>
            <p:spPr bwMode="auto">
              <a:xfrm>
                <a:off x="558" y="781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69" name="Rectangle 82"/>
              <p:cNvSpPr>
                <a:spLocks noChangeArrowheads="1"/>
              </p:cNvSpPr>
              <p:nvPr/>
            </p:nvSpPr>
            <p:spPr bwMode="auto">
              <a:xfrm>
                <a:off x="678" y="781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26673" name="Rectangle 83"/>
            <p:cNvSpPr>
              <a:spLocks noChangeArrowheads="1"/>
            </p:cNvSpPr>
            <p:nvPr/>
          </p:nvSpPr>
          <p:spPr bwMode="auto">
            <a:xfrm>
              <a:off x="1768" y="2824"/>
              <a:ext cx="363" cy="3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74" name="Rectangle 84"/>
            <p:cNvSpPr>
              <a:spLocks noChangeArrowheads="1"/>
            </p:cNvSpPr>
            <p:nvPr/>
          </p:nvSpPr>
          <p:spPr bwMode="auto">
            <a:xfrm>
              <a:off x="2130" y="2824"/>
              <a:ext cx="364" cy="3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75" name="Rectangle 85"/>
            <p:cNvSpPr>
              <a:spLocks noChangeArrowheads="1"/>
            </p:cNvSpPr>
            <p:nvPr/>
          </p:nvSpPr>
          <p:spPr bwMode="auto">
            <a:xfrm>
              <a:off x="1768" y="1964"/>
              <a:ext cx="726" cy="89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6676" name="Group 86"/>
            <p:cNvGrpSpPr>
              <a:grpSpLocks/>
            </p:cNvGrpSpPr>
            <p:nvPr/>
          </p:nvGrpSpPr>
          <p:grpSpPr bwMode="auto">
            <a:xfrm>
              <a:off x="1797" y="1986"/>
              <a:ext cx="319" cy="456"/>
              <a:chOff x="533" y="394"/>
              <a:chExt cx="266" cy="507"/>
            </a:xfrm>
          </p:grpSpPr>
          <p:sp>
            <p:nvSpPr>
              <p:cNvPr id="26952" name="Rectangle 87"/>
              <p:cNvSpPr>
                <a:spLocks noChangeArrowheads="1"/>
              </p:cNvSpPr>
              <p:nvPr/>
            </p:nvSpPr>
            <p:spPr bwMode="auto">
              <a:xfrm>
                <a:off x="533" y="394"/>
                <a:ext cx="266" cy="507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953" name="Rectangle 88"/>
              <p:cNvSpPr>
                <a:spLocks noChangeArrowheads="1"/>
              </p:cNvSpPr>
              <p:nvPr/>
            </p:nvSpPr>
            <p:spPr bwMode="auto">
              <a:xfrm>
                <a:off x="558" y="418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solidFill>
                    <a:schemeClr val="bg1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54" name="Rectangle 89"/>
              <p:cNvSpPr>
                <a:spLocks noChangeArrowheads="1"/>
              </p:cNvSpPr>
              <p:nvPr/>
            </p:nvSpPr>
            <p:spPr bwMode="auto">
              <a:xfrm>
                <a:off x="678" y="418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55" name="Rectangle 90"/>
              <p:cNvSpPr>
                <a:spLocks noChangeArrowheads="1"/>
              </p:cNvSpPr>
              <p:nvPr/>
            </p:nvSpPr>
            <p:spPr bwMode="auto">
              <a:xfrm>
                <a:off x="558" y="539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56" name="Rectangle 91"/>
              <p:cNvSpPr>
                <a:spLocks noChangeArrowheads="1"/>
              </p:cNvSpPr>
              <p:nvPr/>
            </p:nvSpPr>
            <p:spPr bwMode="auto">
              <a:xfrm>
                <a:off x="678" y="539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57" name="Rectangle 92"/>
              <p:cNvSpPr>
                <a:spLocks noChangeArrowheads="1"/>
              </p:cNvSpPr>
              <p:nvPr/>
            </p:nvSpPr>
            <p:spPr bwMode="auto">
              <a:xfrm>
                <a:off x="558" y="660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58" name="Rectangle 93"/>
              <p:cNvSpPr>
                <a:spLocks noChangeArrowheads="1"/>
              </p:cNvSpPr>
              <p:nvPr/>
            </p:nvSpPr>
            <p:spPr bwMode="auto">
              <a:xfrm>
                <a:off x="678" y="660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59" name="Rectangle 94"/>
              <p:cNvSpPr>
                <a:spLocks noChangeArrowheads="1"/>
              </p:cNvSpPr>
              <p:nvPr/>
            </p:nvSpPr>
            <p:spPr bwMode="auto">
              <a:xfrm>
                <a:off x="558" y="781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60" name="Rectangle 95"/>
              <p:cNvSpPr>
                <a:spLocks noChangeArrowheads="1"/>
              </p:cNvSpPr>
              <p:nvPr/>
            </p:nvSpPr>
            <p:spPr bwMode="auto">
              <a:xfrm>
                <a:off x="678" y="781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</p:grpSp>
        <p:grpSp>
          <p:nvGrpSpPr>
            <p:cNvPr id="26677" name="Group 96"/>
            <p:cNvGrpSpPr>
              <a:grpSpLocks/>
            </p:cNvGrpSpPr>
            <p:nvPr/>
          </p:nvGrpSpPr>
          <p:grpSpPr bwMode="auto">
            <a:xfrm>
              <a:off x="2146" y="1986"/>
              <a:ext cx="319" cy="456"/>
              <a:chOff x="533" y="394"/>
              <a:chExt cx="266" cy="507"/>
            </a:xfrm>
          </p:grpSpPr>
          <p:sp>
            <p:nvSpPr>
              <p:cNvPr id="26943" name="Rectangle 97"/>
              <p:cNvSpPr>
                <a:spLocks noChangeArrowheads="1"/>
              </p:cNvSpPr>
              <p:nvPr/>
            </p:nvSpPr>
            <p:spPr bwMode="auto">
              <a:xfrm>
                <a:off x="533" y="394"/>
                <a:ext cx="266" cy="507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944" name="Rectangle 98"/>
              <p:cNvSpPr>
                <a:spLocks noChangeArrowheads="1"/>
              </p:cNvSpPr>
              <p:nvPr/>
            </p:nvSpPr>
            <p:spPr bwMode="auto">
              <a:xfrm>
                <a:off x="558" y="418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solidFill>
                    <a:schemeClr val="bg1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45" name="Rectangle 99"/>
              <p:cNvSpPr>
                <a:spLocks noChangeArrowheads="1"/>
              </p:cNvSpPr>
              <p:nvPr/>
            </p:nvSpPr>
            <p:spPr bwMode="auto">
              <a:xfrm>
                <a:off x="678" y="418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46" name="Rectangle 100"/>
              <p:cNvSpPr>
                <a:spLocks noChangeArrowheads="1"/>
              </p:cNvSpPr>
              <p:nvPr/>
            </p:nvSpPr>
            <p:spPr bwMode="auto">
              <a:xfrm>
                <a:off x="558" y="539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47" name="Rectangle 101"/>
              <p:cNvSpPr>
                <a:spLocks noChangeArrowheads="1"/>
              </p:cNvSpPr>
              <p:nvPr/>
            </p:nvSpPr>
            <p:spPr bwMode="auto">
              <a:xfrm>
                <a:off x="678" y="539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48" name="Rectangle 102"/>
              <p:cNvSpPr>
                <a:spLocks noChangeArrowheads="1"/>
              </p:cNvSpPr>
              <p:nvPr/>
            </p:nvSpPr>
            <p:spPr bwMode="auto">
              <a:xfrm>
                <a:off x="558" y="660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49" name="Rectangle 103"/>
              <p:cNvSpPr>
                <a:spLocks noChangeArrowheads="1"/>
              </p:cNvSpPr>
              <p:nvPr/>
            </p:nvSpPr>
            <p:spPr bwMode="auto">
              <a:xfrm>
                <a:off x="678" y="660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50" name="Rectangle 104"/>
              <p:cNvSpPr>
                <a:spLocks noChangeArrowheads="1"/>
              </p:cNvSpPr>
              <p:nvPr/>
            </p:nvSpPr>
            <p:spPr bwMode="auto">
              <a:xfrm>
                <a:off x="558" y="781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51" name="Rectangle 105"/>
              <p:cNvSpPr>
                <a:spLocks noChangeArrowheads="1"/>
              </p:cNvSpPr>
              <p:nvPr/>
            </p:nvSpPr>
            <p:spPr bwMode="auto">
              <a:xfrm>
                <a:off x="678" y="781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26678" name="Rectangle 106"/>
            <p:cNvSpPr>
              <a:spLocks noChangeArrowheads="1"/>
            </p:cNvSpPr>
            <p:nvPr/>
          </p:nvSpPr>
          <p:spPr bwMode="auto">
            <a:xfrm>
              <a:off x="2543" y="1964"/>
              <a:ext cx="726" cy="89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6679" name="Group 107"/>
            <p:cNvGrpSpPr>
              <a:grpSpLocks/>
            </p:cNvGrpSpPr>
            <p:nvPr/>
          </p:nvGrpSpPr>
          <p:grpSpPr bwMode="auto">
            <a:xfrm>
              <a:off x="2572" y="1986"/>
              <a:ext cx="319" cy="456"/>
              <a:chOff x="533" y="394"/>
              <a:chExt cx="266" cy="507"/>
            </a:xfrm>
          </p:grpSpPr>
          <p:sp>
            <p:nvSpPr>
              <p:cNvPr id="26934" name="Rectangle 108"/>
              <p:cNvSpPr>
                <a:spLocks noChangeArrowheads="1"/>
              </p:cNvSpPr>
              <p:nvPr/>
            </p:nvSpPr>
            <p:spPr bwMode="auto">
              <a:xfrm>
                <a:off x="533" y="394"/>
                <a:ext cx="266" cy="507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935" name="Rectangle 109"/>
              <p:cNvSpPr>
                <a:spLocks noChangeArrowheads="1"/>
              </p:cNvSpPr>
              <p:nvPr/>
            </p:nvSpPr>
            <p:spPr bwMode="auto">
              <a:xfrm>
                <a:off x="558" y="418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solidFill>
                    <a:schemeClr val="bg1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36" name="Rectangle 110"/>
              <p:cNvSpPr>
                <a:spLocks noChangeArrowheads="1"/>
              </p:cNvSpPr>
              <p:nvPr/>
            </p:nvSpPr>
            <p:spPr bwMode="auto">
              <a:xfrm>
                <a:off x="678" y="418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37" name="Rectangle 111"/>
              <p:cNvSpPr>
                <a:spLocks noChangeArrowheads="1"/>
              </p:cNvSpPr>
              <p:nvPr/>
            </p:nvSpPr>
            <p:spPr bwMode="auto">
              <a:xfrm>
                <a:off x="558" y="539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38" name="Rectangle 112"/>
              <p:cNvSpPr>
                <a:spLocks noChangeArrowheads="1"/>
              </p:cNvSpPr>
              <p:nvPr/>
            </p:nvSpPr>
            <p:spPr bwMode="auto">
              <a:xfrm>
                <a:off x="678" y="539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39" name="Rectangle 113"/>
              <p:cNvSpPr>
                <a:spLocks noChangeArrowheads="1"/>
              </p:cNvSpPr>
              <p:nvPr/>
            </p:nvSpPr>
            <p:spPr bwMode="auto">
              <a:xfrm>
                <a:off x="558" y="660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40" name="Rectangle 114"/>
              <p:cNvSpPr>
                <a:spLocks noChangeArrowheads="1"/>
              </p:cNvSpPr>
              <p:nvPr/>
            </p:nvSpPr>
            <p:spPr bwMode="auto">
              <a:xfrm>
                <a:off x="678" y="660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41" name="Rectangle 115"/>
              <p:cNvSpPr>
                <a:spLocks noChangeArrowheads="1"/>
              </p:cNvSpPr>
              <p:nvPr/>
            </p:nvSpPr>
            <p:spPr bwMode="auto">
              <a:xfrm>
                <a:off x="558" y="781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42" name="Rectangle 116"/>
              <p:cNvSpPr>
                <a:spLocks noChangeArrowheads="1"/>
              </p:cNvSpPr>
              <p:nvPr/>
            </p:nvSpPr>
            <p:spPr bwMode="auto">
              <a:xfrm>
                <a:off x="678" y="781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</p:grpSp>
        <p:grpSp>
          <p:nvGrpSpPr>
            <p:cNvPr id="26680" name="Group 117"/>
            <p:cNvGrpSpPr>
              <a:grpSpLocks/>
            </p:cNvGrpSpPr>
            <p:nvPr/>
          </p:nvGrpSpPr>
          <p:grpSpPr bwMode="auto">
            <a:xfrm>
              <a:off x="2921" y="1986"/>
              <a:ext cx="319" cy="456"/>
              <a:chOff x="533" y="394"/>
              <a:chExt cx="266" cy="507"/>
            </a:xfrm>
          </p:grpSpPr>
          <p:sp>
            <p:nvSpPr>
              <p:cNvPr id="26925" name="Rectangle 118"/>
              <p:cNvSpPr>
                <a:spLocks noChangeArrowheads="1"/>
              </p:cNvSpPr>
              <p:nvPr/>
            </p:nvSpPr>
            <p:spPr bwMode="auto">
              <a:xfrm>
                <a:off x="533" y="394"/>
                <a:ext cx="266" cy="507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926" name="Rectangle 119"/>
              <p:cNvSpPr>
                <a:spLocks noChangeArrowheads="1"/>
              </p:cNvSpPr>
              <p:nvPr/>
            </p:nvSpPr>
            <p:spPr bwMode="auto">
              <a:xfrm>
                <a:off x="558" y="418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solidFill>
                    <a:schemeClr val="bg1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27" name="Rectangle 120"/>
              <p:cNvSpPr>
                <a:spLocks noChangeArrowheads="1"/>
              </p:cNvSpPr>
              <p:nvPr/>
            </p:nvSpPr>
            <p:spPr bwMode="auto">
              <a:xfrm>
                <a:off x="678" y="418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28" name="Rectangle 121"/>
              <p:cNvSpPr>
                <a:spLocks noChangeArrowheads="1"/>
              </p:cNvSpPr>
              <p:nvPr/>
            </p:nvSpPr>
            <p:spPr bwMode="auto">
              <a:xfrm>
                <a:off x="558" y="539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29" name="Rectangle 122"/>
              <p:cNvSpPr>
                <a:spLocks noChangeArrowheads="1"/>
              </p:cNvSpPr>
              <p:nvPr/>
            </p:nvSpPr>
            <p:spPr bwMode="auto">
              <a:xfrm>
                <a:off x="678" y="539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30" name="Rectangle 123"/>
              <p:cNvSpPr>
                <a:spLocks noChangeArrowheads="1"/>
              </p:cNvSpPr>
              <p:nvPr/>
            </p:nvSpPr>
            <p:spPr bwMode="auto">
              <a:xfrm>
                <a:off x="558" y="660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31" name="Rectangle 124"/>
              <p:cNvSpPr>
                <a:spLocks noChangeArrowheads="1"/>
              </p:cNvSpPr>
              <p:nvPr/>
            </p:nvSpPr>
            <p:spPr bwMode="auto">
              <a:xfrm>
                <a:off x="678" y="660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32" name="Rectangle 125"/>
              <p:cNvSpPr>
                <a:spLocks noChangeArrowheads="1"/>
              </p:cNvSpPr>
              <p:nvPr/>
            </p:nvSpPr>
            <p:spPr bwMode="auto">
              <a:xfrm>
                <a:off x="558" y="781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33" name="Rectangle 126"/>
              <p:cNvSpPr>
                <a:spLocks noChangeArrowheads="1"/>
              </p:cNvSpPr>
              <p:nvPr/>
            </p:nvSpPr>
            <p:spPr bwMode="auto">
              <a:xfrm>
                <a:off x="678" y="781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26681" name="Rectangle 127"/>
            <p:cNvSpPr>
              <a:spLocks noChangeArrowheads="1"/>
            </p:cNvSpPr>
            <p:nvPr/>
          </p:nvSpPr>
          <p:spPr bwMode="auto">
            <a:xfrm>
              <a:off x="3343" y="2822"/>
              <a:ext cx="364" cy="3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82" name="Rectangle 128"/>
            <p:cNvSpPr>
              <a:spLocks noChangeArrowheads="1"/>
            </p:cNvSpPr>
            <p:nvPr/>
          </p:nvSpPr>
          <p:spPr bwMode="auto">
            <a:xfrm>
              <a:off x="3706" y="2822"/>
              <a:ext cx="363" cy="3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83" name="Rectangle 129"/>
            <p:cNvSpPr>
              <a:spLocks noChangeArrowheads="1"/>
            </p:cNvSpPr>
            <p:nvPr/>
          </p:nvSpPr>
          <p:spPr bwMode="auto">
            <a:xfrm>
              <a:off x="3343" y="1962"/>
              <a:ext cx="726" cy="89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6684" name="Group 130"/>
            <p:cNvGrpSpPr>
              <a:grpSpLocks/>
            </p:cNvGrpSpPr>
            <p:nvPr/>
          </p:nvGrpSpPr>
          <p:grpSpPr bwMode="auto">
            <a:xfrm>
              <a:off x="3372" y="1984"/>
              <a:ext cx="319" cy="456"/>
              <a:chOff x="533" y="394"/>
              <a:chExt cx="266" cy="507"/>
            </a:xfrm>
          </p:grpSpPr>
          <p:sp>
            <p:nvSpPr>
              <p:cNvPr id="26916" name="Rectangle 131"/>
              <p:cNvSpPr>
                <a:spLocks noChangeArrowheads="1"/>
              </p:cNvSpPr>
              <p:nvPr/>
            </p:nvSpPr>
            <p:spPr bwMode="auto">
              <a:xfrm>
                <a:off x="533" y="394"/>
                <a:ext cx="266" cy="507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917" name="Rectangle 132"/>
              <p:cNvSpPr>
                <a:spLocks noChangeArrowheads="1"/>
              </p:cNvSpPr>
              <p:nvPr/>
            </p:nvSpPr>
            <p:spPr bwMode="auto">
              <a:xfrm>
                <a:off x="558" y="418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solidFill>
                    <a:schemeClr val="bg1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18" name="Rectangle 133"/>
              <p:cNvSpPr>
                <a:spLocks noChangeArrowheads="1"/>
              </p:cNvSpPr>
              <p:nvPr/>
            </p:nvSpPr>
            <p:spPr bwMode="auto">
              <a:xfrm>
                <a:off x="678" y="418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19" name="Rectangle 134"/>
              <p:cNvSpPr>
                <a:spLocks noChangeArrowheads="1"/>
              </p:cNvSpPr>
              <p:nvPr/>
            </p:nvSpPr>
            <p:spPr bwMode="auto">
              <a:xfrm>
                <a:off x="558" y="539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20" name="Rectangle 135"/>
              <p:cNvSpPr>
                <a:spLocks noChangeArrowheads="1"/>
              </p:cNvSpPr>
              <p:nvPr/>
            </p:nvSpPr>
            <p:spPr bwMode="auto">
              <a:xfrm>
                <a:off x="678" y="539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21" name="Rectangle 136"/>
              <p:cNvSpPr>
                <a:spLocks noChangeArrowheads="1"/>
              </p:cNvSpPr>
              <p:nvPr/>
            </p:nvSpPr>
            <p:spPr bwMode="auto">
              <a:xfrm>
                <a:off x="558" y="660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22" name="Rectangle 137"/>
              <p:cNvSpPr>
                <a:spLocks noChangeArrowheads="1"/>
              </p:cNvSpPr>
              <p:nvPr/>
            </p:nvSpPr>
            <p:spPr bwMode="auto">
              <a:xfrm>
                <a:off x="678" y="660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23" name="Rectangle 138"/>
              <p:cNvSpPr>
                <a:spLocks noChangeArrowheads="1"/>
              </p:cNvSpPr>
              <p:nvPr/>
            </p:nvSpPr>
            <p:spPr bwMode="auto">
              <a:xfrm>
                <a:off x="558" y="781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24" name="Rectangle 139"/>
              <p:cNvSpPr>
                <a:spLocks noChangeArrowheads="1"/>
              </p:cNvSpPr>
              <p:nvPr/>
            </p:nvSpPr>
            <p:spPr bwMode="auto">
              <a:xfrm>
                <a:off x="678" y="781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</p:grpSp>
        <p:grpSp>
          <p:nvGrpSpPr>
            <p:cNvPr id="26685" name="Group 140"/>
            <p:cNvGrpSpPr>
              <a:grpSpLocks/>
            </p:cNvGrpSpPr>
            <p:nvPr/>
          </p:nvGrpSpPr>
          <p:grpSpPr bwMode="auto">
            <a:xfrm>
              <a:off x="3721" y="1984"/>
              <a:ext cx="319" cy="456"/>
              <a:chOff x="533" y="394"/>
              <a:chExt cx="266" cy="507"/>
            </a:xfrm>
          </p:grpSpPr>
          <p:sp>
            <p:nvSpPr>
              <p:cNvPr id="26907" name="Rectangle 141"/>
              <p:cNvSpPr>
                <a:spLocks noChangeArrowheads="1"/>
              </p:cNvSpPr>
              <p:nvPr/>
            </p:nvSpPr>
            <p:spPr bwMode="auto">
              <a:xfrm>
                <a:off x="533" y="394"/>
                <a:ext cx="266" cy="507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908" name="Rectangle 142"/>
              <p:cNvSpPr>
                <a:spLocks noChangeArrowheads="1"/>
              </p:cNvSpPr>
              <p:nvPr/>
            </p:nvSpPr>
            <p:spPr bwMode="auto">
              <a:xfrm>
                <a:off x="558" y="418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solidFill>
                    <a:schemeClr val="bg1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09" name="Rectangle 143"/>
              <p:cNvSpPr>
                <a:spLocks noChangeArrowheads="1"/>
              </p:cNvSpPr>
              <p:nvPr/>
            </p:nvSpPr>
            <p:spPr bwMode="auto">
              <a:xfrm>
                <a:off x="678" y="418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10" name="Rectangle 144"/>
              <p:cNvSpPr>
                <a:spLocks noChangeArrowheads="1"/>
              </p:cNvSpPr>
              <p:nvPr/>
            </p:nvSpPr>
            <p:spPr bwMode="auto">
              <a:xfrm>
                <a:off x="558" y="539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11" name="Rectangle 145"/>
              <p:cNvSpPr>
                <a:spLocks noChangeArrowheads="1"/>
              </p:cNvSpPr>
              <p:nvPr/>
            </p:nvSpPr>
            <p:spPr bwMode="auto">
              <a:xfrm>
                <a:off x="678" y="539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12" name="Rectangle 146"/>
              <p:cNvSpPr>
                <a:spLocks noChangeArrowheads="1"/>
              </p:cNvSpPr>
              <p:nvPr/>
            </p:nvSpPr>
            <p:spPr bwMode="auto">
              <a:xfrm>
                <a:off x="558" y="660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13" name="Rectangle 147"/>
              <p:cNvSpPr>
                <a:spLocks noChangeArrowheads="1"/>
              </p:cNvSpPr>
              <p:nvPr/>
            </p:nvSpPr>
            <p:spPr bwMode="auto">
              <a:xfrm>
                <a:off x="678" y="660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14" name="Rectangle 148"/>
              <p:cNvSpPr>
                <a:spLocks noChangeArrowheads="1"/>
              </p:cNvSpPr>
              <p:nvPr/>
            </p:nvSpPr>
            <p:spPr bwMode="auto">
              <a:xfrm>
                <a:off x="558" y="781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15" name="Rectangle 149"/>
              <p:cNvSpPr>
                <a:spLocks noChangeArrowheads="1"/>
              </p:cNvSpPr>
              <p:nvPr/>
            </p:nvSpPr>
            <p:spPr bwMode="auto">
              <a:xfrm>
                <a:off x="678" y="781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26686" name="Rectangle 150"/>
            <p:cNvSpPr>
              <a:spLocks noChangeArrowheads="1"/>
            </p:cNvSpPr>
            <p:nvPr/>
          </p:nvSpPr>
          <p:spPr bwMode="auto">
            <a:xfrm>
              <a:off x="4118" y="1962"/>
              <a:ext cx="726" cy="89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6687" name="Group 151"/>
            <p:cNvGrpSpPr>
              <a:grpSpLocks/>
            </p:cNvGrpSpPr>
            <p:nvPr/>
          </p:nvGrpSpPr>
          <p:grpSpPr bwMode="auto">
            <a:xfrm>
              <a:off x="4147" y="1984"/>
              <a:ext cx="319" cy="456"/>
              <a:chOff x="533" y="394"/>
              <a:chExt cx="266" cy="507"/>
            </a:xfrm>
          </p:grpSpPr>
          <p:sp>
            <p:nvSpPr>
              <p:cNvPr id="26898" name="Rectangle 152"/>
              <p:cNvSpPr>
                <a:spLocks noChangeArrowheads="1"/>
              </p:cNvSpPr>
              <p:nvPr/>
            </p:nvSpPr>
            <p:spPr bwMode="auto">
              <a:xfrm>
                <a:off x="533" y="394"/>
                <a:ext cx="266" cy="507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899" name="Rectangle 153"/>
              <p:cNvSpPr>
                <a:spLocks noChangeArrowheads="1"/>
              </p:cNvSpPr>
              <p:nvPr/>
            </p:nvSpPr>
            <p:spPr bwMode="auto">
              <a:xfrm>
                <a:off x="558" y="418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solidFill>
                    <a:schemeClr val="bg1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00" name="Rectangle 154"/>
              <p:cNvSpPr>
                <a:spLocks noChangeArrowheads="1"/>
              </p:cNvSpPr>
              <p:nvPr/>
            </p:nvSpPr>
            <p:spPr bwMode="auto">
              <a:xfrm>
                <a:off x="678" y="418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01" name="Rectangle 155"/>
              <p:cNvSpPr>
                <a:spLocks noChangeArrowheads="1"/>
              </p:cNvSpPr>
              <p:nvPr/>
            </p:nvSpPr>
            <p:spPr bwMode="auto">
              <a:xfrm>
                <a:off x="558" y="539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02" name="Rectangle 156"/>
              <p:cNvSpPr>
                <a:spLocks noChangeArrowheads="1"/>
              </p:cNvSpPr>
              <p:nvPr/>
            </p:nvSpPr>
            <p:spPr bwMode="auto">
              <a:xfrm>
                <a:off x="678" y="539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03" name="Rectangle 157"/>
              <p:cNvSpPr>
                <a:spLocks noChangeArrowheads="1"/>
              </p:cNvSpPr>
              <p:nvPr/>
            </p:nvSpPr>
            <p:spPr bwMode="auto">
              <a:xfrm>
                <a:off x="558" y="660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04" name="Rectangle 158"/>
              <p:cNvSpPr>
                <a:spLocks noChangeArrowheads="1"/>
              </p:cNvSpPr>
              <p:nvPr/>
            </p:nvSpPr>
            <p:spPr bwMode="auto">
              <a:xfrm>
                <a:off x="678" y="660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05" name="Rectangle 159"/>
              <p:cNvSpPr>
                <a:spLocks noChangeArrowheads="1"/>
              </p:cNvSpPr>
              <p:nvPr/>
            </p:nvSpPr>
            <p:spPr bwMode="auto">
              <a:xfrm>
                <a:off x="558" y="781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906" name="Rectangle 160"/>
              <p:cNvSpPr>
                <a:spLocks noChangeArrowheads="1"/>
              </p:cNvSpPr>
              <p:nvPr/>
            </p:nvSpPr>
            <p:spPr bwMode="auto">
              <a:xfrm>
                <a:off x="678" y="781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</p:grpSp>
        <p:grpSp>
          <p:nvGrpSpPr>
            <p:cNvPr id="26688" name="Group 161"/>
            <p:cNvGrpSpPr>
              <a:grpSpLocks/>
            </p:cNvGrpSpPr>
            <p:nvPr/>
          </p:nvGrpSpPr>
          <p:grpSpPr bwMode="auto">
            <a:xfrm>
              <a:off x="4496" y="1984"/>
              <a:ext cx="319" cy="456"/>
              <a:chOff x="533" y="394"/>
              <a:chExt cx="266" cy="507"/>
            </a:xfrm>
          </p:grpSpPr>
          <p:sp>
            <p:nvSpPr>
              <p:cNvPr id="26889" name="Rectangle 162"/>
              <p:cNvSpPr>
                <a:spLocks noChangeArrowheads="1"/>
              </p:cNvSpPr>
              <p:nvPr/>
            </p:nvSpPr>
            <p:spPr bwMode="auto">
              <a:xfrm>
                <a:off x="533" y="394"/>
                <a:ext cx="266" cy="507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890" name="Rectangle 163"/>
              <p:cNvSpPr>
                <a:spLocks noChangeArrowheads="1"/>
              </p:cNvSpPr>
              <p:nvPr/>
            </p:nvSpPr>
            <p:spPr bwMode="auto">
              <a:xfrm>
                <a:off x="558" y="418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solidFill>
                    <a:schemeClr val="bg1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6891" name="Rectangle 164"/>
              <p:cNvSpPr>
                <a:spLocks noChangeArrowheads="1"/>
              </p:cNvSpPr>
              <p:nvPr/>
            </p:nvSpPr>
            <p:spPr bwMode="auto">
              <a:xfrm>
                <a:off x="678" y="418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892" name="Rectangle 165"/>
              <p:cNvSpPr>
                <a:spLocks noChangeArrowheads="1"/>
              </p:cNvSpPr>
              <p:nvPr/>
            </p:nvSpPr>
            <p:spPr bwMode="auto">
              <a:xfrm>
                <a:off x="558" y="539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893" name="Rectangle 166"/>
              <p:cNvSpPr>
                <a:spLocks noChangeArrowheads="1"/>
              </p:cNvSpPr>
              <p:nvPr/>
            </p:nvSpPr>
            <p:spPr bwMode="auto">
              <a:xfrm>
                <a:off x="678" y="539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894" name="Rectangle 167"/>
              <p:cNvSpPr>
                <a:spLocks noChangeArrowheads="1"/>
              </p:cNvSpPr>
              <p:nvPr/>
            </p:nvSpPr>
            <p:spPr bwMode="auto">
              <a:xfrm>
                <a:off x="558" y="660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895" name="Rectangle 168"/>
              <p:cNvSpPr>
                <a:spLocks noChangeArrowheads="1"/>
              </p:cNvSpPr>
              <p:nvPr/>
            </p:nvSpPr>
            <p:spPr bwMode="auto">
              <a:xfrm>
                <a:off x="678" y="660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896" name="Rectangle 169"/>
              <p:cNvSpPr>
                <a:spLocks noChangeArrowheads="1"/>
              </p:cNvSpPr>
              <p:nvPr/>
            </p:nvSpPr>
            <p:spPr bwMode="auto">
              <a:xfrm>
                <a:off x="558" y="781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897" name="Rectangle 170"/>
              <p:cNvSpPr>
                <a:spLocks noChangeArrowheads="1"/>
              </p:cNvSpPr>
              <p:nvPr/>
            </p:nvSpPr>
            <p:spPr bwMode="auto">
              <a:xfrm>
                <a:off x="678" y="781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26689" name="Rectangle 171"/>
            <p:cNvSpPr>
              <a:spLocks noChangeArrowheads="1"/>
            </p:cNvSpPr>
            <p:nvPr/>
          </p:nvSpPr>
          <p:spPr bwMode="auto">
            <a:xfrm>
              <a:off x="4909" y="2823"/>
              <a:ext cx="364" cy="3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90" name="Rectangle 172"/>
            <p:cNvSpPr>
              <a:spLocks noChangeArrowheads="1"/>
            </p:cNvSpPr>
            <p:nvPr/>
          </p:nvSpPr>
          <p:spPr bwMode="auto">
            <a:xfrm>
              <a:off x="5271" y="2823"/>
              <a:ext cx="364" cy="3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91" name="Rectangle 173"/>
            <p:cNvSpPr>
              <a:spLocks noChangeArrowheads="1"/>
            </p:cNvSpPr>
            <p:nvPr/>
          </p:nvSpPr>
          <p:spPr bwMode="auto">
            <a:xfrm>
              <a:off x="4909" y="1963"/>
              <a:ext cx="726" cy="89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6692" name="Group 174"/>
            <p:cNvGrpSpPr>
              <a:grpSpLocks/>
            </p:cNvGrpSpPr>
            <p:nvPr/>
          </p:nvGrpSpPr>
          <p:grpSpPr bwMode="auto">
            <a:xfrm>
              <a:off x="4938" y="1985"/>
              <a:ext cx="319" cy="456"/>
              <a:chOff x="533" y="394"/>
              <a:chExt cx="266" cy="507"/>
            </a:xfrm>
          </p:grpSpPr>
          <p:sp>
            <p:nvSpPr>
              <p:cNvPr id="26880" name="Rectangle 175"/>
              <p:cNvSpPr>
                <a:spLocks noChangeArrowheads="1"/>
              </p:cNvSpPr>
              <p:nvPr/>
            </p:nvSpPr>
            <p:spPr bwMode="auto">
              <a:xfrm>
                <a:off x="533" y="394"/>
                <a:ext cx="266" cy="507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881" name="Rectangle 176"/>
              <p:cNvSpPr>
                <a:spLocks noChangeArrowheads="1"/>
              </p:cNvSpPr>
              <p:nvPr/>
            </p:nvSpPr>
            <p:spPr bwMode="auto">
              <a:xfrm>
                <a:off x="558" y="418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solidFill>
                    <a:schemeClr val="bg1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6882" name="Rectangle 177"/>
              <p:cNvSpPr>
                <a:spLocks noChangeArrowheads="1"/>
              </p:cNvSpPr>
              <p:nvPr/>
            </p:nvSpPr>
            <p:spPr bwMode="auto">
              <a:xfrm>
                <a:off x="678" y="418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883" name="Rectangle 178"/>
              <p:cNvSpPr>
                <a:spLocks noChangeArrowheads="1"/>
              </p:cNvSpPr>
              <p:nvPr/>
            </p:nvSpPr>
            <p:spPr bwMode="auto">
              <a:xfrm>
                <a:off x="558" y="539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884" name="Rectangle 179"/>
              <p:cNvSpPr>
                <a:spLocks noChangeArrowheads="1"/>
              </p:cNvSpPr>
              <p:nvPr/>
            </p:nvSpPr>
            <p:spPr bwMode="auto">
              <a:xfrm>
                <a:off x="678" y="539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885" name="Rectangle 180"/>
              <p:cNvSpPr>
                <a:spLocks noChangeArrowheads="1"/>
              </p:cNvSpPr>
              <p:nvPr/>
            </p:nvSpPr>
            <p:spPr bwMode="auto">
              <a:xfrm>
                <a:off x="558" y="660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886" name="Rectangle 181"/>
              <p:cNvSpPr>
                <a:spLocks noChangeArrowheads="1"/>
              </p:cNvSpPr>
              <p:nvPr/>
            </p:nvSpPr>
            <p:spPr bwMode="auto">
              <a:xfrm>
                <a:off x="678" y="660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887" name="Rectangle 182"/>
              <p:cNvSpPr>
                <a:spLocks noChangeArrowheads="1"/>
              </p:cNvSpPr>
              <p:nvPr/>
            </p:nvSpPr>
            <p:spPr bwMode="auto">
              <a:xfrm>
                <a:off x="558" y="781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888" name="Rectangle 183"/>
              <p:cNvSpPr>
                <a:spLocks noChangeArrowheads="1"/>
              </p:cNvSpPr>
              <p:nvPr/>
            </p:nvSpPr>
            <p:spPr bwMode="auto">
              <a:xfrm>
                <a:off x="678" y="781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</p:grpSp>
        <p:grpSp>
          <p:nvGrpSpPr>
            <p:cNvPr id="26693" name="Group 184"/>
            <p:cNvGrpSpPr>
              <a:grpSpLocks/>
            </p:cNvGrpSpPr>
            <p:nvPr/>
          </p:nvGrpSpPr>
          <p:grpSpPr bwMode="auto">
            <a:xfrm>
              <a:off x="5287" y="1985"/>
              <a:ext cx="319" cy="456"/>
              <a:chOff x="533" y="394"/>
              <a:chExt cx="266" cy="507"/>
            </a:xfrm>
          </p:grpSpPr>
          <p:sp>
            <p:nvSpPr>
              <p:cNvPr id="26871" name="Rectangle 185"/>
              <p:cNvSpPr>
                <a:spLocks noChangeArrowheads="1"/>
              </p:cNvSpPr>
              <p:nvPr/>
            </p:nvSpPr>
            <p:spPr bwMode="auto">
              <a:xfrm>
                <a:off x="533" y="394"/>
                <a:ext cx="266" cy="507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872" name="Rectangle 186"/>
              <p:cNvSpPr>
                <a:spLocks noChangeArrowheads="1"/>
              </p:cNvSpPr>
              <p:nvPr/>
            </p:nvSpPr>
            <p:spPr bwMode="auto">
              <a:xfrm>
                <a:off x="558" y="418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solidFill>
                    <a:schemeClr val="bg1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6873" name="Rectangle 187"/>
              <p:cNvSpPr>
                <a:spLocks noChangeArrowheads="1"/>
              </p:cNvSpPr>
              <p:nvPr/>
            </p:nvSpPr>
            <p:spPr bwMode="auto">
              <a:xfrm>
                <a:off x="678" y="418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874" name="Rectangle 188"/>
              <p:cNvSpPr>
                <a:spLocks noChangeArrowheads="1"/>
              </p:cNvSpPr>
              <p:nvPr/>
            </p:nvSpPr>
            <p:spPr bwMode="auto">
              <a:xfrm>
                <a:off x="558" y="539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875" name="Rectangle 189"/>
              <p:cNvSpPr>
                <a:spLocks noChangeArrowheads="1"/>
              </p:cNvSpPr>
              <p:nvPr/>
            </p:nvSpPr>
            <p:spPr bwMode="auto">
              <a:xfrm>
                <a:off x="678" y="539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876" name="Rectangle 190"/>
              <p:cNvSpPr>
                <a:spLocks noChangeArrowheads="1"/>
              </p:cNvSpPr>
              <p:nvPr/>
            </p:nvSpPr>
            <p:spPr bwMode="auto">
              <a:xfrm>
                <a:off x="558" y="660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877" name="Rectangle 191"/>
              <p:cNvSpPr>
                <a:spLocks noChangeArrowheads="1"/>
              </p:cNvSpPr>
              <p:nvPr/>
            </p:nvSpPr>
            <p:spPr bwMode="auto">
              <a:xfrm>
                <a:off x="678" y="660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878" name="Rectangle 192"/>
              <p:cNvSpPr>
                <a:spLocks noChangeArrowheads="1"/>
              </p:cNvSpPr>
              <p:nvPr/>
            </p:nvSpPr>
            <p:spPr bwMode="auto">
              <a:xfrm>
                <a:off x="558" y="781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879" name="Rectangle 193"/>
              <p:cNvSpPr>
                <a:spLocks noChangeArrowheads="1"/>
              </p:cNvSpPr>
              <p:nvPr/>
            </p:nvSpPr>
            <p:spPr bwMode="auto">
              <a:xfrm>
                <a:off x="678" y="781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26694" name="Rectangle 194"/>
            <p:cNvSpPr>
              <a:spLocks noChangeArrowheads="1"/>
            </p:cNvSpPr>
            <p:nvPr/>
          </p:nvSpPr>
          <p:spPr bwMode="auto">
            <a:xfrm>
              <a:off x="5684" y="1963"/>
              <a:ext cx="726" cy="89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6695" name="Group 195"/>
            <p:cNvGrpSpPr>
              <a:grpSpLocks/>
            </p:cNvGrpSpPr>
            <p:nvPr/>
          </p:nvGrpSpPr>
          <p:grpSpPr bwMode="auto">
            <a:xfrm>
              <a:off x="5713" y="1985"/>
              <a:ext cx="319" cy="456"/>
              <a:chOff x="533" y="394"/>
              <a:chExt cx="266" cy="507"/>
            </a:xfrm>
          </p:grpSpPr>
          <p:sp>
            <p:nvSpPr>
              <p:cNvPr id="26862" name="Rectangle 196"/>
              <p:cNvSpPr>
                <a:spLocks noChangeArrowheads="1"/>
              </p:cNvSpPr>
              <p:nvPr/>
            </p:nvSpPr>
            <p:spPr bwMode="auto">
              <a:xfrm>
                <a:off x="533" y="394"/>
                <a:ext cx="266" cy="507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863" name="Rectangle 197"/>
              <p:cNvSpPr>
                <a:spLocks noChangeArrowheads="1"/>
              </p:cNvSpPr>
              <p:nvPr/>
            </p:nvSpPr>
            <p:spPr bwMode="auto">
              <a:xfrm>
                <a:off x="558" y="418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solidFill>
                    <a:schemeClr val="bg1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6864" name="Rectangle 198"/>
              <p:cNvSpPr>
                <a:spLocks noChangeArrowheads="1"/>
              </p:cNvSpPr>
              <p:nvPr/>
            </p:nvSpPr>
            <p:spPr bwMode="auto">
              <a:xfrm>
                <a:off x="678" y="418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865" name="Rectangle 199"/>
              <p:cNvSpPr>
                <a:spLocks noChangeArrowheads="1"/>
              </p:cNvSpPr>
              <p:nvPr/>
            </p:nvSpPr>
            <p:spPr bwMode="auto">
              <a:xfrm>
                <a:off x="558" y="539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866" name="Rectangle 200"/>
              <p:cNvSpPr>
                <a:spLocks noChangeArrowheads="1"/>
              </p:cNvSpPr>
              <p:nvPr/>
            </p:nvSpPr>
            <p:spPr bwMode="auto">
              <a:xfrm>
                <a:off x="678" y="539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867" name="Rectangle 201"/>
              <p:cNvSpPr>
                <a:spLocks noChangeArrowheads="1"/>
              </p:cNvSpPr>
              <p:nvPr/>
            </p:nvSpPr>
            <p:spPr bwMode="auto">
              <a:xfrm>
                <a:off x="558" y="660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868" name="Rectangle 202"/>
              <p:cNvSpPr>
                <a:spLocks noChangeArrowheads="1"/>
              </p:cNvSpPr>
              <p:nvPr/>
            </p:nvSpPr>
            <p:spPr bwMode="auto">
              <a:xfrm>
                <a:off x="678" y="660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869" name="Rectangle 203"/>
              <p:cNvSpPr>
                <a:spLocks noChangeArrowheads="1"/>
              </p:cNvSpPr>
              <p:nvPr/>
            </p:nvSpPr>
            <p:spPr bwMode="auto">
              <a:xfrm>
                <a:off x="558" y="781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870" name="Rectangle 204"/>
              <p:cNvSpPr>
                <a:spLocks noChangeArrowheads="1"/>
              </p:cNvSpPr>
              <p:nvPr/>
            </p:nvSpPr>
            <p:spPr bwMode="auto">
              <a:xfrm>
                <a:off x="678" y="781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</p:grpSp>
        <p:grpSp>
          <p:nvGrpSpPr>
            <p:cNvPr id="26696" name="Group 205"/>
            <p:cNvGrpSpPr>
              <a:grpSpLocks/>
            </p:cNvGrpSpPr>
            <p:nvPr/>
          </p:nvGrpSpPr>
          <p:grpSpPr bwMode="auto">
            <a:xfrm>
              <a:off x="6062" y="1985"/>
              <a:ext cx="319" cy="456"/>
              <a:chOff x="533" y="394"/>
              <a:chExt cx="266" cy="507"/>
            </a:xfrm>
          </p:grpSpPr>
          <p:sp>
            <p:nvSpPr>
              <p:cNvPr id="26853" name="Rectangle 206"/>
              <p:cNvSpPr>
                <a:spLocks noChangeArrowheads="1"/>
              </p:cNvSpPr>
              <p:nvPr/>
            </p:nvSpPr>
            <p:spPr bwMode="auto">
              <a:xfrm>
                <a:off x="533" y="394"/>
                <a:ext cx="266" cy="507"/>
              </a:xfrm>
              <a:prstGeom prst="rect">
                <a:avLst/>
              </a:prstGeom>
              <a:solidFill>
                <a:srgbClr val="C0C0C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854" name="Rectangle 207"/>
              <p:cNvSpPr>
                <a:spLocks noChangeArrowheads="1"/>
              </p:cNvSpPr>
              <p:nvPr/>
            </p:nvSpPr>
            <p:spPr bwMode="auto">
              <a:xfrm>
                <a:off x="558" y="418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solidFill>
                    <a:schemeClr val="bg1"/>
                  </a:solidFill>
                  <a:latin typeface="Arial" charset="0"/>
                  <a:cs typeface="Arial" charset="0"/>
                </a:endParaRPr>
              </a:p>
            </p:txBody>
          </p:sp>
          <p:sp>
            <p:nvSpPr>
              <p:cNvPr id="26855" name="Rectangle 208"/>
              <p:cNvSpPr>
                <a:spLocks noChangeArrowheads="1"/>
              </p:cNvSpPr>
              <p:nvPr/>
            </p:nvSpPr>
            <p:spPr bwMode="auto">
              <a:xfrm>
                <a:off x="678" y="418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856" name="Rectangle 209"/>
              <p:cNvSpPr>
                <a:spLocks noChangeArrowheads="1"/>
              </p:cNvSpPr>
              <p:nvPr/>
            </p:nvSpPr>
            <p:spPr bwMode="auto">
              <a:xfrm>
                <a:off x="558" y="539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857" name="Rectangle 210"/>
              <p:cNvSpPr>
                <a:spLocks noChangeArrowheads="1"/>
              </p:cNvSpPr>
              <p:nvPr/>
            </p:nvSpPr>
            <p:spPr bwMode="auto">
              <a:xfrm>
                <a:off x="678" y="539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858" name="Rectangle 211"/>
              <p:cNvSpPr>
                <a:spLocks noChangeArrowheads="1"/>
              </p:cNvSpPr>
              <p:nvPr/>
            </p:nvSpPr>
            <p:spPr bwMode="auto">
              <a:xfrm>
                <a:off x="558" y="660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859" name="Rectangle 212"/>
              <p:cNvSpPr>
                <a:spLocks noChangeArrowheads="1"/>
              </p:cNvSpPr>
              <p:nvPr/>
            </p:nvSpPr>
            <p:spPr bwMode="auto">
              <a:xfrm>
                <a:off x="678" y="660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860" name="Rectangle 213"/>
              <p:cNvSpPr>
                <a:spLocks noChangeArrowheads="1"/>
              </p:cNvSpPr>
              <p:nvPr/>
            </p:nvSpPr>
            <p:spPr bwMode="auto">
              <a:xfrm>
                <a:off x="558" y="781"/>
                <a:ext cx="96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  <p:sp>
            <p:nvSpPr>
              <p:cNvPr id="26861" name="Rectangle 214"/>
              <p:cNvSpPr>
                <a:spLocks noChangeArrowheads="1"/>
              </p:cNvSpPr>
              <p:nvPr/>
            </p:nvSpPr>
            <p:spPr bwMode="auto">
              <a:xfrm>
                <a:off x="678" y="781"/>
                <a:ext cx="97" cy="97"/>
              </a:xfrm>
              <a:prstGeom prst="rect">
                <a:avLst/>
              </a:prstGeom>
              <a:solidFill>
                <a:srgbClr val="99CC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sz="700" b="1">
                  <a:latin typeface="Arial" charset="0"/>
                  <a:cs typeface="Arial" charset="0"/>
                </a:endParaRPr>
              </a:p>
            </p:txBody>
          </p:sp>
        </p:grpSp>
        <p:sp>
          <p:nvSpPr>
            <p:cNvPr id="26697" name="Rectangle 215"/>
            <p:cNvSpPr>
              <a:spLocks noChangeArrowheads="1"/>
            </p:cNvSpPr>
            <p:nvPr/>
          </p:nvSpPr>
          <p:spPr bwMode="auto">
            <a:xfrm rot="5400000">
              <a:off x="1231" y="2237"/>
              <a:ext cx="217" cy="668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98" name="Rectangle 216"/>
            <p:cNvSpPr>
              <a:spLocks noChangeArrowheads="1"/>
            </p:cNvSpPr>
            <p:nvPr/>
          </p:nvSpPr>
          <p:spPr bwMode="auto">
            <a:xfrm rot="5400000">
              <a:off x="2022" y="2237"/>
              <a:ext cx="217" cy="668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99" name="Rectangle 217"/>
            <p:cNvSpPr>
              <a:spLocks noChangeArrowheads="1"/>
            </p:cNvSpPr>
            <p:nvPr/>
          </p:nvSpPr>
          <p:spPr bwMode="auto">
            <a:xfrm rot="5400000">
              <a:off x="2797" y="2237"/>
              <a:ext cx="217" cy="668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700" name="Rectangle 218"/>
            <p:cNvSpPr>
              <a:spLocks noChangeArrowheads="1"/>
            </p:cNvSpPr>
            <p:nvPr/>
          </p:nvSpPr>
          <p:spPr bwMode="auto">
            <a:xfrm rot="5400000">
              <a:off x="3597" y="2237"/>
              <a:ext cx="217" cy="668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701" name="Rectangle 219"/>
            <p:cNvSpPr>
              <a:spLocks noChangeArrowheads="1"/>
            </p:cNvSpPr>
            <p:nvPr/>
          </p:nvSpPr>
          <p:spPr bwMode="auto">
            <a:xfrm rot="5400000">
              <a:off x="4372" y="2237"/>
              <a:ext cx="217" cy="668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702" name="Rectangle 220"/>
            <p:cNvSpPr>
              <a:spLocks noChangeArrowheads="1"/>
            </p:cNvSpPr>
            <p:nvPr/>
          </p:nvSpPr>
          <p:spPr bwMode="auto">
            <a:xfrm rot="5400000">
              <a:off x="5163" y="2237"/>
              <a:ext cx="217" cy="668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703" name="Rectangle 221"/>
            <p:cNvSpPr>
              <a:spLocks noChangeArrowheads="1"/>
            </p:cNvSpPr>
            <p:nvPr/>
          </p:nvSpPr>
          <p:spPr bwMode="auto">
            <a:xfrm rot="5400000">
              <a:off x="5938" y="2237"/>
              <a:ext cx="217" cy="668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26704" name="AutoShape 222"/>
            <p:cNvCxnSpPr>
              <a:cxnSpLocks noChangeShapeType="1"/>
            </p:cNvCxnSpPr>
            <p:nvPr/>
          </p:nvCxnSpPr>
          <p:spPr bwMode="auto">
            <a:xfrm>
              <a:off x="1819" y="3043"/>
              <a:ext cx="0" cy="203"/>
            </a:xfrm>
            <a:prstGeom prst="straightConnector1">
              <a:avLst/>
            </a:prstGeom>
            <a:noFill/>
            <a:ln w="19050">
              <a:solidFill>
                <a:srgbClr val="C0C0C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6705" name="AutoShape 223"/>
            <p:cNvCxnSpPr>
              <a:cxnSpLocks noChangeShapeType="1"/>
            </p:cNvCxnSpPr>
            <p:nvPr/>
          </p:nvCxnSpPr>
          <p:spPr bwMode="auto">
            <a:xfrm>
              <a:off x="1820" y="3400"/>
              <a:ext cx="0" cy="124"/>
            </a:xfrm>
            <a:prstGeom prst="straightConnector1">
              <a:avLst/>
            </a:prstGeom>
            <a:noFill/>
            <a:ln w="19050">
              <a:solidFill>
                <a:srgbClr val="C0C0C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6706" name="AutoShape 224"/>
            <p:cNvCxnSpPr>
              <a:cxnSpLocks noChangeShapeType="1"/>
            </p:cNvCxnSpPr>
            <p:nvPr/>
          </p:nvCxnSpPr>
          <p:spPr bwMode="auto">
            <a:xfrm>
              <a:off x="2929" y="3043"/>
              <a:ext cx="0" cy="203"/>
            </a:xfrm>
            <a:prstGeom prst="straightConnector1">
              <a:avLst/>
            </a:prstGeom>
            <a:noFill/>
            <a:ln w="19050">
              <a:solidFill>
                <a:srgbClr val="C0C0C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6707" name="AutoShape 225"/>
            <p:cNvCxnSpPr>
              <a:cxnSpLocks noChangeShapeType="1"/>
            </p:cNvCxnSpPr>
            <p:nvPr/>
          </p:nvCxnSpPr>
          <p:spPr bwMode="auto">
            <a:xfrm>
              <a:off x="2929" y="3400"/>
              <a:ext cx="0" cy="124"/>
            </a:xfrm>
            <a:prstGeom prst="straightConnector1">
              <a:avLst/>
            </a:prstGeom>
            <a:noFill/>
            <a:ln w="19050">
              <a:solidFill>
                <a:srgbClr val="C0C0C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6708" name="AutoShape 226"/>
            <p:cNvCxnSpPr>
              <a:cxnSpLocks noChangeShapeType="1"/>
            </p:cNvCxnSpPr>
            <p:nvPr/>
          </p:nvCxnSpPr>
          <p:spPr bwMode="auto">
            <a:xfrm>
              <a:off x="4037" y="3043"/>
              <a:ext cx="0" cy="203"/>
            </a:xfrm>
            <a:prstGeom prst="straightConnector1">
              <a:avLst/>
            </a:prstGeom>
            <a:noFill/>
            <a:ln w="19050">
              <a:solidFill>
                <a:srgbClr val="C0C0C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6709" name="AutoShape 227"/>
            <p:cNvCxnSpPr>
              <a:cxnSpLocks noChangeShapeType="1"/>
            </p:cNvCxnSpPr>
            <p:nvPr/>
          </p:nvCxnSpPr>
          <p:spPr bwMode="auto">
            <a:xfrm>
              <a:off x="4037" y="3400"/>
              <a:ext cx="0" cy="124"/>
            </a:xfrm>
            <a:prstGeom prst="straightConnector1">
              <a:avLst/>
            </a:prstGeom>
            <a:noFill/>
            <a:ln w="19050">
              <a:solidFill>
                <a:srgbClr val="C0C0C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6710" name="AutoShape 228"/>
            <p:cNvCxnSpPr>
              <a:cxnSpLocks noChangeShapeType="1"/>
            </p:cNvCxnSpPr>
            <p:nvPr/>
          </p:nvCxnSpPr>
          <p:spPr bwMode="auto">
            <a:xfrm>
              <a:off x="5146" y="3043"/>
              <a:ext cx="0" cy="203"/>
            </a:xfrm>
            <a:prstGeom prst="straightConnector1">
              <a:avLst/>
            </a:prstGeom>
            <a:noFill/>
            <a:ln w="19050">
              <a:solidFill>
                <a:srgbClr val="C0C0C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6711" name="AutoShape 229"/>
            <p:cNvCxnSpPr>
              <a:cxnSpLocks noChangeShapeType="1"/>
            </p:cNvCxnSpPr>
            <p:nvPr/>
          </p:nvCxnSpPr>
          <p:spPr bwMode="auto">
            <a:xfrm>
              <a:off x="5147" y="3400"/>
              <a:ext cx="0" cy="124"/>
            </a:xfrm>
            <a:prstGeom prst="straightConnector1">
              <a:avLst/>
            </a:prstGeom>
            <a:noFill/>
            <a:ln w="19050">
              <a:solidFill>
                <a:srgbClr val="C0C0C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6712" name="AutoShape 230"/>
            <p:cNvCxnSpPr>
              <a:cxnSpLocks noChangeShapeType="1"/>
            </p:cNvCxnSpPr>
            <p:nvPr/>
          </p:nvCxnSpPr>
          <p:spPr bwMode="auto">
            <a:xfrm>
              <a:off x="6256" y="3400"/>
              <a:ext cx="0" cy="124"/>
            </a:xfrm>
            <a:prstGeom prst="straightConnector1">
              <a:avLst/>
            </a:prstGeom>
            <a:noFill/>
            <a:ln w="19050">
              <a:solidFill>
                <a:srgbClr val="C0C0C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grpSp>
          <p:nvGrpSpPr>
            <p:cNvPr id="26713" name="Group 231"/>
            <p:cNvGrpSpPr>
              <a:grpSpLocks/>
            </p:cNvGrpSpPr>
            <p:nvPr/>
          </p:nvGrpSpPr>
          <p:grpSpPr bwMode="auto">
            <a:xfrm>
              <a:off x="235" y="2696"/>
              <a:ext cx="666" cy="136"/>
              <a:chOff x="4428" y="1050"/>
              <a:chExt cx="679" cy="136"/>
            </a:xfrm>
          </p:grpSpPr>
          <p:sp>
            <p:nvSpPr>
              <p:cNvPr id="26840" name="Rectangle 232"/>
              <p:cNvSpPr>
                <a:spLocks noChangeArrowheads="1"/>
              </p:cNvSpPr>
              <p:nvPr/>
            </p:nvSpPr>
            <p:spPr bwMode="auto">
              <a:xfrm rot="5400000">
                <a:off x="4700" y="906"/>
                <a:ext cx="136" cy="423"/>
              </a:xfrm>
              <a:prstGeom prst="rect">
                <a:avLst/>
              </a:prstGeom>
              <a:solidFill>
                <a:srgbClr val="FF9900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rot="10800000" vert="eaVert" wrap="none" anchor="ctr"/>
              <a:lstStyle/>
              <a:p>
                <a:pPr algn="ctr"/>
                <a:r>
                  <a:rPr lang="en-US" sz="1200" b="1">
                    <a:solidFill>
                      <a:schemeClr val="bg1"/>
                    </a:solidFill>
                    <a:latin typeface="Arial" charset="0"/>
                    <a:cs typeface="Arial" charset="0"/>
                  </a:rPr>
                  <a:t>Texture</a:t>
                </a:r>
              </a:p>
            </p:txBody>
          </p:sp>
          <p:grpSp>
            <p:nvGrpSpPr>
              <p:cNvPr id="26841" name="Group 233"/>
              <p:cNvGrpSpPr>
                <a:grpSpLocks/>
              </p:cNvGrpSpPr>
              <p:nvPr/>
            </p:nvGrpSpPr>
            <p:grpSpPr bwMode="auto">
              <a:xfrm>
                <a:off x="4428" y="1050"/>
                <a:ext cx="133" cy="134"/>
                <a:chOff x="4771" y="466"/>
                <a:chExt cx="229" cy="173"/>
              </a:xfrm>
            </p:grpSpPr>
            <p:sp>
              <p:nvSpPr>
                <p:cNvPr id="26848" name="Rectangle 234"/>
                <p:cNvSpPr>
                  <a:spLocks noChangeArrowheads="1"/>
                </p:cNvSpPr>
                <p:nvPr/>
              </p:nvSpPr>
              <p:spPr bwMode="auto">
                <a:xfrm>
                  <a:off x="4771" y="466"/>
                  <a:ext cx="115" cy="173"/>
                </a:xfrm>
                <a:prstGeom prst="rect">
                  <a:avLst/>
                </a:prstGeom>
                <a:solidFill>
                  <a:srgbClr val="3366FF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27432" rIns="0" bIns="0"/>
                <a:lstStyle/>
                <a:p>
                  <a:pPr algn="ctr"/>
                  <a:endParaRPr lang="en-US" sz="700" b="1">
                    <a:solidFill>
                      <a:schemeClr val="bg1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6849" name="Line 235"/>
                <p:cNvSpPr>
                  <a:spLocks noChangeShapeType="1"/>
                </p:cNvSpPr>
                <p:nvPr/>
              </p:nvSpPr>
              <p:spPr bwMode="auto">
                <a:xfrm>
                  <a:off x="4771" y="553"/>
                  <a:ext cx="115" cy="0"/>
                </a:xfrm>
                <a:prstGeom prst="line">
                  <a:avLst/>
                </a:prstGeom>
                <a:noFill/>
                <a:ln w="9525" cap="rnd">
                  <a:solidFill>
                    <a:schemeClr val="bg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lIns="0" tIns="27432" rIns="0" bIns="0"/>
                <a:lstStyle/>
                <a:p>
                  <a:endParaRPr lang="en-US"/>
                </a:p>
              </p:txBody>
            </p:sp>
            <p:grpSp>
              <p:nvGrpSpPr>
                <p:cNvPr id="26850" name="Group 236"/>
                <p:cNvGrpSpPr>
                  <a:grpSpLocks/>
                </p:cNvGrpSpPr>
                <p:nvPr/>
              </p:nvGrpSpPr>
              <p:grpSpPr bwMode="auto">
                <a:xfrm>
                  <a:off x="4885" y="466"/>
                  <a:ext cx="115" cy="173"/>
                  <a:chOff x="2457" y="566"/>
                  <a:chExt cx="102" cy="204"/>
                </a:xfrm>
              </p:grpSpPr>
              <p:sp>
                <p:nvSpPr>
                  <p:cNvPr id="26851" name="Rectangle 237"/>
                  <p:cNvSpPr>
                    <a:spLocks noChangeArrowheads="1"/>
                  </p:cNvSpPr>
                  <p:nvPr/>
                </p:nvSpPr>
                <p:spPr bwMode="auto">
                  <a:xfrm>
                    <a:off x="2457" y="566"/>
                    <a:ext cx="102" cy="204"/>
                  </a:xfrm>
                  <a:prstGeom prst="rect">
                    <a:avLst/>
                  </a:prstGeom>
                  <a:solidFill>
                    <a:srgbClr val="3366FF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0" tIns="27432" rIns="0" bIns="0"/>
                  <a:lstStyle/>
                  <a:p>
                    <a:pPr algn="ctr"/>
                    <a:endParaRPr lang="en-US" sz="700" b="1"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26852" name="Line 238"/>
                  <p:cNvSpPr>
                    <a:spLocks noChangeShapeType="1"/>
                  </p:cNvSpPr>
                  <p:nvPr/>
                </p:nvSpPr>
                <p:spPr bwMode="auto">
                  <a:xfrm>
                    <a:off x="2457" y="668"/>
                    <a:ext cx="102" cy="0"/>
                  </a:xfrm>
                  <a:prstGeom prst="line">
                    <a:avLst/>
                  </a:prstGeom>
                  <a:noFill/>
                  <a:ln w="9525" cap="rnd">
                    <a:solidFill>
                      <a:schemeClr val="bg1"/>
                    </a:solidFill>
                    <a:prstDash val="sysDot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27432" rIns="0" bIns="0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26842" name="Group 239"/>
              <p:cNvGrpSpPr>
                <a:grpSpLocks/>
              </p:cNvGrpSpPr>
              <p:nvPr/>
            </p:nvGrpSpPr>
            <p:grpSpPr bwMode="auto">
              <a:xfrm>
                <a:off x="4974" y="1050"/>
                <a:ext cx="133" cy="135"/>
                <a:chOff x="4771" y="466"/>
                <a:chExt cx="229" cy="173"/>
              </a:xfrm>
            </p:grpSpPr>
            <p:sp>
              <p:nvSpPr>
                <p:cNvPr id="26843" name="Rectangle 240"/>
                <p:cNvSpPr>
                  <a:spLocks noChangeArrowheads="1"/>
                </p:cNvSpPr>
                <p:nvPr/>
              </p:nvSpPr>
              <p:spPr bwMode="auto">
                <a:xfrm>
                  <a:off x="4771" y="466"/>
                  <a:ext cx="115" cy="173"/>
                </a:xfrm>
                <a:prstGeom prst="rect">
                  <a:avLst/>
                </a:prstGeom>
                <a:solidFill>
                  <a:srgbClr val="3366FF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27432" rIns="0" bIns="0"/>
                <a:lstStyle/>
                <a:p>
                  <a:pPr algn="ctr"/>
                  <a:endParaRPr lang="en-US" sz="700" b="1">
                    <a:solidFill>
                      <a:schemeClr val="bg1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6844" name="Line 241"/>
                <p:cNvSpPr>
                  <a:spLocks noChangeShapeType="1"/>
                </p:cNvSpPr>
                <p:nvPr/>
              </p:nvSpPr>
              <p:spPr bwMode="auto">
                <a:xfrm>
                  <a:off x="4771" y="553"/>
                  <a:ext cx="115" cy="0"/>
                </a:xfrm>
                <a:prstGeom prst="line">
                  <a:avLst/>
                </a:prstGeom>
                <a:noFill/>
                <a:ln w="9525" cap="rnd">
                  <a:solidFill>
                    <a:schemeClr val="bg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lIns="0" tIns="27432" rIns="0" bIns="0"/>
                <a:lstStyle/>
                <a:p>
                  <a:endParaRPr lang="en-US"/>
                </a:p>
              </p:txBody>
            </p:sp>
            <p:grpSp>
              <p:nvGrpSpPr>
                <p:cNvPr id="26845" name="Group 242"/>
                <p:cNvGrpSpPr>
                  <a:grpSpLocks/>
                </p:cNvGrpSpPr>
                <p:nvPr/>
              </p:nvGrpSpPr>
              <p:grpSpPr bwMode="auto">
                <a:xfrm>
                  <a:off x="4885" y="466"/>
                  <a:ext cx="115" cy="173"/>
                  <a:chOff x="2457" y="566"/>
                  <a:chExt cx="102" cy="204"/>
                </a:xfrm>
              </p:grpSpPr>
              <p:sp>
                <p:nvSpPr>
                  <p:cNvPr id="26846" name="Rectangle 243"/>
                  <p:cNvSpPr>
                    <a:spLocks noChangeArrowheads="1"/>
                  </p:cNvSpPr>
                  <p:nvPr/>
                </p:nvSpPr>
                <p:spPr bwMode="auto">
                  <a:xfrm>
                    <a:off x="2457" y="566"/>
                    <a:ext cx="102" cy="204"/>
                  </a:xfrm>
                  <a:prstGeom prst="rect">
                    <a:avLst/>
                  </a:prstGeom>
                  <a:solidFill>
                    <a:srgbClr val="3366FF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0" tIns="27432" rIns="0" bIns="0"/>
                  <a:lstStyle/>
                  <a:p>
                    <a:pPr algn="ctr"/>
                    <a:endParaRPr lang="en-US" sz="700" b="1"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26847" name="Line 244"/>
                  <p:cNvSpPr>
                    <a:spLocks noChangeShapeType="1"/>
                  </p:cNvSpPr>
                  <p:nvPr/>
                </p:nvSpPr>
                <p:spPr bwMode="auto">
                  <a:xfrm>
                    <a:off x="2457" y="668"/>
                    <a:ext cx="102" cy="0"/>
                  </a:xfrm>
                  <a:prstGeom prst="line">
                    <a:avLst/>
                  </a:prstGeom>
                  <a:noFill/>
                  <a:ln w="9525" cap="rnd">
                    <a:solidFill>
                      <a:schemeClr val="bg1"/>
                    </a:solidFill>
                    <a:prstDash val="sysDot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27432" rIns="0" bIns="0"/>
                  <a:lstStyle/>
                  <a:p>
                    <a:endParaRPr lang="en-US"/>
                  </a:p>
                </p:txBody>
              </p:sp>
            </p:grpSp>
          </p:grpSp>
        </p:grpSp>
        <p:grpSp>
          <p:nvGrpSpPr>
            <p:cNvPr id="26714" name="Group 245"/>
            <p:cNvGrpSpPr>
              <a:grpSpLocks/>
            </p:cNvGrpSpPr>
            <p:nvPr/>
          </p:nvGrpSpPr>
          <p:grpSpPr bwMode="auto">
            <a:xfrm>
              <a:off x="1011" y="2696"/>
              <a:ext cx="666" cy="136"/>
              <a:chOff x="4428" y="1050"/>
              <a:chExt cx="679" cy="136"/>
            </a:xfrm>
          </p:grpSpPr>
          <p:sp>
            <p:nvSpPr>
              <p:cNvPr id="26827" name="Rectangle 246"/>
              <p:cNvSpPr>
                <a:spLocks noChangeArrowheads="1"/>
              </p:cNvSpPr>
              <p:nvPr/>
            </p:nvSpPr>
            <p:spPr bwMode="auto">
              <a:xfrm rot="5400000">
                <a:off x="4700" y="906"/>
                <a:ext cx="136" cy="423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rot="10800000" vert="eaVert" wrap="none" anchor="ctr"/>
              <a:lstStyle/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Arial" charset="0"/>
                    <a:cs typeface="Arial" charset="0"/>
                  </a:rPr>
                  <a:t>Texture</a:t>
                </a:r>
              </a:p>
            </p:txBody>
          </p:sp>
          <p:grpSp>
            <p:nvGrpSpPr>
              <p:cNvPr id="26828" name="Group 247"/>
              <p:cNvGrpSpPr>
                <a:grpSpLocks/>
              </p:cNvGrpSpPr>
              <p:nvPr/>
            </p:nvGrpSpPr>
            <p:grpSpPr bwMode="auto">
              <a:xfrm>
                <a:off x="4428" y="1050"/>
                <a:ext cx="133" cy="134"/>
                <a:chOff x="4771" y="466"/>
                <a:chExt cx="229" cy="173"/>
              </a:xfrm>
            </p:grpSpPr>
            <p:sp>
              <p:nvSpPr>
                <p:cNvPr id="26835" name="Rectangle 248"/>
                <p:cNvSpPr>
                  <a:spLocks noChangeArrowheads="1"/>
                </p:cNvSpPr>
                <p:nvPr/>
              </p:nvSpPr>
              <p:spPr bwMode="auto">
                <a:xfrm>
                  <a:off x="4771" y="466"/>
                  <a:ext cx="115" cy="173"/>
                </a:xfrm>
                <a:prstGeom prst="rect">
                  <a:avLst/>
                </a:prstGeom>
                <a:solidFill>
                  <a:srgbClr val="3366CC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27432" rIns="0" bIns="0"/>
                <a:lstStyle/>
                <a:p>
                  <a:pPr algn="ctr"/>
                  <a:endParaRPr lang="en-US" sz="600" b="1">
                    <a:solidFill>
                      <a:schemeClr val="bg1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6836" name="Line 249"/>
                <p:cNvSpPr>
                  <a:spLocks noChangeShapeType="1"/>
                </p:cNvSpPr>
                <p:nvPr/>
              </p:nvSpPr>
              <p:spPr bwMode="auto">
                <a:xfrm>
                  <a:off x="4771" y="553"/>
                  <a:ext cx="115" cy="0"/>
                </a:xfrm>
                <a:prstGeom prst="line">
                  <a:avLst/>
                </a:prstGeom>
                <a:noFill/>
                <a:ln w="9525" cap="rnd">
                  <a:solidFill>
                    <a:schemeClr val="bg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lIns="0" tIns="27432" rIns="0" bIns="0"/>
                <a:lstStyle/>
                <a:p>
                  <a:endParaRPr lang="en-US"/>
                </a:p>
              </p:txBody>
            </p:sp>
            <p:grpSp>
              <p:nvGrpSpPr>
                <p:cNvPr id="26837" name="Group 250"/>
                <p:cNvGrpSpPr>
                  <a:grpSpLocks/>
                </p:cNvGrpSpPr>
                <p:nvPr/>
              </p:nvGrpSpPr>
              <p:grpSpPr bwMode="auto">
                <a:xfrm>
                  <a:off x="4885" y="466"/>
                  <a:ext cx="115" cy="173"/>
                  <a:chOff x="2457" y="566"/>
                  <a:chExt cx="102" cy="204"/>
                </a:xfrm>
              </p:grpSpPr>
              <p:sp>
                <p:nvSpPr>
                  <p:cNvPr id="26838" name="Rectangle 251"/>
                  <p:cNvSpPr>
                    <a:spLocks noChangeArrowheads="1"/>
                  </p:cNvSpPr>
                  <p:nvPr/>
                </p:nvSpPr>
                <p:spPr bwMode="auto">
                  <a:xfrm>
                    <a:off x="2457" y="566"/>
                    <a:ext cx="102" cy="204"/>
                  </a:xfrm>
                  <a:prstGeom prst="rect">
                    <a:avLst/>
                  </a:prstGeom>
                  <a:solidFill>
                    <a:srgbClr val="3366CC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0" tIns="27432" rIns="0" bIns="0"/>
                  <a:lstStyle/>
                  <a:p>
                    <a:pPr algn="ctr"/>
                    <a:endParaRPr lang="en-US" sz="600" b="1">
                      <a:solidFill>
                        <a:schemeClr val="bg1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26839" name="Line 252"/>
                  <p:cNvSpPr>
                    <a:spLocks noChangeShapeType="1"/>
                  </p:cNvSpPr>
                  <p:nvPr/>
                </p:nvSpPr>
                <p:spPr bwMode="auto">
                  <a:xfrm>
                    <a:off x="2457" y="668"/>
                    <a:ext cx="102" cy="0"/>
                  </a:xfrm>
                  <a:prstGeom prst="line">
                    <a:avLst/>
                  </a:prstGeom>
                  <a:noFill/>
                  <a:ln w="9525" cap="rnd">
                    <a:solidFill>
                      <a:schemeClr val="bg1"/>
                    </a:solidFill>
                    <a:prstDash val="sysDot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27432" rIns="0" bIns="0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26829" name="Group 253"/>
              <p:cNvGrpSpPr>
                <a:grpSpLocks/>
              </p:cNvGrpSpPr>
              <p:nvPr/>
            </p:nvGrpSpPr>
            <p:grpSpPr bwMode="auto">
              <a:xfrm>
                <a:off x="4974" y="1050"/>
                <a:ext cx="133" cy="135"/>
                <a:chOff x="4771" y="466"/>
                <a:chExt cx="229" cy="173"/>
              </a:xfrm>
            </p:grpSpPr>
            <p:sp>
              <p:nvSpPr>
                <p:cNvPr id="26830" name="Rectangle 254"/>
                <p:cNvSpPr>
                  <a:spLocks noChangeArrowheads="1"/>
                </p:cNvSpPr>
                <p:nvPr/>
              </p:nvSpPr>
              <p:spPr bwMode="auto">
                <a:xfrm>
                  <a:off x="4771" y="466"/>
                  <a:ext cx="115" cy="173"/>
                </a:xfrm>
                <a:prstGeom prst="rect">
                  <a:avLst/>
                </a:prstGeom>
                <a:solidFill>
                  <a:srgbClr val="3366CC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27432" rIns="0" bIns="0"/>
                <a:lstStyle/>
                <a:p>
                  <a:pPr algn="ctr"/>
                  <a:endParaRPr lang="en-US" sz="600" b="1">
                    <a:solidFill>
                      <a:schemeClr val="bg1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6831" name="Line 255"/>
                <p:cNvSpPr>
                  <a:spLocks noChangeShapeType="1"/>
                </p:cNvSpPr>
                <p:nvPr/>
              </p:nvSpPr>
              <p:spPr bwMode="auto">
                <a:xfrm>
                  <a:off x="4771" y="553"/>
                  <a:ext cx="115" cy="0"/>
                </a:xfrm>
                <a:prstGeom prst="line">
                  <a:avLst/>
                </a:prstGeom>
                <a:noFill/>
                <a:ln w="9525" cap="rnd">
                  <a:solidFill>
                    <a:schemeClr val="bg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lIns="0" tIns="27432" rIns="0" bIns="0"/>
                <a:lstStyle/>
                <a:p>
                  <a:endParaRPr lang="en-US"/>
                </a:p>
              </p:txBody>
            </p:sp>
            <p:grpSp>
              <p:nvGrpSpPr>
                <p:cNvPr id="26832" name="Group 256"/>
                <p:cNvGrpSpPr>
                  <a:grpSpLocks/>
                </p:cNvGrpSpPr>
                <p:nvPr/>
              </p:nvGrpSpPr>
              <p:grpSpPr bwMode="auto">
                <a:xfrm>
                  <a:off x="4885" y="466"/>
                  <a:ext cx="115" cy="173"/>
                  <a:chOff x="2457" y="566"/>
                  <a:chExt cx="102" cy="204"/>
                </a:xfrm>
              </p:grpSpPr>
              <p:sp>
                <p:nvSpPr>
                  <p:cNvPr id="26833" name="Rectangle 257"/>
                  <p:cNvSpPr>
                    <a:spLocks noChangeArrowheads="1"/>
                  </p:cNvSpPr>
                  <p:nvPr/>
                </p:nvSpPr>
                <p:spPr bwMode="auto">
                  <a:xfrm>
                    <a:off x="2457" y="566"/>
                    <a:ext cx="102" cy="204"/>
                  </a:xfrm>
                  <a:prstGeom prst="rect">
                    <a:avLst/>
                  </a:prstGeom>
                  <a:solidFill>
                    <a:srgbClr val="3366CC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0" tIns="27432" rIns="0" bIns="0"/>
                  <a:lstStyle/>
                  <a:p>
                    <a:pPr algn="ctr"/>
                    <a:endParaRPr lang="en-US" sz="600" b="1">
                      <a:solidFill>
                        <a:schemeClr val="bg1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26834" name="Line 258"/>
                  <p:cNvSpPr>
                    <a:spLocks noChangeShapeType="1"/>
                  </p:cNvSpPr>
                  <p:nvPr/>
                </p:nvSpPr>
                <p:spPr bwMode="auto">
                  <a:xfrm>
                    <a:off x="2457" y="668"/>
                    <a:ext cx="102" cy="0"/>
                  </a:xfrm>
                  <a:prstGeom prst="line">
                    <a:avLst/>
                  </a:prstGeom>
                  <a:noFill/>
                  <a:ln w="9525" cap="rnd">
                    <a:solidFill>
                      <a:schemeClr val="bg1"/>
                    </a:solidFill>
                    <a:prstDash val="sysDot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27432" rIns="0" bIns="0"/>
                  <a:lstStyle/>
                  <a:p>
                    <a:endParaRPr lang="en-US"/>
                  </a:p>
                </p:txBody>
              </p:sp>
            </p:grpSp>
          </p:grpSp>
        </p:grpSp>
        <p:grpSp>
          <p:nvGrpSpPr>
            <p:cNvPr id="26715" name="Group 259"/>
            <p:cNvGrpSpPr>
              <a:grpSpLocks/>
            </p:cNvGrpSpPr>
            <p:nvPr/>
          </p:nvGrpSpPr>
          <p:grpSpPr bwMode="auto">
            <a:xfrm>
              <a:off x="1800" y="2696"/>
              <a:ext cx="666" cy="136"/>
              <a:chOff x="4428" y="1050"/>
              <a:chExt cx="679" cy="136"/>
            </a:xfrm>
          </p:grpSpPr>
          <p:sp>
            <p:nvSpPr>
              <p:cNvPr id="26814" name="Rectangle 260"/>
              <p:cNvSpPr>
                <a:spLocks noChangeArrowheads="1"/>
              </p:cNvSpPr>
              <p:nvPr/>
            </p:nvSpPr>
            <p:spPr bwMode="auto">
              <a:xfrm rot="5400000">
                <a:off x="4700" y="906"/>
                <a:ext cx="136" cy="423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rot="10800000" vert="eaVert" wrap="none" anchor="ctr"/>
              <a:lstStyle/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Arial" charset="0"/>
                    <a:cs typeface="Arial" charset="0"/>
                  </a:rPr>
                  <a:t>Texture</a:t>
                </a:r>
              </a:p>
            </p:txBody>
          </p:sp>
          <p:grpSp>
            <p:nvGrpSpPr>
              <p:cNvPr id="26815" name="Group 261"/>
              <p:cNvGrpSpPr>
                <a:grpSpLocks/>
              </p:cNvGrpSpPr>
              <p:nvPr/>
            </p:nvGrpSpPr>
            <p:grpSpPr bwMode="auto">
              <a:xfrm>
                <a:off x="4428" y="1050"/>
                <a:ext cx="133" cy="134"/>
                <a:chOff x="4771" y="466"/>
                <a:chExt cx="229" cy="173"/>
              </a:xfrm>
            </p:grpSpPr>
            <p:sp>
              <p:nvSpPr>
                <p:cNvPr id="26822" name="Rectangle 262"/>
                <p:cNvSpPr>
                  <a:spLocks noChangeArrowheads="1"/>
                </p:cNvSpPr>
                <p:nvPr/>
              </p:nvSpPr>
              <p:spPr bwMode="auto">
                <a:xfrm>
                  <a:off x="4771" y="466"/>
                  <a:ext cx="115" cy="173"/>
                </a:xfrm>
                <a:prstGeom prst="rect">
                  <a:avLst/>
                </a:prstGeom>
                <a:solidFill>
                  <a:srgbClr val="3366CC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27432" rIns="0" bIns="0"/>
                <a:lstStyle/>
                <a:p>
                  <a:pPr algn="ctr"/>
                  <a:endParaRPr lang="en-US" sz="600" b="1">
                    <a:solidFill>
                      <a:schemeClr val="bg1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6823" name="Line 263"/>
                <p:cNvSpPr>
                  <a:spLocks noChangeShapeType="1"/>
                </p:cNvSpPr>
                <p:nvPr/>
              </p:nvSpPr>
              <p:spPr bwMode="auto">
                <a:xfrm>
                  <a:off x="4771" y="553"/>
                  <a:ext cx="115" cy="0"/>
                </a:xfrm>
                <a:prstGeom prst="line">
                  <a:avLst/>
                </a:prstGeom>
                <a:noFill/>
                <a:ln w="9525" cap="rnd">
                  <a:solidFill>
                    <a:schemeClr val="bg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lIns="0" tIns="27432" rIns="0" bIns="0"/>
                <a:lstStyle/>
                <a:p>
                  <a:endParaRPr lang="en-US"/>
                </a:p>
              </p:txBody>
            </p:sp>
            <p:grpSp>
              <p:nvGrpSpPr>
                <p:cNvPr id="26824" name="Group 264"/>
                <p:cNvGrpSpPr>
                  <a:grpSpLocks/>
                </p:cNvGrpSpPr>
                <p:nvPr/>
              </p:nvGrpSpPr>
              <p:grpSpPr bwMode="auto">
                <a:xfrm>
                  <a:off x="4885" y="466"/>
                  <a:ext cx="115" cy="173"/>
                  <a:chOff x="2457" y="566"/>
                  <a:chExt cx="102" cy="204"/>
                </a:xfrm>
              </p:grpSpPr>
              <p:sp>
                <p:nvSpPr>
                  <p:cNvPr id="26825" name="Rectangle 265"/>
                  <p:cNvSpPr>
                    <a:spLocks noChangeArrowheads="1"/>
                  </p:cNvSpPr>
                  <p:nvPr/>
                </p:nvSpPr>
                <p:spPr bwMode="auto">
                  <a:xfrm>
                    <a:off x="2457" y="566"/>
                    <a:ext cx="102" cy="204"/>
                  </a:xfrm>
                  <a:prstGeom prst="rect">
                    <a:avLst/>
                  </a:prstGeom>
                  <a:solidFill>
                    <a:srgbClr val="3366CC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0" tIns="27432" rIns="0" bIns="0"/>
                  <a:lstStyle/>
                  <a:p>
                    <a:pPr algn="ctr"/>
                    <a:endParaRPr lang="en-US" sz="600" b="1">
                      <a:solidFill>
                        <a:schemeClr val="bg1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26826" name="Line 266"/>
                  <p:cNvSpPr>
                    <a:spLocks noChangeShapeType="1"/>
                  </p:cNvSpPr>
                  <p:nvPr/>
                </p:nvSpPr>
                <p:spPr bwMode="auto">
                  <a:xfrm>
                    <a:off x="2457" y="668"/>
                    <a:ext cx="102" cy="0"/>
                  </a:xfrm>
                  <a:prstGeom prst="line">
                    <a:avLst/>
                  </a:prstGeom>
                  <a:noFill/>
                  <a:ln w="9525" cap="rnd">
                    <a:solidFill>
                      <a:schemeClr val="bg1"/>
                    </a:solidFill>
                    <a:prstDash val="sysDot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27432" rIns="0" bIns="0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26816" name="Group 267"/>
              <p:cNvGrpSpPr>
                <a:grpSpLocks/>
              </p:cNvGrpSpPr>
              <p:nvPr/>
            </p:nvGrpSpPr>
            <p:grpSpPr bwMode="auto">
              <a:xfrm>
                <a:off x="4974" y="1050"/>
                <a:ext cx="133" cy="135"/>
                <a:chOff x="4771" y="466"/>
                <a:chExt cx="229" cy="173"/>
              </a:xfrm>
            </p:grpSpPr>
            <p:sp>
              <p:nvSpPr>
                <p:cNvPr id="26817" name="Rectangle 268"/>
                <p:cNvSpPr>
                  <a:spLocks noChangeArrowheads="1"/>
                </p:cNvSpPr>
                <p:nvPr/>
              </p:nvSpPr>
              <p:spPr bwMode="auto">
                <a:xfrm>
                  <a:off x="4771" y="466"/>
                  <a:ext cx="115" cy="173"/>
                </a:xfrm>
                <a:prstGeom prst="rect">
                  <a:avLst/>
                </a:prstGeom>
                <a:solidFill>
                  <a:srgbClr val="3366CC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27432" rIns="0" bIns="0"/>
                <a:lstStyle/>
                <a:p>
                  <a:pPr algn="ctr"/>
                  <a:endParaRPr lang="en-US" sz="600" b="1">
                    <a:solidFill>
                      <a:schemeClr val="bg1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6818" name="Line 269"/>
                <p:cNvSpPr>
                  <a:spLocks noChangeShapeType="1"/>
                </p:cNvSpPr>
                <p:nvPr/>
              </p:nvSpPr>
              <p:spPr bwMode="auto">
                <a:xfrm>
                  <a:off x="4771" y="553"/>
                  <a:ext cx="115" cy="0"/>
                </a:xfrm>
                <a:prstGeom prst="line">
                  <a:avLst/>
                </a:prstGeom>
                <a:noFill/>
                <a:ln w="9525" cap="rnd">
                  <a:solidFill>
                    <a:schemeClr val="bg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lIns="0" tIns="27432" rIns="0" bIns="0"/>
                <a:lstStyle/>
                <a:p>
                  <a:endParaRPr lang="en-US"/>
                </a:p>
              </p:txBody>
            </p:sp>
            <p:grpSp>
              <p:nvGrpSpPr>
                <p:cNvPr id="26819" name="Group 270"/>
                <p:cNvGrpSpPr>
                  <a:grpSpLocks/>
                </p:cNvGrpSpPr>
                <p:nvPr/>
              </p:nvGrpSpPr>
              <p:grpSpPr bwMode="auto">
                <a:xfrm>
                  <a:off x="4885" y="466"/>
                  <a:ext cx="115" cy="173"/>
                  <a:chOff x="2457" y="566"/>
                  <a:chExt cx="102" cy="204"/>
                </a:xfrm>
              </p:grpSpPr>
              <p:sp>
                <p:nvSpPr>
                  <p:cNvPr id="26820" name="Rectangle 271"/>
                  <p:cNvSpPr>
                    <a:spLocks noChangeArrowheads="1"/>
                  </p:cNvSpPr>
                  <p:nvPr/>
                </p:nvSpPr>
                <p:spPr bwMode="auto">
                  <a:xfrm>
                    <a:off x="2457" y="566"/>
                    <a:ext cx="102" cy="204"/>
                  </a:xfrm>
                  <a:prstGeom prst="rect">
                    <a:avLst/>
                  </a:prstGeom>
                  <a:solidFill>
                    <a:srgbClr val="3366CC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0" tIns="27432" rIns="0" bIns="0"/>
                  <a:lstStyle/>
                  <a:p>
                    <a:pPr algn="ctr"/>
                    <a:endParaRPr lang="en-US" sz="600" b="1">
                      <a:solidFill>
                        <a:schemeClr val="bg1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26821" name="Line 272"/>
                  <p:cNvSpPr>
                    <a:spLocks noChangeShapeType="1"/>
                  </p:cNvSpPr>
                  <p:nvPr/>
                </p:nvSpPr>
                <p:spPr bwMode="auto">
                  <a:xfrm>
                    <a:off x="2457" y="668"/>
                    <a:ext cx="102" cy="0"/>
                  </a:xfrm>
                  <a:prstGeom prst="line">
                    <a:avLst/>
                  </a:prstGeom>
                  <a:noFill/>
                  <a:ln w="9525" cap="rnd">
                    <a:solidFill>
                      <a:schemeClr val="bg1"/>
                    </a:solidFill>
                    <a:prstDash val="sysDot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27432" rIns="0" bIns="0"/>
                  <a:lstStyle/>
                  <a:p>
                    <a:endParaRPr lang="en-US"/>
                  </a:p>
                </p:txBody>
              </p:sp>
            </p:grpSp>
          </p:grpSp>
        </p:grpSp>
        <p:grpSp>
          <p:nvGrpSpPr>
            <p:cNvPr id="26716" name="Group 273"/>
            <p:cNvGrpSpPr>
              <a:grpSpLocks/>
            </p:cNvGrpSpPr>
            <p:nvPr/>
          </p:nvGrpSpPr>
          <p:grpSpPr bwMode="auto">
            <a:xfrm>
              <a:off x="2571" y="2696"/>
              <a:ext cx="666" cy="136"/>
              <a:chOff x="4428" y="1050"/>
              <a:chExt cx="679" cy="136"/>
            </a:xfrm>
          </p:grpSpPr>
          <p:sp>
            <p:nvSpPr>
              <p:cNvPr id="26801" name="Rectangle 274"/>
              <p:cNvSpPr>
                <a:spLocks noChangeArrowheads="1"/>
              </p:cNvSpPr>
              <p:nvPr/>
            </p:nvSpPr>
            <p:spPr bwMode="auto">
              <a:xfrm rot="5400000">
                <a:off x="4700" y="906"/>
                <a:ext cx="136" cy="423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rot="10800000" vert="eaVert" wrap="none" anchor="ctr"/>
              <a:lstStyle/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Arial" charset="0"/>
                    <a:cs typeface="Arial" charset="0"/>
                  </a:rPr>
                  <a:t>Texture</a:t>
                </a:r>
              </a:p>
            </p:txBody>
          </p:sp>
          <p:grpSp>
            <p:nvGrpSpPr>
              <p:cNvPr id="26802" name="Group 275"/>
              <p:cNvGrpSpPr>
                <a:grpSpLocks/>
              </p:cNvGrpSpPr>
              <p:nvPr/>
            </p:nvGrpSpPr>
            <p:grpSpPr bwMode="auto">
              <a:xfrm>
                <a:off x="4428" y="1050"/>
                <a:ext cx="133" cy="134"/>
                <a:chOff x="4771" y="466"/>
                <a:chExt cx="229" cy="173"/>
              </a:xfrm>
            </p:grpSpPr>
            <p:sp>
              <p:nvSpPr>
                <p:cNvPr id="26809" name="Rectangle 276"/>
                <p:cNvSpPr>
                  <a:spLocks noChangeArrowheads="1"/>
                </p:cNvSpPr>
                <p:nvPr/>
              </p:nvSpPr>
              <p:spPr bwMode="auto">
                <a:xfrm>
                  <a:off x="4771" y="466"/>
                  <a:ext cx="115" cy="173"/>
                </a:xfrm>
                <a:prstGeom prst="rect">
                  <a:avLst/>
                </a:prstGeom>
                <a:solidFill>
                  <a:srgbClr val="3366CC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27432" rIns="0" bIns="0"/>
                <a:lstStyle/>
                <a:p>
                  <a:pPr algn="ctr"/>
                  <a:endParaRPr lang="en-US" sz="600" b="1">
                    <a:solidFill>
                      <a:schemeClr val="bg1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6810" name="Line 277"/>
                <p:cNvSpPr>
                  <a:spLocks noChangeShapeType="1"/>
                </p:cNvSpPr>
                <p:nvPr/>
              </p:nvSpPr>
              <p:spPr bwMode="auto">
                <a:xfrm>
                  <a:off x="4771" y="553"/>
                  <a:ext cx="115" cy="0"/>
                </a:xfrm>
                <a:prstGeom prst="line">
                  <a:avLst/>
                </a:prstGeom>
                <a:noFill/>
                <a:ln w="9525" cap="rnd">
                  <a:solidFill>
                    <a:schemeClr val="bg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lIns="0" tIns="27432" rIns="0" bIns="0"/>
                <a:lstStyle/>
                <a:p>
                  <a:endParaRPr lang="en-US"/>
                </a:p>
              </p:txBody>
            </p:sp>
            <p:grpSp>
              <p:nvGrpSpPr>
                <p:cNvPr id="26811" name="Group 278"/>
                <p:cNvGrpSpPr>
                  <a:grpSpLocks/>
                </p:cNvGrpSpPr>
                <p:nvPr/>
              </p:nvGrpSpPr>
              <p:grpSpPr bwMode="auto">
                <a:xfrm>
                  <a:off x="4885" y="466"/>
                  <a:ext cx="115" cy="173"/>
                  <a:chOff x="2457" y="566"/>
                  <a:chExt cx="102" cy="204"/>
                </a:xfrm>
              </p:grpSpPr>
              <p:sp>
                <p:nvSpPr>
                  <p:cNvPr id="26812" name="Rectangle 279"/>
                  <p:cNvSpPr>
                    <a:spLocks noChangeArrowheads="1"/>
                  </p:cNvSpPr>
                  <p:nvPr/>
                </p:nvSpPr>
                <p:spPr bwMode="auto">
                  <a:xfrm>
                    <a:off x="2457" y="566"/>
                    <a:ext cx="102" cy="204"/>
                  </a:xfrm>
                  <a:prstGeom prst="rect">
                    <a:avLst/>
                  </a:prstGeom>
                  <a:solidFill>
                    <a:srgbClr val="3366CC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0" tIns="27432" rIns="0" bIns="0"/>
                  <a:lstStyle/>
                  <a:p>
                    <a:pPr algn="ctr"/>
                    <a:endParaRPr lang="en-US" sz="600" b="1">
                      <a:solidFill>
                        <a:schemeClr val="bg1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26813" name="Line 280"/>
                  <p:cNvSpPr>
                    <a:spLocks noChangeShapeType="1"/>
                  </p:cNvSpPr>
                  <p:nvPr/>
                </p:nvSpPr>
                <p:spPr bwMode="auto">
                  <a:xfrm>
                    <a:off x="2457" y="668"/>
                    <a:ext cx="102" cy="0"/>
                  </a:xfrm>
                  <a:prstGeom prst="line">
                    <a:avLst/>
                  </a:prstGeom>
                  <a:noFill/>
                  <a:ln w="9525" cap="rnd">
                    <a:solidFill>
                      <a:schemeClr val="bg1"/>
                    </a:solidFill>
                    <a:prstDash val="sysDot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27432" rIns="0" bIns="0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26803" name="Group 281"/>
              <p:cNvGrpSpPr>
                <a:grpSpLocks/>
              </p:cNvGrpSpPr>
              <p:nvPr/>
            </p:nvGrpSpPr>
            <p:grpSpPr bwMode="auto">
              <a:xfrm>
                <a:off x="4974" y="1050"/>
                <a:ext cx="133" cy="135"/>
                <a:chOff x="4771" y="466"/>
                <a:chExt cx="229" cy="173"/>
              </a:xfrm>
            </p:grpSpPr>
            <p:sp>
              <p:nvSpPr>
                <p:cNvPr id="26804" name="Rectangle 282"/>
                <p:cNvSpPr>
                  <a:spLocks noChangeArrowheads="1"/>
                </p:cNvSpPr>
                <p:nvPr/>
              </p:nvSpPr>
              <p:spPr bwMode="auto">
                <a:xfrm>
                  <a:off x="4771" y="466"/>
                  <a:ext cx="115" cy="173"/>
                </a:xfrm>
                <a:prstGeom prst="rect">
                  <a:avLst/>
                </a:prstGeom>
                <a:solidFill>
                  <a:srgbClr val="3366CC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27432" rIns="0" bIns="0"/>
                <a:lstStyle/>
                <a:p>
                  <a:pPr algn="ctr"/>
                  <a:endParaRPr lang="en-US" sz="600" b="1">
                    <a:solidFill>
                      <a:schemeClr val="bg1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6805" name="Line 283"/>
                <p:cNvSpPr>
                  <a:spLocks noChangeShapeType="1"/>
                </p:cNvSpPr>
                <p:nvPr/>
              </p:nvSpPr>
              <p:spPr bwMode="auto">
                <a:xfrm>
                  <a:off x="4771" y="553"/>
                  <a:ext cx="115" cy="0"/>
                </a:xfrm>
                <a:prstGeom prst="line">
                  <a:avLst/>
                </a:prstGeom>
                <a:noFill/>
                <a:ln w="9525" cap="rnd">
                  <a:solidFill>
                    <a:schemeClr val="bg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lIns="0" tIns="27432" rIns="0" bIns="0"/>
                <a:lstStyle/>
                <a:p>
                  <a:endParaRPr lang="en-US"/>
                </a:p>
              </p:txBody>
            </p:sp>
            <p:grpSp>
              <p:nvGrpSpPr>
                <p:cNvPr id="26806" name="Group 284"/>
                <p:cNvGrpSpPr>
                  <a:grpSpLocks/>
                </p:cNvGrpSpPr>
                <p:nvPr/>
              </p:nvGrpSpPr>
              <p:grpSpPr bwMode="auto">
                <a:xfrm>
                  <a:off x="4885" y="466"/>
                  <a:ext cx="115" cy="173"/>
                  <a:chOff x="2457" y="566"/>
                  <a:chExt cx="102" cy="204"/>
                </a:xfrm>
              </p:grpSpPr>
              <p:sp>
                <p:nvSpPr>
                  <p:cNvPr id="26807" name="Rectangle 285"/>
                  <p:cNvSpPr>
                    <a:spLocks noChangeArrowheads="1"/>
                  </p:cNvSpPr>
                  <p:nvPr/>
                </p:nvSpPr>
                <p:spPr bwMode="auto">
                  <a:xfrm>
                    <a:off x="2457" y="566"/>
                    <a:ext cx="102" cy="204"/>
                  </a:xfrm>
                  <a:prstGeom prst="rect">
                    <a:avLst/>
                  </a:prstGeom>
                  <a:solidFill>
                    <a:srgbClr val="3366CC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0" tIns="27432" rIns="0" bIns="0"/>
                  <a:lstStyle/>
                  <a:p>
                    <a:pPr algn="ctr"/>
                    <a:endParaRPr lang="en-US" sz="600" b="1">
                      <a:solidFill>
                        <a:schemeClr val="bg1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26808" name="Line 286"/>
                  <p:cNvSpPr>
                    <a:spLocks noChangeShapeType="1"/>
                  </p:cNvSpPr>
                  <p:nvPr/>
                </p:nvSpPr>
                <p:spPr bwMode="auto">
                  <a:xfrm>
                    <a:off x="2457" y="668"/>
                    <a:ext cx="102" cy="0"/>
                  </a:xfrm>
                  <a:prstGeom prst="line">
                    <a:avLst/>
                  </a:prstGeom>
                  <a:noFill/>
                  <a:ln w="9525" cap="rnd">
                    <a:solidFill>
                      <a:schemeClr val="bg1"/>
                    </a:solidFill>
                    <a:prstDash val="sysDot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27432" rIns="0" bIns="0"/>
                  <a:lstStyle/>
                  <a:p>
                    <a:endParaRPr lang="en-US"/>
                  </a:p>
                </p:txBody>
              </p:sp>
            </p:grpSp>
          </p:grpSp>
        </p:grpSp>
        <p:grpSp>
          <p:nvGrpSpPr>
            <p:cNvPr id="26717" name="Group 287"/>
            <p:cNvGrpSpPr>
              <a:grpSpLocks/>
            </p:cNvGrpSpPr>
            <p:nvPr/>
          </p:nvGrpSpPr>
          <p:grpSpPr bwMode="auto">
            <a:xfrm>
              <a:off x="3371" y="2696"/>
              <a:ext cx="666" cy="136"/>
              <a:chOff x="4428" y="1050"/>
              <a:chExt cx="679" cy="136"/>
            </a:xfrm>
          </p:grpSpPr>
          <p:sp>
            <p:nvSpPr>
              <p:cNvPr id="26788" name="Rectangle 288"/>
              <p:cNvSpPr>
                <a:spLocks noChangeArrowheads="1"/>
              </p:cNvSpPr>
              <p:nvPr/>
            </p:nvSpPr>
            <p:spPr bwMode="auto">
              <a:xfrm rot="5400000">
                <a:off x="4700" y="906"/>
                <a:ext cx="136" cy="423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rot="10800000" vert="eaVert" wrap="none" anchor="ctr"/>
              <a:lstStyle/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Arial" charset="0"/>
                    <a:cs typeface="Arial" charset="0"/>
                  </a:rPr>
                  <a:t>Texture</a:t>
                </a:r>
              </a:p>
            </p:txBody>
          </p:sp>
          <p:grpSp>
            <p:nvGrpSpPr>
              <p:cNvPr id="26789" name="Group 289"/>
              <p:cNvGrpSpPr>
                <a:grpSpLocks/>
              </p:cNvGrpSpPr>
              <p:nvPr/>
            </p:nvGrpSpPr>
            <p:grpSpPr bwMode="auto">
              <a:xfrm>
                <a:off x="4428" y="1050"/>
                <a:ext cx="133" cy="134"/>
                <a:chOff x="4771" y="466"/>
                <a:chExt cx="229" cy="173"/>
              </a:xfrm>
            </p:grpSpPr>
            <p:sp>
              <p:nvSpPr>
                <p:cNvPr id="26796" name="Rectangle 290"/>
                <p:cNvSpPr>
                  <a:spLocks noChangeArrowheads="1"/>
                </p:cNvSpPr>
                <p:nvPr/>
              </p:nvSpPr>
              <p:spPr bwMode="auto">
                <a:xfrm>
                  <a:off x="4771" y="466"/>
                  <a:ext cx="115" cy="173"/>
                </a:xfrm>
                <a:prstGeom prst="rect">
                  <a:avLst/>
                </a:prstGeom>
                <a:solidFill>
                  <a:srgbClr val="3366CC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27432" rIns="0" bIns="0"/>
                <a:lstStyle/>
                <a:p>
                  <a:pPr algn="ctr"/>
                  <a:endParaRPr lang="en-US" sz="600" b="1">
                    <a:solidFill>
                      <a:schemeClr val="bg1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6797" name="Line 291"/>
                <p:cNvSpPr>
                  <a:spLocks noChangeShapeType="1"/>
                </p:cNvSpPr>
                <p:nvPr/>
              </p:nvSpPr>
              <p:spPr bwMode="auto">
                <a:xfrm>
                  <a:off x="4771" y="553"/>
                  <a:ext cx="115" cy="0"/>
                </a:xfrm>
                <a:prstGeom prst="line">
                  <a:avLst/>
                </a:prstGeom>
                <a:noFill/>
                <a:ln w="9525" cap="rnd">
                  <a:solidFill>
                    <a:schemeClr val="bg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lIns="0" tIns="27432" rIns="0" bIns="0"/>
                <a:lstStyle/>
                <a:p>
                  <a:endParaRPr lang="en-US"/>
                </a:p>
              </p:txBody>
            </p:sp>
            <p:grpSp>
              <p:nvGrpSpPr>
                <p:cNvPr id="26798" name="Group 292"/>
                <p:cNvGrpSpPr>
                  <a:grpSpLocks/>
                </p:cNvGrpSpPr>
                <p:nvPr/>
              </p:nvGrpSpPr>
              <p:grpSpPr bwMode="auto">
                <a:xfrm>
                  <a:off x="4885" y="466"/>
                  <a:ext cx="115" cy="173"/>
                  <a:chOff x="2457" y="566"/>
                  <a:chExt cx="102" cy="204"/>
                </a:xfrm>
              </p:grpSpPr>
              <p:sp>
                <p:nvSpPr>
                  <p:cNvPr id="26799" name="Rectangle 293"/>
                  <p:cNvSpPr>
                    <a:spLocks noChangeArrowheads="1"/>
                  </p:cNvSpPr>
                  <p:nvPr/>
                </p:nvSpPr>
                <p:spPr bwMode="auto">
                  <a:xfrm>
                    <a:off x="2457" y="566"/>
                    <a:ext cx="102" cy="204"/>
                  </a:xfrm>
                  <a:prstGeom prst="rect">
                    <a:avLst/>
                  </a:prstGeom>
                  <a:solidFill>
                    <a:srgbClr val="3366CC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0" tIns="27432" rIns="0" bIns="0"/>
                  <a:lstStyle/>
                  <a:p>
                    <a:pPr algn="ctr"/>
                    <a:endParaRPr lang="en-US" sz="600" b="1">
                      <a:solidFill>
                        <a:schemeClr val="bg1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26800" name="Line 294"/>
                  <p:cNvSpPr>
                    <a:spLocks noChangeShapeType="1"/>
                  </p:cNvSpPr>
                  <p:nvPr/>
                </p:nvSpPr>
                <p:spPr bwMode="auto">
                  <a:xfrm>
                    <a:off x="2457" y="668"/>
                    <a:ext cx="102" cy="0"/>
                  </a:xfrm>
                  <a:prstGeom prst="line">
                    <a:avLst/>
                  </a:prstGeom>
                  <a:noFill/>
                  <a:ln w="9525" cap="rnd">
                    <a:solidFill>
                      <a:schemeClr val="bg1"/>
                    </a:solidFill>
                    <a:prstDash val="sysDot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27432" rIns="0" bIns="0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26790" name="Group 295"/>
              <p:cNvGrpSpPr>
                <a:grpSpLocks/>
              </p:cNvGrpSpPr>
              <p:nvPr/>
            </p:nvGrpSpPr>
            <p:grpSpPr bwMode="auto">
              <a:xfrm>
                <a:off x="4974" y="1050"/>
                <a:ext cx="133" cy="135"/>
                <a:chOff x="4771" y="466"/>
                <a:chExt cx="229" cy="173"/>
              </a:xfrm>
            </p:grpSpPr>
            <p:sp>
              <p:nvSpPr>
                <p:cNvPr id="26791" name="Rectangle 296"/>
                <p:cNvSpPr>
                  <a:spLocks noChangeArrowheads="1"/>
                </p:cNvSpPr>
                <p:nvPr/>
              </p:nvSpPr>
              <p:spPr bwMode="auto">
                <a:xfrm>
                  <a:off x="4771" y="466"/>
                  <a:ext cx="115" cy="173"/>
                </a:xfrm>
                <a:prstGeom prst="rect">
                  <a:avLst/>
                </a:prstGeom>
                <a:solidFill>
                  <a:srgbClr val="3366CC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27432" rIns="0" bIns="0"/>
                <a:lstStyle/>
                <a:p>
                  <a:pPr algn="ctr"/>
                  <a:endParaRPr lang="en-US" sz="600" b="1">
                    <a:solidFill>
                      <a:schemeClr val="bg1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6792" name="Line 297"/>
                <p:cNvSpPr>
                  <a:spLocks noChangeShapeType="1"/>
                </p:cNvSpPr>
                <p:nvPr/>
              </p:nvSpPr>
              <p:spPr bwMode="auto">
                <a:xfrm>
                  <a:off x="4771" y="553"/>
                  <a:ext cx="115" cy="0"/>
                </a:xfrm>
                <a:prstGeom prst="line">
                  <a:avLst/>
                </a:prstGeom>
                <a:noFill/>
                <a:ln w="9525" cap="rnd">
                  <a:solidFill>
                    <a:schemeClr val="bg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lIns="0" tIns="27432" rIns="0" bIns="0"/>
                <a:lstStyle/>
                <a:p>
                  <a:endParaRPr lang="en-US"/>
                </a:p>
              </p:txBody>
            </p:sp>
            <p:grpSp>
              <p:nvGrpSpPr>
                <p:cNvPr id="26793" name="Group 298"/>
                <p:cNvGrpSpPr>
                  <a:grpSpLocks/>
                </p:cNvGrpSpPr>
                <p:nvPr/>
              </p:nvGrpSpPr>
              <p:grpSpPr bwMode="auto">
                <a:xfrm>
                  <a:off x="4885" y="466"/>
                  <a:ext cx="115" cy="173"/>
                  <a:chOff x="2457" y="566"/>
                  <a:chExt cx="102" cy="204"/>
                </a:xfrm>
              </p:grpSpPr>
              <p:sp>
                <p:nvSpPr>
                  <p:cNvPr id="26794" name="Rectangle 299"/>
                  <p:cNvSpPr>
                    <a:spLocks noChangeArrowheads="1"/>
                  </p:cNvSpPr>
                  <p:nvPr/>
                </p:nvSpPr>
                <p:spPr bwMode="auto">
                  <a:xfrm>
                    <a:off x="2457" y="566"/>
                    <a:ext cx="102" cy="204"/>
                  </a:xfrm>
                  <a:prstGeom prst="rect">
                    <a:avLst/>
                  </a:prstGeom>
                  <a:solidFill>
                    <a:srgbClr val="3366CC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0" tIns="27432" rIns="0" bIns="0"/>
                  <a:lstStyle/>
                  <a:p>
                    <a:pPr algn="ctr"/>
                    <a:endParaRPr lang="en-US" sz="600" b="1">
                      <a:solidFill>
                        <a:schemeClr val="bg1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26795" name="Line 300"/>
                  <p:cNvSpPr>
                    <a:spLocks noChangeShapeType="1"/>
                  </p:cNvSpPr>
                  <p:nvPr/>
                </p:nvSpPr>
                <p:spPr bwMode="auto">
                  <a:xfrm>
                    <a:off x="2457" y="668"/>
                    <a:ext cx="102" cy="0"/>
                  </a:xfrm>
                  <a:prstGeom prst="line">
                    <a:avLst/>
                  </a:prstGeom>
                  <a:noFill/>
                  <a:ln w="9525" cap="rnd">
                    <a:solidFill>
                      <a:schemeClr val="bg1"/>
                    </a:solidFill>
                    <a:prstDash val="sysDot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27432" rIns="0" bIns="0"/>
                  <a:lstStyle/>
                  <a:p>
                    <a:endParaRPr lang="en-US"/>
                  </a:p>
                </p:txBody>
              </p:sp>
            </p:grpSp>
          </p:grpSp>
        </p:grpSp>
        <p:grpSp>
          <p:nvGrpSpPr>
            <p:cNvPr id="26718" name="Group 301"/>
            <p:cNvGrpSpPr>
              <a:grpSpLocks/>
            </p:cNvGrpSpPr>
            <p:nvPr/>
          </p:nvGrpSpPr>
          <p:grpSpPr bwMode="auto">
            <a:xfrm>
              <a:off x="4148" y="2696"/>
              <a:ext cx="666" cy="136"/>
              <a:chOff x="4428" y="1050"/>
              <a:chExt cx="679" cy="136"/>
            </a:xfrm>
          </p:grpSpPr>
          <p:sp>
            <p:nvSpPr>
              <p:cNvPr id="26775" name="Rectangle 302"/>
              <p:cNvSpPr>
                <a:spLocks noChangeArrowheads="1"/>
              </p:cNvSpPr>
              <p:nvPr/>
            </p:nvSpPr>
            <p:spPr bwMode="auto">
              <a:xfrm rot="5400000">
                <a:off x="4700" y="906"/>
                <a:ext cx="136" cy="423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rot="10800000" vert="eaVert" wrap="none" anchor="ctr"/>
              <a:lstStyle/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Arial" charset="0"/>
                    <a:cs typeface="Arial" charset="0"/>
                  </a:rPr>
                  <a:t>Texture</a:t>
                </a:r>
              </a:p>
            </p:txBody>
          </p:sp>
          <p:grpSp>
            <p:nvGrpSpPr>
              <p:cNvPr id="26776" name="Group 303"/>
              <p:cNvGrpSpPr>
                <a:grpSpLocks/>
              </p:cNvGrpSpPr>
              <p:nvPr/>
            </p:nvGrpSpPr>
            <p:grpSpPr bwMode="auto">
              <a:xfrm>
                <a:off x="4428" y="1050"/>
                <a:ext cx="133" cy="134"/>
                <a:chOff x="4771" y="466"/>
                <a:chExt cx="229" cy="173"/>
              </a:xfrm>
            </p:grpSpPr>
            <p:sp>
              <p:nvSpPr>
                <p:cNvPr id="26783" name="Rectangle 304"/>
                <p:cNvSpPr>
                  <a:spLocks noChangeArrowheads="1"/>
                </p:cNvSpPr>
                <p:nvPr/>
              </p:nvSpPr>
              <p:spPr bwMode="auto">
                <a:xfrm>
                  <a:off x="4771" y="466"/>
                  <a:ext cx="115" cy="173"/>
                </a:xfrm>
                <a:prstGeom prst="rect">
                  <a:avLst/>
                </a:prstGeom>
                <a:solidFill>
                  <a:srgbClr val="3366CC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27432" rIns="0" bIns="0"/>
                <a:lstStyle/>
                <a:p>
                  <a:pPr algn="ctr"/>
                  <a:endParaRPr lang="en-US" sz="600" b="1">
                    <a:solidFill>
                      <a:schemeClr val="bg1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6784" name="Line 305"/>
                <p:cNvSpPr>
                  <a:spLocks noChangeShapeType="1"/>
                </p:cNvSpPr>
                <p:nvPr/>
              </p:nvSpPr>
              <p:spPr bwMode="auto">
                <a:xfrm>
                  <a:off x="4771" y="553"/>
                  <a:ext cx="115" cy="0"/>
                </a:xfrm>
                <a:prstGeom prst="line">
                  <a:avLst/>
                </a:prstGeom>
                <a:noFill/>
                <a:ln w="9525" cap="rnd">
                  <a:solidFill>
                    <a:schemeClr val="bg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lIns="0" tIns="27432" rIns="0" bIns="0"/>
                <a:lstStyle/>
                <a:p>
                  <a:endParaRPr lang="en-US"/>
                </a:p>
              </p:txBody>
            </p:sp>
            <p:grpSp>
              <p:nvGrpSpPr>
                <p:cNvPr id="26785" name="Group 306"/>
                <p:cNvGrpSpPr>
                  <a:grpSpLocks/>
                </p:cNvGrpSpPr>
                <p:nvPr/>
              </p:nvGrpSpPr>
              <p:grpSpPr bwMode="auto">
                <a:xfrm>
                  <a:off x="4885" y="466"/>
                  <a:ext cx="115" cy="173"/>
                  <a:chOff x="2457" y="566"/>
                  <a:chExt cx="102" cy="204"/>
                </a:xfrm>
              </p:grpSpPr>
              <p:sp>
                <p:nvSpPr>
                  <p:cNvPr id="26786" name="Rectangle 307"/>
                  <p:cNvSpPr>
                    <a:spLocks noChangeArrowheads="1"/>
                  </p:cNvSpPr>
                  <p:nvPr/>
                </p:nvSpPr>
                <p:spPr bwMode="auto">
                  <a:xfrm>
                    <a:off x="2457" y="566"/>
                    <a:ext cx="102" cy="204"/>
                  </a:xfrm>
                  <a:prstGeom prst="rect">
                    <a:avLst/>
                  </a:prstGeom>
                  <a:solidFill>
                    <a:srgbClr val="3366CC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0" tIns="27432" rIns="0" bIns="0"/>
                  <a:lstStyle/>
                  <a:p>
                    <a:pPr algn="ctr"/>
                    <a:endParaRPr lang="en-US" sz="600" b="1">
                      <a:solidFill>
                        <a:schemeClr val="bg1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26787" name="Line 308"/>
                  <p:cNvSpPr>
                    <a:spLocks noChangeShapeType="1"/>
                  </p:cNvSpPr>
                  <p:nvPr/>
                </p:nvSpPr>
                <p:spPr bwMode="auto">
                  <a:xfrm>
                    <a:off x="2457" y="668"/>
                    <a:ext cx="102" cy="0"/>
                  </a:xfrm>
                  <a:prstGeom prst="line">
                    <a:avLst/>
                  </a:prstGeom>
                  <a:noFill/>
                  <a:ln w="9525" cap="rnd">
                    <a:solidFill>
                      <a:schemeClr val="bg1"/>
                    </a:solidFill>
                    <a:prstDash val="sysDot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27432" rIns="0" bIns="0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26777" name="Group 309"/>
              <p:cNvGrpSpPr>
                <a:grpSpLocks/>
              </p:cNvGrpSpPr>
              <p:nvPr/>
            </p:nvGrpSpPr>
            <p:grpSpPr bwMode="auto">
              <a:xfrm>
                <a:off x="4974" y="1050"/>
                <a:ext cx="133" cy="135"/>
                <a:chOff x="4771" y="466"/>
                <a:chExt cx="229" cy="173"/>
              </a:xfrm>
            </p:grpSpPr>
            <p:sp>
              <p:nvSpPr>
                <p:cNvPr id="26778" name="Rectangle 310"/>
                <p:cNvSpPr>
                  <a:spLocks noChangeArrowheads="1"/>
                </p:cNvSpPr>
                <p:nvPr/>
              </p:nvSpPr>
              <p:spPr bwMode="auto">
                <a:xfrm>
                  <a:off x="4771" y="466"/>
                  <a:ext cx="115" cy="173"/>
                </a:xfrm>
                <a:prstGeom prst="rect">
                  <a:avLst/>
                </a:prstGeom>
                <a:solidFill>
                  <a:srgbClr val="3366CC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27432" rIns="0" bIns="0"/>
                <a:lstStyle/>
                <a:p>
                  <a:pPr algn="ctr"/>
                  <a:endParaRPr lang="en-US" sz="600" b="1">
                    <a:solidFill>
                      <a:schemeClr val="bg1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6779" name="Line 311"/>
                <p:cNvSpPr>
                  <a:spLocks noChangeShapeType="1"/>
                </p:cNvSpPr>
                <p:nvPr/>
              </p:nvSpPr>
              <p:spPr bwMode="auto">
                <a:xfrm>
                  <a:off x="4771" y="553"/>
                  <a:ext cx="115" cy="0"/>
                </a:xfrm>
                <a:prstGeom prst="line">
                  <a:avLst/>
                </a:prstGeom>
                <a:noFill/>
                <a:ln w="9525" cap="rnd">
                  <a:solidFill>
                    <a:schemeClr val="bg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lIns="0" tIns="27432" rIns="0" bIns="0"/>
                <a:lstStyle/>
                <a:p>
                  <a:endParaRPr lang="en-US"/>
                </a:p>
              </p:txBody>
            </p:sp>
            <p:grpSp>
              <p:nvGrpSpPr>
                <p:cNvPr id="26780" name="Group 312"/>
                <p:cNvGrpSpPr>
                  <a:grpSpLocks/>
                </p:cNvGrpSpPr>
                <p:nvPr/>
              </p:nvGrpSpPr>
              <p:grpSpPr bwMode="auto">
                <a:xfrm>
                  <a:off x="4885" y="466"/>
                  <a:ext cx="115" cy="173"/>
                  <a:chOff x="2457" y="566"/>
                  <a:chExt cx="102" cy="204"/>
                </a:xfrm>
              </p:grpSpPr>
              <p:sp>
                <p:nvSpPr>
                  <p:cNvPr id="26781" name="Rectangle 313"/>
                  <p:cNvSpPr>
                    <a:spLocks noChangeArrowheads="1"/>
                  </p:cNvSpPr>
                  <p:nvPr/>
                </p:nvSpPr>
                <p:spPr bwMode="auto">
                  <a:xfrm>
                    <a:off x="2457" y="566"/>
                    <a:ext cx="102" cy="204"/>
                  </a:xfrm>
                  <a:prstGeom prst="rect">
                    <a:avLst/>
                  </a:prstGeom>
                  <a:solidFill>
                    <a:srgbClr val="3366CC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0" tIns="27432" rIns="0" bIns="0"/>
                  <a:lstStyle/>
                  <a:p>
                    <a:pPr algn="ctr"/>
                    <a:endParaRPr lang="en-US" sz="600" b="1">
                      <a:solidFill>
                        <a:schemeClr val="bg1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26782" name="Line 314"/>
                  <p:cNvSpPr>
                    <a:spLocks noChangeShapeType="1"/>
                  </p:cNvSpPr>
                  <p:nvPr/>
                </p:nvSpPr>
                <p:spPr bwMode="auto">
                  <a:xfrm>
                    <a:off x="2457" y="668"/>
                    <a:ext cx="102" cy="0"/>
                  </a:xfrm>
                  <a:prstGeom prst="line">
                    <a:avLst/>
                  </a:prstGeom>
                  <a:noFill/>
                  <a:ln w="9525" cap="rnd">
                    <a:solidFill>
                      <a:schemeClr val="bg1"/>
                    </a:solidFill>
                    <a:prstDash val="sysDot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27432" rIns="0" bIns="0"/>
                  <a:lstStyle/>
                  <a:p>
                    <a:endParaRPr lang="en-US"/>
                  </a:p>
                </p:txBody>
              </p:sp>
            </p:grpSp>
          </p:grpSp>
        </p:grpSp>
        <p:grpSp>
          <p:nvGrpSpPr>
            <p:cNvPr id="26719" name="Group 315"/>
            <p:cNvGrpSpPr>
              <a:grpSpLocks/>
            </p:cNvGrpSpPr>
            <p:nvPr/>
          </p:nvGrpSpPr>
          <p:grpSpPr bwMode="auto">
            <a:xfrm>
              <a:off x="4937" y="2696"/>
              <a:ext cx="666" cy="136"/>
              <a:chOff x="4428" y="1050"/>
              <a:chExt cx="679" cy="136"/>
            </a:xfrm>
          </p:grpSpPr>
          <p:sp>
            <p:nvSpPr>
              <p:cNvPr id="26762" name="Rectangle 316"/>
              <p:cNvSpPr>
                <a:spLocks noChangeArrowheads="1"/>
              </p:cNvSpPr>
              <p:nvPr/>
            </p:nvSpPr>
            <p:spPr bwMode="auto">
              <a:xfrm rot="5400000">
                <a:off x="4700" y="906"/>
                <a:ext cx="136" cy="423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rot="10800000" vert="eaVert" wrap="none" anchor="ctr"/>
              <a:lstStyle/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Arial" charset="0"/>
                    <a:cs typeface="Arial" charset="0"/>
                  </a:rPr>
                  <a:t>Texture</a:t>
                </a:r>
              </a:p>
            </p:txBody>
          </p:sp>
          <p:grpSp>
            <p:nvGrpSpPr>
              <p:cNvPr id="26763" name="Group 317"/>
              <p:cNvGrpSpPr>
                <a:grpSpLocks/>
              </p:cNvGrpSpPr>
              <p:nvPr/>
            </p:nvGrpSpPr>
            <p:grpSpPr bwMode="auto">
              <a:xfrm>
                <a:off x="4428" y="1050"/>
                <a:ext cx="133" cy="134"/>
                <a:chOff x="4771" y="466"/>
                <a:chExt cx="229" cy="173"/>
              </a:xfrm>
            </p:grpSpPr>
            <p:sp>
              <p:nvSpPr>
                <p:cNvPr id="26770" name="Rectangle 318"/>
                <p:cNvSpPr>
                  <a:spLocks noChangeArrowheads="1"/>
                </p:cNvSpPr>
                <p:nvPr/>
              </p:nvSpPr>
              <p:spPr bwMode="auto">
                <a:xfrm>
                  <a:off x="4771" y="466"/>
                  <a:ext cx="115" cy="173"/>
                </a:xfrm>
                <a:prstGeom prst="rect">
                  <a:avLst/>
                </a:prstGeom>
                <a:solidFill>
                  <a:srgbClr val="3366CC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27432" rIns="0" bIns="0"/>
                <a:lstStyle/>
                <a:p>
                  <a:pPr algn="ctr"/>
                  <a:endParaRPr lang="en-US" sz="600" b="1">
                    <a:solidFill>
                      <a:schemeClr val="bg1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6771" name="Line 319"/>
                <p:cNvSpPr>
                  <a:spLocks noChangeShapeType="1"/>
                </p:cNvSpPr>
                <p:nvPr/>
              </p:nvSpPr>
              <p:spPr bwMode="auto">
                <a:xfrm>
                  <a:off x="4771" y="553"/>
                  <a:ext cx="115" cy="0"/>
                </a:xfrm>
                <a:prstGeom prst="line">
                  <a:avLst/>
                </a:prstGeom>
                <a:noFill/>
                <a:ln w="9525" cap="rnd">
                  <a:solidFill>
                    <a:schemeClr val="bg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lIns="0" tIns="27432" rIns="0" bIns="0"/>
                <a:lstStyle/>
                <a:p>
                  <a:endParaRPr lang="en-US"/>
                </a:p>
              </p:txBody>
            </p:sp>
            <p:grpSp>
              <p:nvGrpSpPr>
                <p:cNvPr id="26772" name="Group 320"/>
                <p:cNvGrpSpPr>
                  <a:grpSpLocks/>
                </p:cNvGrpSpPr>
                <p:nvPr/>
              </p:nvGrpSpPr>
              <p:grpSpPr bwMode="auto">
                <a:xfrm>
                  <a:off x="4885" y="466"/>
                  <a:ext cx="115" cy="173"/>
                  <a:chOff x="2457" y="566"/>
                  <a:chExt cx="102" cy="204"/>
                </a:xfrm>
              </p:grpSpPr>
              <p:sp>
                <p:nvSpPr>
                  <p:cNvPr id="26773" name="Rectangle 321"/>
                  <p:cNvSpPr>
                    <a:spLocks noChangeArrowheads="1"/>
                  </p:cNvSpPr>
                  <p:nvPr/>
                </p:nvSpPr>
                <p:spPr bwMode="auto">
                  <a:xfrm>
                    <a:off x="2457" y="566"/>
                    <a:ext cx="102" cy="204"/>
                  </a:xfrm>
                  <a:prstGeom prst="rect">
                    <a:avLst/>
                  </a:prstGeom>
                  <a:solidFill>
                    <a:srgbClr val="3366CC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0" tIns="27432" rIns="0" bIns="0"/>
                  <a:lstStyle/>
                  <a:p>
                    <a:pPr algn="ctr"/>
                    <a:endParaRPr lang="en-US" sz="600" b="1">
                      <a:solidFill>
                        <a:schemeClr val="bg1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26774" name="Line 322"/>
                  <p:cNvSpPr>
                    <a:spLocks noChangeShapeType="1"/>
                  </p:cNvSpPr>
                  <p:nvPr/>
                </p:nvSpPr>
                <p:spPr bwMode="auto">
                  <a:xfrm>
                    <a:off x="2457" y="668"/>
                    <a:ext cx="102" cy="0"/>
                  </a:xfrm>
                  <a:prstGeom prst="line">
                    <a:avLst/>
                  </a:prstGeom>
                  <a:noFill/>
                  <a:ln w="9525" cap="rnd">
                    <a:solidFill>
                      <a:schemeClr val="bg1"/>
                    </a:solidFill>
                    <a:prstDash val="sysDot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27432" rIns="0" bIns="0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26764" name="Group 323"/>
              <p:cNvGrpSpPr>
                <a:grpSpLocks/>
              </p:cNvGrpSpPr>
              <p:nvPr/>
            </p:nvGrpSpPr>
            <p:grpSpPr bwMode="auto">
              <a:xfrm>
                <a:off x="4974" y="1050"/>
                <a:ext cx="133" cy="135"/>
                <a:chOff x="4771" y="466"/>
                <a:chExt cx="229" cy="173"/>
              </a:xfrm>
            </p:grpSpPr>
            <p:sp>
              <p:nvSpPr>
                <p:cNvPr id="26765" name="Rectangle 324"/>
                <p:cNvSpPr>
                  <a:spLocks noChangeArrowheads="1"/>
                </p:cNvSpPr>
                <p:nvPr/>
              </p:nvSpPr>
              <p:spPr bwMode="auto">
                <a:xfrm>
                  <a:off x="4771" y="466"/>
                  <a:ext cx="115" cy="173"/>
                </a:xfrm>
                <a:prstGeom prst="rect">
                  <a:avLst/>
                </a:prstGeom>
                <a:solidFill>
                  <a:srgbClr val="3366CC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27432" rIns="0" bIns="0"/>
                <a:lstStyle/>
                <a:p>
                  <a:pPr algn="ctr"/>
                  <a:endParaRPr lang="en-US" sz="600" b="1">
                    <a:solidFill>
                      <a:schemeClr val="bg1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6766" name="Line 325"/>
                <p:cNvSpPr>
                  <a:spLocks noChangeShapeType="1"/>
                </p:cNvSpPr>
                <p:nvPr/>
              </p:nvSpPr>
              <p:spPr bwMode="auto">
                <a:xfrm>
                  <a:off x="4771" y="553"/>
                  <a:ext cx="115" cy="0"/>
                </a:xfrm>
                <a:prstGeom prst="line">
                  <a:avLst/>
                </a:prstGeom>
                <a:noFill/>
                <a:ln w="9525" cap="rnd">
                  <a:solidFill>
                    <a:schemeClr val="bg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lIns="0" tIns="27432" rIns="0" bIns="0"/>
                <a:lstStyle/>
                <a:p>
                  <a:endParaRPr lang="en-US"/>
                </a:p>
              </p:txBody>
            </p:sp>
            <p:grpSp>
              <p:nvGrpSpPr>
                <p:cNvPr id="26767" name="Group 326"/>
                <p:cNvGrpSpPr>
                  <a:grpSpLocks/>
                </p:cNvGrpSpPr>
                <p:nvPr/>
              </p:nvGrpSpPr>
              <p:grpSpPr bwMode="auto">
                <a:xfrm>
                  <a:off x="4885" y="466"/>
                  <a:ext cx="115" cy="173"/>
                  <a:chOff x="2457" y="566"/>
                  <a:chExt cx="102" cy="204"/>
                </a:xfrm>
              </p:grpSpPr>
              <p:sp>
                <p:nvSpPr>
                  <p:cNvPr id="26768" name="Rectangle 327"/>
                  <p:cNvSpPr>
                    <a:spLocks noChangeArrowheads="1"/>
                  </p:cNvSpPr>
                  <p:nvPr/>
                </p:nvSpPr>
                <p:spPr bwMode="auto">
                  <a:xfrm>
                    <a:off x="2457" y="566"/>
                    <a:ext cx="102" cy="204"/>
                  </a:xfrm>
                  <a:prstGeom prst="rect">
                    <a:avLst/>
                  </a:prstGeom>
                  <a:solidFill>
                    <a:srgbClr val="3366CC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0" tIns="27432" rIns="0" bIns="0"/>
                  <a:lstStyle/>
                  <a:p>
                    <a:pPr algn="ctr"/>
                    <a:endParaRPr lang="en-US" sz="600" b="1">
                      <a:solidFill>
                        <a:schemeClr val="bg1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26769" name="Line 328"/>
                  <p:cNvSpPr>
                    <a:spLocks noChangeShapeType="1"/>
                  </p:cNvSpPr>
                  <p:nvPr/>
                </p:nvSpPr>
                <p:spPr bwMode="auto">
                  <a:xfrm>
                    <a:off x="2457" y="668"/>
                    <a:ext cx="102" cy="0"/>
                  </a:xfrm>
                  <a:prstGeom prst="line">
                    <a:avLst/>
                  </a:prstGeom>
                  <a:noFill/>
                  <a:ln w="9525" cap="rnd">
                    <a:solidFill>
                      <a:schemeClr val="bg1"/>
                    </a:solidFill>
                    <a:prstDash val="sysDot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27432" rIns="0" bIns="0"/>
                  <a:lstStyle/>
                  <a:p>
                    <a:endParaRPr lang="en-US"/>
                  </a:p>
                </p:txBody>
              </p:sp>
            </p:grpSp>
          </p:grpSp>
        </p:grpSp>
        <p:grpSp>
          <p:nvGrpSpPr>
            <p:cNvPr id="26720" name="Group 329"/>
            <p:cNvGrpSpPr>
              <a:grpSpLocks/>
            </p:cNvGrpSpPr>
            <p:nvPr/>
          </p:nvGrpSpPr>
          <p:grpSpPr bwMode="auto">
            <a:xfrm>
              <a:off x="5720" y="2696"/>
              <a:ext cx="666" cy="136"/>
              <a:chOff x="4428" y="1050"/>
              <a:chExt cx="679" cy="136"/>
            </a:xfrm>
          </p:grpSpPr>
          <p:sp>
            <p:nvSpPr>
              <p:cNvPr id="26749" name="Rectangle 330"/>
              <p:cNvSpPr>
                <a:spLocks noChangeArrowheads="1"/>
              </p:cNvSpPr>
              <p:nvPr/>
            </p:nvSpPr>
            <p:spPr bwMode="auto">
              <a:xfrm rot="5400000">
                <a:off x="4700" y="906"/>
                <a:ext cx="136" cy="423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rot="10800000" vert="eaVert" wrap="none" anchor="ctr"/>
              <a:lstStyle/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Arial" charset="0"/>
                    <a:cs typeface="Arial" charset="0"/>
                  </a:rPr>
                  <a:t>Texture</a:t>
                </a:r>
              </a:p>
            </p:txBody>
          </p:sp>
          <p:grpSp>
            <p:nvGrpSpPr>
              <p:cNvPr id="26750" name="Group 331"/>
              <p:cNvGrpSpPr>
                <a:grpSpLocks/>
              </p:cNvGrpSpPr>
              <p:nvPr/>
            </p:nvGrpSpPr>
            <p:grpSpPr bwMode="auto">
              <a:xfrm>
                <a:off x="4428" y="1050"/>
                <a:ext cx="133" cy="134"/>
                <a:chOff x="4771" y="466"/>
                <a:chExt cx="229" cy="173"/>
              </a:xfrm>
            </p:grpSpPr>
            <p:sp>
              <p:nvSpPr>
                <p:cNvPr id="26757" name="Rectangle 332"/>
                <p:cNvSpPr>
                  <a:spLocks noChangeArrowheads="1"/>
                </p:cNvSpPr>
                <p:nvPr/>
              </p:nvSpPr>
              <p:spPr bwMode="auto">
                <a:xfrm>
                  <a:off x="4771" y="466"/>
                  <a:ext cx="115" cy="173"/>
                </a:xfrm>
                <a:prstGeom prst="rect">
                  <a:avLst/>
                </a:prstGeom>
                <a:solidFill>
                  <a:srgbClr val="3366CC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27432" rIns="0" bIns="0"/>
                <a:lstStyle/>
                <a:p>
                  <a:pPr algn="ctr"/>
                  <a:endParaRPr lang="en-US" sz="600" b="1">
                    <a:solidFill>
                      <a:schemeClr val="bg1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6758" name="Line 333"/>
                <p:cNvSpPr>
                  <a:spLocks noChangeShapeType="1"/>
                </p:cNvSpPr>
                <p:nvPr/>
              </p:nvSpPr>
              <p:spPr bwMode="auto">
                <a:xfrm>
                  <a:off x="4771" y="553"/>
                  <a:ext cx="115" cy="0"/>
                </a:xfrm>
                <a:prstGeom prst="line">
                  <a:avLst/>
                </a:prstGeom>
                <a:noFill/>
                <a:ln w="9525" cap="rnd">
                  <a:solidFill>
                    <a:schemeClr val="bg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lIns="0" tIns="27432" rIns="0" bIns="0"/>
                <a:lstStyle/>
                <a:p>
                  <a:endParaRPr lang="en-US"/>
                </a:p>
              </p:txBody>
            </p:sp>
            <p:grpSp>
              <p:nvGrpSpPr>
                <p:cNvPr id="26759" name="Group 334"/>
                <p:cNvGrpSpPr>
                  <a:grpSpLocks/>
                </p:cNvGrpSpPr>
                <p:nvPr/>
              </p:nvGrpSpPr>
              <p:grpSpPr bwMode="auto">
                <a:xfrm>
                  <a:off x="4885" y="466"/>
                  <a:ext cx="115" cy="173"/>
                  <a:chOff x="2457" y="566"/>
                  <a:chExt cx="102" cy="204"/>
                </a:xfrm>
              </p:grpSpPr>
              <p:sp>
                <p:nvSpPr>
                  <p:cNvPr id="26760" name="Rectangle 335"/>
                  <p:cNvSpPr>
                    <a:spLocks noChangeArrowheads="1"/>
                  </p:cNvSpPr>
                  <p:nvPr/>
                </p:nvSpPr>
                <p:spPr bwMode="auto">
                  <a:xfrm>
                    <a:off x="2457" y="566"/>
                    <a:ext cx="102" cy="204"/>
                  </a:xfrm>
                  <a:prstGeom prst="rect">
                    <a:avLst/>
                  </a:prstGeom>
                  <a:solidFill>
                    <a:srgbClr val="3366CC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0" tIns="27432" rIns="0" bIns="0"/>
                  <a:lstStyle/>
                  <a:p>
                    <a:pPr algn="ctr"/>
                    <a:endParaRPr lang="en-US" sz="600" b="1">
                      <a:solidFill>
                        <a:schemeClr val="bg1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26761" name="Line 336"/>
                  <p:cNvSpPr>
                    <a:spLocks noChangeShapeType="1"/>
                  </p:cNvSpPr>
                  <p:nvPr/>
                </p:nvSpPr>
                <p:spPr bwMode="auto">
                  <a:xfrm>
                    <a:off x="2457" y="668"/>
                    <a:ext cx="102" cy="0"/>
                  </a:xfrm>
                  <a:prstGeom prst="line">
                    <a:avLst/>
                  </a:prstGeom>
                  <a:noFill/>
                  <a:ln w="9525" cap="rnd">
                    <a:solidFill>
                      <a:schemeClr val="bg1"/>
                    </a:solidFill>
                    <a:prstDash val="sysDot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27432" rIns="0" bIns="0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26751" name="Group 337"/>
              <p:cNvGrpSpPr>
                <a:grpSpLocks/>
              </p:cNvGrpSpPr>
              <p:nvPr/>
            </p:nvGrpSpPr>
            <p:grpSpPr bwMode="auto">
              <a:xfrm>
                <a:off x="4974" y="1050"/>
                <a:ext cx="133" cy="135"/>
                <a:chOff x="4771" y="466"/>
                <a:chExt cx="229" cy="173"/>
              </a:xfrm>
            </p:grpSpPr>
            <p:sp>
              <p:nvSpPr>
                <p:cNvPr id="26752" name="Rectangle 338"/>
                <p:cNvSpPr>
                  <a:spLocks noChangeArrowheads="1"/>
                </p:cNvSpPr>
                <p:nvPr/>
              </p:nvSpPr>
              <p:spPr bwMode="auto">
                <a:xfrm>
                  <a:off x="4771" y="466"/>
                  <a:ext cx="115" cy="173"/>
                </a:xfrm>
                <a:prstGeom prst="rect">
                  <a:avLst/>
                </a:prstGeom>
                <a:solidFill>
                  <a:srgbClr val="3366CC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27432" rIns="0" bIns="0"/>
                <a:lstStyle/>
                <a:p>
                  <a:pPr algn="ctr"/>
                  <a:endParaRPr lang="en-US" sz="600" b="1">
                    <a:solidFill>
                      <a:schemeClr val="bg1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6753" name="Line 339"/>
                <p:cNvSpPr>
                  <a:spLocks noChangeShapeType="1"/>
                </p:cNvSpPr>
                <p:nvPr/>
              </p:nvSpPr>
              <p:spPr bwMode="auto">
                <a:xfrm>
                  <a:off x="4771" y="553"/>
                  <a:ext cx="115" cy="0"/>
                </a:xfrm>
                <a:prstGeom prst="line">
                  <a:avLst/>
                </a:prstGeom>
                <a:noFill/>
                <a:ln w="9525" cap="rnd">
                  <a:solidFill>
                    <a:schemeClr val="bg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lIns="0" tIns="27432" rIns="0" bIns="0"/>
                <a:lstStyle/>
                <a:p>
                  <a:endParaRPr lang="en-US"/>
                </a:p>
              </p:txBody>
            </p:sp>
            <p:grpSp>
              <p:nvGrpSpPr>
                <p:cNvPr id="26754" name="Group 340"/>
                <p:cNvGrpSpPr>
                  <a:grpSpLocks/>
                </p:cNvGrpSpPr>
                <p:nvPr/>
              </p:nvGrpSpPr>
              <p:grpSpPr bwMode="auto">
                <a:xfrm>
                  <a:off x="4885" y="466"/>
                  <a:ext cx="115" cy="173"/>
                  <a:chOff x="2457" y="566"/>
                  <a:chExt cx="102" cy="204"/>
                </a:xfrm>
              </p:grpSpPr>
              <p:sp>
                <p:nvSpPr>
                  <p:cNvPr id="26755" name="Rectangle 341"/>
                  <p:cNvSpPr>
                    <a:spLocks noChangeArrowheads="1"/>
                  </p:cNvSpPr>
                  <p:nvPr/>
                </p:nvSpPr>
                <p:spPr bwMode="auto">
                  <a:xfrm>
                    <a:off x="2457" y="566"/>
                    <a:ext cx="102" cy="204"/>
                  </a:xfrm>
                  <a:prstGeom prst="rect">
                    <a:avLst/>
                  </a:prstGeom>
                  <a:solidFill>
                    <a:srgbClr val="3366CC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0" tIns="27432" rIns="0" bIns="0"/>
                  <a:lstStyle/>
                  <a:p>
                    <a:pPr algn="ctr"/>
                    <a:endParaRPr lang="en-US" sz="600" b="1">
                      <a:solidFill>
                        <a:schemeClr val="bg1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26756" name="Line 342"/>
                  <p:cNvSpPr>
                    <a:spLocks noChangeShapeType="1"/>
                  </p:cNvSpPr>
                  <p:nvPr/>
                </p:nvSpPr>
                <p:spPr bwMode="auto">
                  <a:xfrm>
                    <a:off x="2457" y="668"/>
                    <a:ext cx="102" cy="0"/>
                  </a:xfrm>
                  <a:prstGeom prst="line">
                    <a:avLst/>
                  </a:prstGeom>
                  <a:noFill/>
                  <a:ln w="9525" cap="rnd">
                    <a:solidFill>
                      <a:schemeClr val="bg1"/>
                    </a:solidFill>
                    <a:prstDash val="sysDot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27432" rIns="0" bIns="0"/>
                  <a:lstStyle/>
                  <a:p>
                    <a:endParaRPr lang="en-US"/>
                  </a:p>
                </p:txBody>
              </p:sp>
            </p:grpSp>
          </p:grpSp>
        </p:grpSp>
        <p:cxnSp>
          <p:nvCxnSpPr>
            <p:cNvPr id="26721" name="AutoShape 343"/>
            <p:cNvCxnSpPr>
              <a:cxnSpLocks noChangeShapeType="1"/>
              <a:stCxn id="26636" idx="2"/>
            </p:cNvCxnSpPr>
            <p:nvPr/>
          </p:nvCxnSpPr>
          <p:spPr bwMode="auto">
            <a:xfrm rot="16200000" flipH="1">
              <a:off x="3216" y="205"/>
              <a:ext cx="390" cy="5691"/>
            </a:xfrm>
            <a:prstGeom prst="bentConnector3">
              <a:avLst>
                <a:gd name="adj1" fmla="val 49745"/>
              </a:avLst>
            </a:prstGeom>
            <a:noFill/>
            <a:ln w="19050">
              <a:solidFill>
                <a:srgbClr val="DDDDDD"/>
              </a:solidFill>
              <a:miter lim="800000"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grpSp>
          <p:nvGrpSpPr>
            <p:cNvPr id="26722" name="Group 344"/>
            <p:cNvGrpSpPr>
              <a:grpSpLocks/>
            </p:cNvGrpSpPr>
            <p:nvPr/>
          </p:nvGrpSpPr>
          <p:grpSpPr bwMode="auto">
            <a:xfrm>
              <a:off x="235" y="2695"/>
              <a:ext cx="666" cy="136"/>
              <a:chOff x="4428" y="1050"/>
              <a:chExt cx="679" cy="136"/>
            </a:xfrm>
          </p:grpSpPr>
          <p:sp>
            <p:nvSpPr>
              <p:cNvPr id="26736" name="Rectangle 345"/>
              <p:cNvSpPr>
                <a:spLocks noChangeArrowheads="1"/>
              </p:cNvSpPr>
              <p:nvPr/>
            </p:nvSpPr>
            <p:spPr bwMode="auto">
              <a:xfrm rot="5400000">
                <a:off x="4700" y="906"/>
                <a:ext cx="136" cy="423"/>
              </a:xfrm>
              <a:prstGeom prst="rect">
                <a:avLst/>
              </a:prstGeom>
              <a:solidFill>
                <a:srgbClr val="3366CC"/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rot="10800000" vert="eaVert" wrap="none" anchor="ctr"/>
              <a:lstStyle/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Arial" charset="0"/>
                    <a:cs typeface="Arial" charset="0"/>
                  </a:rPr>
                  <a:t>Texture</a:t>
                </a:r>
              </a:p>
            </p:txBody>
          </p:sp>
          <p:grpSp>
            <p:nvGrpSpPr>
              <p:cNvPr id="26737" name="Group 346"/>
              <p:cNvGrpSpPr>
                <a:grpSpLocks/>
              </p:cNvGrpSpPr>
              <p:nvPr/>
            </p:nvGrpSpPr>
            <p:grpSpPr bwMode="auto">
              <a:xfrm>
                <a:off x="4428" y="1050"/>
                <a:ext cx="133" cy="134"/>
                <a:chOff x="4771" y="466"/>
                <a:chExt cx="229" cy="173"/>
              </a:xfrm>
            </p:grpSpPr>
            <p:sp>
              <p:nvSpPr>
                <p:cNvPr id="26744" name="Rectangle 347"/>
                <p:cNvSpPr>
                  <a:spLocks noChangeArrowheads="1"/>
                </p:cNvSpPr>
                <p:nvPr/>
              </p:nvSpPr>
              <p:spPr bwMode="auto">
                <a:xfrm>
                  <a:off x="4771" y="466"/>
                  <a:ext cx="115" cy="173"/>
                </a:xfrm>
                <a:prstGeom prst="rect">
                  <a:avLst/>
                </a:prstGeom>
                <a:solidFill>
                  <a:srgbClr val="3366CC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27432" rIns="0" bIns="0"/>
                <a:lstStyle/>
                <a:p>
                  <a:pPr algn="ctr"/>
                  <a:endParaRPr lang="en-US" sz="600" b="1">
                    <a:solidFill>
                      <a:schemeClr val="bg1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6745" name="Line 348"/>
                <p:cNvSpPr>
                  <a:spLocks noChangeShapeType="1"/>
                </p:cNvSpPr>
                <p:nvPr/>
              </p:nvSpPr>
              <p:spPr bwMode="auto">
                <a:xfrm>
                  <a:off x="4771" y="553"/>
                  <a:ext cx="115" cy="0"/>
                </a:xfrm>
                <a:prstGeom prst="line">
                  <a:avLst/>
                </a:prstGeom>
                <a:noFill/>
                <a:ln w="9525" cap="rnd">
                  <a:solidFill>
                    <a:schemeClr val="bg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lIns="0" tIns="27432" rIns="0" bIns="0"/>
                <a:lstStyle/>
                <a:p>
                  <a:endParaRPr lang="en-US"/>
                </a:p>
              </p:txBody>
            </p:sp>
            <p:grpSp>
              <p:nvGrpSpPr>
                <p:cNvPr id="26746" name="Group 349"/>
                <p:cNvGrpSpPr>
                  <a:grpSpLocks/>
                </p:cNvGrpSpPr>
                <p:nvPr/>
              </p:nvGrpSpPr>
              <p:grpSpPr bwMode="auto">
                <a:xfrm>
                  <a:off x="4885" y="466"/>
                  <a:ext cx="115" cy="173"/>
                  <a:chOff x="2457" y="566"/>
                  <a:chExt cx="102" cy="204"/>
                </a:xfrm>
              </p:grpSpPr>
              <p:sp>
                <p:nvSpPr>
                  <p:cNvPr id="26747" name="Rectangle 350"/>
                  <p:cNvSpPr>
                    <a:spLocks noChangeArrowheads="1"/>
                  </p:cNvSpPr>
                  <p:nvPr/>
                </p:nvSpPr>
                <p:spPr bwMode="auto">
                  <a:xfrm>
                    <a:off x="2457" y="566"/>
                    <a:ext cx="102" cy="204"/>
                  </a:xfrm>
                  <a:prstGeom prst="rect">
                    <a:avLst/>
                  </a:prstGeom>
                  <a:solidFill>
                    <a:srgbClr val="3366CC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0" tIns="27432" rIns="0" bIns="0"/>
                  <a:lstStyle/>
                  <a:p>
                    <a:pPr algn="ctr"/>
                    <a:endParaRPr lang="en-US" sz="600" b="1">
                      <a:solidFill>
                        <a:schemeClr val="bg1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26748" name="Line 351"/>
                  <p:cNvSpPr>
                    <a:spLocks noChangeShapeType="1"/>
                  </p:cNvSpPr>
                  <p:nvPr/>
                </p:nvSpPr>
                <p:spPr bwMode="auto">
                  <a:xfrm>
                    <a:off x="2457" y="668"/>
                    <a:ext cx="102" cy="0"/>
                  </a:xfrm>
                  <a:prstGeom prst="line">
                    <a:avLst/>
                  </a:prstGeom>
                  <a:noFill/>
                  <a:ln w="9525" cap="rnd">
                    <a:solidFill>
                      <a:schemeClr val="bg1"/>
                    </a:solidFill>
                    <a:prstDash val="sysDot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27432" rIns="0" bIns="0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26738" name="Group 352"/>
              <p:cNvGrpSpPr>
                <a:grpSpLocks/>
              </p:cNvGrpSpPr>
              <p:nvPr/>
            </p:nvGrpSpPr>
            <p:grpSpPr bwMode="auto">
              <a:xfrm>
                <a:off x="4974" y="1050"/>
                <a:ext cx="133" cy="135"/>
                <a:chOff x="4771" y="466"/>
                <a:chExt cx="229" cy="173"/>
              </a:xfrm>
            </p:grpSpPr>
            <p:sp>
              <p:nvSpPr>
                <p:cNvPr id="26739" name="Rectangle 353"/>
                <p:cNvSpPr>
                  <a:spLocks noChangeArrowheads="1"/>
                </p:cNvSpPr>
                <p:nvPr/>
              </p:nvSpPr>
              <p:spPr bwMode="auto">
                <a:xfrm>
                  <a:off x="4771" y="466"/>
                  <a:ext cx="115" cy="173"/>
                </a:xfrm>
                <a:prstGeom prst="rect">
                  <a:avLst/>
                </a:prstGeom>
                <a:solidFill>
                  <a:srgbClr val="3366CC"/>
                </a:solidFill>
                <a:ln w="9525">
                  <a:solidFill>
                    <a:schemeClr val="bg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lIns="0" tIns="27432" rIns="0" bIns="0"/>
                <a:lstStyle/>
                <a:p>
                  <a:pPr algn="ctr"/>
                  <a:endParaRPr lang="en-US" sz="600" b="1">
                    <a:solidFill>
                      <a:schemeClr val="bg1"/>
                    </a:solidFill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26740" name="Line 354"/>
                <p:cNvSpPr>
                  <a:spLocks noChangeShapeType="1"/>
                </p:cNvSpPr>
                <p:nvPr/>
              </p:nvSpPr>
              <p:spPr bwMode="auto">
                <a:xfrm>
                  <a:off x="4771" y="553"/>
                  <a:ext cx="115" cy="0"/>
                </a:xfrm>
                <a:prstGeom prst="line">
                  <a:avLst/>
                </a:prstGeom>
                <a:noFill/>
                <a:ln w="9525" cap="rnd">
                  <a:solidFill>
                    <a:schemeClr val="bg1"/>
                  </a:solidFill>
                  <a:prstDash val="sys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lIns="0" tIns="27432" rIns="0" bIns="0"/>
                <a:lstStyle/>
                <a:p>
                  <a:endParaRPr lang="en-US"/>
                </a:p>
              </p:txBody>
            </p:sp>
            <p:grpSp>
              <p:nvGrpSpPr>
                <p:cNvPr id="26741" name="Group 355"/>
                <p:cNvGrpSpPr>
                  <a:grpSpLocks/>
                </p:cNvGrpSpPr>
                <p:nvPr/>
              </p:nvGrpSpPr>
              <p:grpSpPr bwMode="auto">
                <a:xfrm>
                  <a:off x="4885" y="466"/>
                  <a:ext cx="115" cy="173"/>
                  <a:chOff x="2457" y="566"/>
                  <a:chExt cx="102" cy="204"/>
                </a:xfrm>
              </p:grpSpPr>
              <p:sp>
                <p:nvSpPr>
                  <p:cNvPr id="26742" name="Rectangle 356"/>
                  <p:cNvSpPr>
                    <a:spLocks noChangeArrowheads="1"/>
                  </p:cNvSpPr>
                  <p:nvPr/>
                </p:nvSpPr>
                <p:spPr bwMode="auto">
                  <a:xfrm>
                    <a:off x="2457" y="566"/>
                    <a:ext cx="102" cy="204"/>
                  </a:xfrm>
                  <a:prstGeom prst="rect">
                    <a:avLst/>
                  </a:prstGeom>
                  <a:solidFill>
                    <a:srgbClr val="3366CC"/>
                  </a:solidFill>
                  <a:ln w="9525">
                    <a:solidFill>
                      <a:schemeClr val="bg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0" tIns="27432" rIns="0" bIns="0"/>
                  <a:lstStyle/>
                  <a:p>
                    <a:pPr algn="ctr"/>
                    <a:endParaRPr lang="en-US" sz="600" b="1">
                      <a:solidFill>
                        <a:schemeClr val="bg1"/>
                      </a:solidFill>
                      <a:latin typeface="Arial" charset="0"/>
                      <a:cs typeface="Arial" charset="0"/>
                    </a:endParaRPr>
                  </a:p>
                </p:txBody>
              </p:sp>
              <p:sp>
                <p:nvSpPr>
                  <p:cNvPr id="26743" name="Line 357"/>
                  <p:cNvSpPr>
                    <a:spLocks noChangeShapeType="1"/>
                  </p:cNvSpPr>
                  <p:nvPr/>
                </p:nvSpPr>
                <p:spPr bwMode="auto">
                  <a:xfrm>
                    <a:off x="2457" y="668"/>
                    <a:ext cx="102" cy="0"/>
                  </a:xfrm>
                  <a:prstGeom prst="line">
                    <a:avLst/>
                  </a:prstGeom>
                  <a:noFill/>
                  <a:ln w="9525" cap="rnd">
                    <a:solidFill>
                      <a:schemeClr val="bg1"/>
                    </a:solidFill>
                    <a:prstDash val="sysDot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lIns="0" tIns="27432" rIns="0" bIns="0"/>
                  <a:lstStyle/>
                  <a:p>
                    <a:endParaRPr lang="en-US"/>
                  </a:p>
                </p:txBody>
              </p:sp>
            </p:grpSp>
          </p:grpSp>
        </p:grpSp>
        <p:sp>
          <p:nvSpPr>
            <p:cNvPr id="26723" name="Rectangle 358"/>
            <p:cNvSpPr>
              <a:spLocks noChangeArrowheads="1"/>
            </p:cNvSpPr>
            <p:nvPr/>
          </p:nvSpPr>
          <p:spPr bwMode="auto">
            <a:xfrm>
              <a:off x="3353" y="2450"/>
              <a:ext cx="711" cy="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solidFill>
                    <a:srgbClr val="080808"/>
                  </a:solidFill>
                  <a:latin typeface="Arial" charset="0"/>
                  <a:cs typeface="Arial" charset="0"/>
                </a:rPr>
                <a:t>Parallel Data</a:t>
              </a:r>
              <a:br>
                <a:rPr lang="en-US" sz="1000" b="1">
                  <a:solidFill>
                    <a:srgbClr val="080808"/>
                  </a:solidFill>
                  <a:latin typeface="Arial" charset="0"/>
                  <a:cs typeface="Arial" charset="0"/>
                </a:rPr>
              </a:br>
              <a:r>
                <a:rPr lang="en-US" sz="1000" b="1">
                  <a:solidFill>
                    <a:srgbClr val="080808"/>
                  </a:solidFill>
                  <a:latin typeface="Arial" charset="0"/>
                  <a:cs typeface="Arial" charset="0"/>
                </a:rPr>
                <a:t>Cache</a:t>
              </a:r>
            </a:p>
          </p:txBody>
        </p:sp>
        <p:sp>
          <p:nvSpPr>
            <p:cNvPr id="26724" name="Rectangle 359"/>
            <p:cNvSpPr>
              <a:spLocks noChangeArrowheads="1"/>
            </p:cNvSpPr>
            <p:nvPr/>
          </p:nvSpPr>
          <p:spPr bwMode="auto">
            <a:xfrm>
              <a:off x="204" y="2450"/>
              <a:ext cx="712" cy="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solidFill>
                    <a:srgbClr val="080808"/>
                  </a:solidFill>
                  <a:latin typeface="Arial" charset="0"/>
                  <a:cs typeface="Arial" charset="0"/>
                </a:rPr>
                <a:t>Parallel Data</a:t>
              </a:r>
              <a:br>
                <a:rPr lang="en-US" sz="1000" b="1">
                  <a:solidFill>
                    <a:srgbClr val="080808"/>
                  </a:solidFill>
                  <a:latin typeface="Arial" charset="0"/>
                  <a:cs typeface="Arial" charset="0"/>
                </a:rPr>
              </a:br>
              <a:r>
                <a:rPr lang="en-US" sz="1000" b="1">
                  <a:solidFill>
                    <a:srgbClr val="080808"/>
                  </a:solidFill>
                  <a:latin typeface="Arial" charset="0"/>
                  <a:cs typeface="Arial" charset="0"/>
                </a:rPr>
                <a:t>Cache</a:t>
              </a:r>
            </a:p>
          </p:txBody>
        </p:sp>
        <p:sp>
          <p:nvSpPr>
            <p:cNvPr id="26725" name="Rectangle 360"/>
            <p:cNvSpPr>
              <a:spLocks noChangeArrowheads="1"/>
            </p:cNvSpPr>
            <p:nvPr/>
          </p:nvSpPr>
          <p:spPr bwMode="auto">
            <a:xfrm>
              <a:off x="979" y="2450"/>
              <a:ext cx="712" cy="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solidFill>
                    <a:srgbClr val="080808"/>
                  </a:solidFill>
                  <a:latin typeface="Arial" charset="0"/>
                  <a:cs typeface="Arial" charset="0"/>
                </a:rPr>
                <a:t>Parallel Data</a:t>
              </a:r>
              <a:br>
                <a:rPr lang="en-US" sz="1000" b="1">
                  <a:solidFill>
                    <a:srgbClr val="080808"/>
                  </a:solidFill>
                  <a:latin typeface="Arial" charset="0"/>
                  <a:cs typeface="Arial" charset="0"/>
                </a:rPr>
              </a:br>
              <a:r>
                <a:rPr lang="en-US" sz="1000" b="1">
                  <a:solidFill>
                    <a:srgbClr val="080808"/>
                  </a:solidFill>
                  <a:latin typeface="Arial" charset="0"/>
                  <a:cs typeface="Arial" charset="0"/>
                </a:rPr>
                <a:t>Cache</a:t>
              </a:r>
            </a:p>
          </p:txBody>
        </p:sp>
        <p:sp>
          <p:nvSpPr>
            <p:cNvPr id="26726" name="Rectangle 361"/>
            <p:cNvSpPr>
              <a:spLocks noChangeArrowheads="1"/>
            </p:cNvSpPr>
            <p:nvPr/>
          </p:nvSpPr>
          <p:spPr bwMode="auto">
            <a:xfrm>
              <a:off x="1780" y="2450"/>
              <a:ext cx="711" cy="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solidFill>
                    <a:srgbClr val="080808"/>
                  </a:solidFill>
                  <a:latin typeface="Arial" charset="0"/>
                  <a:cs typeface="Arial" charset="0"/>
                </a:rPr>
                <a:t>Parallel Data</a:t>
              </a:r>
              <a:br>
                <a:rPr lang="en-US" sz="1000" b="1">
                  <a:solidFill>
                    <a:srgbClr val="080808"/>
                  </a:solidFill>
                  <a:latin typeface="Arial" charset="0"/>
                  <a:cs typeface="Arial" charset="0"/>
                </a:rPr>
              </a:br>
              <a:r>
                <a:rPr lang="en-US" sz="1000" b="1">
                  <a:solidFill>
                    <a:srgbClr val="080808"/>
                  </a:solidFill>
                  <a:latin typeface="Arial" charset="0"/>
                  <a:cs typeface="Arial" charset="0"/>
                </a:rPr>
                <a:t>Cache</a:t>
              </a:r>
            </a:p>
          </p:txBody>
        </p:sp>
        <p:sp>
          <p:nvSpPr>
            <p:cNvPr id="26727" name="Rectangle 362"/>
            <p:cNvSpPr>
              <a:spLocks noChangeArrowheads="1"/>
            </p:cNvSpPr>
            <p:nvPr/>
          </p:nvSpPr>
          <p:spPr bwMode="auto">
            <a:xfrm>
              <a:off x="2554" y="2450"/>
              <a:ext cx="711" cy="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solidFill>
                    <a:srgbClr val="080808"/>
                  </a:solidFill>
                  <a:latin typeface="Arial" charset="0"/>
                  <a:cs typeface="Arial" charset="0"/>
                </a:rPr>
                <a:t>Parallel Data</a:t>
              </a:r>
              <a:br>
                <a:rPr lang="en-US" sz="1000" b="1">
                  <a:solidFill>
                    <a:srgbClr val="080808"/>
                  </a:solidFill>
                  <a:latin typeface="Arial" charset="0"/>
                  <a:cs typeface="Arial" charset="0"/>
                </a:rPr>
              </a:br>
              <a:r>
                <a:rPr lang="en-US" sz="1000" b="1">
                  <a:solidFill>
                    <a:srgbClr val="080808"/>
                  </a:solidFill>
                  <a:latin typeface="Arial" charset="0"/>
                  <a:cs typeface="Arial" charset="0"/>
                </a:rPr>
                <a:t>Cache</a:t>
              </a:r>
            </a:p>
          </p:txBody>
        </p:sp>
        <p:sp>
          <p:nvSpPr>
            <p:cNvPr id="26728" name="Rectangle 363"/>
            <p:cNvSpPr>
              <a:spLocks noChangeArrowheads="1"/>
            </p:cNvSpPr>
            <p:nvPr/>
          </p:nvSpPr>
          <p:spPr bwMode="auto">
            <a:xfrm>
              <a:off x="4140" y="2450"/>
              <a:ext cx="711" cy="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solidFill>
                    <a:srgbClr val="080808"/>
                  </a:solidFill>
                  <a:latin typeface="Arial" charset="0"/>
                  <a:cs typeface="Arial" charset="0"/>
                </a:rPr>
                <a:t>Parallel Data</a:t>
              </a:r>
              <a:br>
                <a:rPr lang="en-US" sz="1000" b="1">
                  <a:solidFill>
                    <a:srgbClr val="080808"/>
                  </a:solidFill>
                  <a:latin typeface="Arial" charset="0"/>
                  <a:cs typeface="Arial" charset="0"/>
                </a:rPr>
              </a:br>
              <a:r>
                <a:rPr lang="en-US" sz="1000" b="1">
                  <a:solidFill>
                    <a:srgbClr val="080808"/>
                  </a:solidFill>
                  <a:latin typeface="Arial" charset="0"/>
                  <a:cs typeface="Arial" charset="0"/>
                </a:rPr>
                <a:t>Cache</a:t>
              </a:r>
            </a:p>
          </p:txBody>
        </p:sp>
        <p:sp>
          <p:nvSpPr>
            <p:cNvPr id="26729" name="Rectangle 364"/>
            <p:cNvSpPr>
              <a:spLocks noChangeArrowheads="1"/>
            </p:cNvSpPr>
            <p:nvPr/>
          </p:nvSpPr>
          <p:spPr bwMode="auto">
            <a:xfrm>
              <a:off x="4915" y="2450"/>
              <a:ext cx="711" cy="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solidFill>
                    <a:srgbClr val="080808"/>
                  </a:solidFill>
                  <a:latin typeface="Arial" charset="0"/>
                  <a:cs typeface="Arial" charset="0"/>
                </a:rPr>
                <a:t>Parallel Data</a:t>
              </a:r>
              <a:br>
                <a:rPr lang="en-US" sz="1000" b="1">
                  <a:solidFill>
                    <a:srgbClr val="080808"/>
                  </a:solidFill>
                  <a:latin typeface="Arial" charset="0"/>
                  <a:cs typeface="Arial" charset="0"/>
                </a:rPr>
              </a:br>
              <a:r>
                <a:rPr lang="en-US" sz="1000" b="1">
                  <a:solidFill>
                    <a:srgbClr val="080808"/>
                  </a:solidFill>
                  <a:latin typeface="Arial" charset="0"/>
                  <a:cs typeface="Arial" charset="0"/>
                </a:rPr>
                <a:t>Cache</a:t>
              </a:r>
            </a:p>
          </p:txBody>
        </p:sp>
        <p:sp>
          <p:nvSpPr>
            <p:cNvPr id="26730" name="Rectangle 365"/>
            <p:cNvSpPr>
              <a:spLocks noChangeArrowheads="1"/>
            </p:cNvSpPr>
            <p:nvPr/>
          </p:nvSpPr>
          <p:spPr bwMode="auto">
            <a:xfrm>
              <a:off x="5715" y="2450"/>
              <a:ext cx="712" cy="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000" b="1">
                  <a:solidFill>
                    <a:srgbClr val="080808"/>
                  </a:solidFill>
                  <a:latin typeface="Arial" charset="0"/>
                  <a:cs typeface="Arial" charset="0"/>
                </a:rPr>
                <a:t>Parallel Data</a:t>
              </a:r>
              <a:br>
                <a:rPr lang="en-US" sz="1000" b="1">
                  <a:solidFill>
                    <a:srgbClr val="080808"/>
                  </a:solidFill>
                  <a:latin typeface="Arial" charset="0"/>
                  <a:cs typeface="Arial" charset="0"/>
                </a:rPr>
              </a:br>
              <a:r>
                <a:rPr lang="en-US" sz="1000" b="1">
                  <a:solidFill>
                    <a:srgbClr val="080808"/>
                  </a:solidFill>
                  <a:latin typeface="Arial" charset="0"/>
                  <a:cs typeface="Arial" charset="0"/>
                </a:rPr>
                <a:t>Cache</a:t>
              </a:r>
            </a:p>
          </p:txBody>
        </p:sp>
        <p:sp>
          <p:nvSpPr>
            <p:cNvPr id="26731" name="Rectangle 366"/>
            <p:cNvSpPr>
              <a:spLocks noChangeArrowheads="1"/>
            </p:cNvSpPr>
            <p:nvPr/>
          </p:nvSpPr>
          <p:spPr bwMode="auto">
            <a:xfrm>
              <a:off x="1538" y="3242"/>
              <a:ext cx="563" cy="154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200" b="1">
                  <a:solidFill>
                    <a:schemeClr val="bg1"/>
                  </a:solidFill>
                  <a:latin typeface="Arial" charset="0"/>
                  <a:cs typeface="Arial" charset="0"/>
                </a:rPr>
                <a:t>Load/store</a:t>
              </a:r>
            </a:p>
          </p:txBody>
        </p:sp>
        <p:sp>
          <p:nvSpPr>
            <p:cNvPr id="26732" name="Rectangle 367"/>
            <p:cNvSpPr>
              <a:spLocks noChangeArrowheads="1"/>
            </p:cNvSpPr>
            <p:nvPr/>
          </p:nvSpPr>
          <p:spPr bwMode="auto">
            <a:xfrm>
              <a:off x="2648" y="3241"/>
              <a:ext cx="563" cy="154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200" b="1">
                  <a:solidFill>
                    <a:schemeClr val="bg1"/>
                  </a:solidFill>
                  <a:latin typeface="Arial" charset="0"/>
                  <a:cs typeface="Arial" charset="0"/>
                </a:rPr>
                <a:t>Load/store</a:t>
              </a:r>
            </a:p>
          </p:txBody>
        </p:sp>
        <p:sp>
          <p:nvSpPr>
            <p:cNvPr id="26733" name="Rectangle 368"/>
            <p:cNvSpPr>
              <a:spLocks noChangeArrowheads="1"/>
            </p:cNvSpPr>
            <p:nvPr/>
          </p:nvSpPr>
          <p:spPr bwMode="auto">
            <a:xfrm>
              <a:off x="3756" y="3241"/>
              <a:ext cx="563" cy="154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200" b="1">
                  <a:solidFill>
                    <a:schemeClr val="bg1"/>
                  </a:solidFill>
                  <a:latin typeface="Arial" charset="0"/>
                  <a:cs typeface="Arial" charset="0"/>
                </a:rPr>
                <a:t>Load/store</a:t>
              </a:r>
            </a:p>
          </p:txBody>
        </p:sp>
        <p:sp>
          <p:nvSpPr>
            <p:cNvPr id="26734" name="Rectangle 369"/>
            <p:cNvSpPr>
              <a:spLocks noChangeArrowheads="1"/>
            </p:cNvSpPr>
            <p:nvPr/>
          </p:nvSpPr>
          <p:spPr bwMode="auto">
            <a:xfrm>
              <a:off x="4865" y="3241"/>
              <a:ext cx="563" cy="154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200" b="1">
                  <a:solidFill>
                    <a:schemeClr val="bg1"/>
                  </a:solidFill>
                  <a:latin typeface="Arial" charset="0"/>
                  <a:cs typeface="Arial" charset="0"/>
                </a:rPr>
                <a:t>Load/store</a:t>
              </a:r>
            </a:p>
          </p:txBody>
        </p:sp>
        <p:sp>
          <p:nvSpPr>
            <p:cNvPr id="26735" name="Rectangle 370"/>
            <p:cNvSpPr>
              <a:spLocks noChangeArrowheads="1"/>
            </p:cNvSpPr>
            <p:nvPr/>
          </p:nvSpPr>
          <p:spPr bwMode="auto">
            <a:xfrm>
              <a:off x="5974" y="3242"/>
              <a:ext cx="563" cy="154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sz="1200" b="1">
                  <a:solidFill>
                    <a:schemeClr val="bg1"/>
                  </a:solidFill>
                  <a:latin typeface="Arial" charset="0"/>
                  <a:cs typeface="Arial" charset="0"/>
                </a:rPr>
                <a:t>Load/store</a:t>
              </a:r>
            </a:p>
          </p:txBody>
        </p:sp>
      </p:grpSp>
      <p:sp>
        <p:nvSpPr>
          <p:cNvPr id="26629" name="Rectangle 371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8204200" cy="1143000"/>
          </a:xfrm>
        </p:spPr>
        <p:txBody>
          <a:bodyPr/>
          <a:lstStyle/>
          <a:p>
            <a:r>
              <a:rPr lang="en-US" sz="4000">
                <a:latin typeface="Times New Roman" charset="0"/>
              </a:rPr>
              <a:t>Architecture of a CUDA-capable GPU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87131DD-BDF9-1D47-BD14-D637F358A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2CD208-48E4-4A41-91CC-83482C450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9</a:t>
            </a:fld>
            <a:endParaRPr lang="es-ES" altLang="zh-TW" dirty="0"/>
          </a:p>
        </p:txBody>
      </p:sp>
      <p:sp>
        <p:nvSpPr>
          <p:cNvPr id="4" name="Oval Callout 3">
            <a:extLst>
              <a:ext uri="{FF2B5EF4-FFF2-40B4-BE49-F238E27FC236}">
                <a16:creationId xmlns:a16="http://schemas.microsoft.com/office/drawing/2014/main" id="{1E8B3C6A-D41E-E042-AFB9-49F5EB2E737A}"/>
              </a:ext>
            </a:extLst>
          </p:cNvPr>
          <p:cNvSpPr/>
          <p:nvPr/>
        </p:nvSpPr>
        <p:spPr bwMode="auto">
          <a:xfrm>
            <a:off x="7104590" y="1340768"/>
            <a:ext cx="1582176" cy="481248"/>
          </a:xfrm>
          <a:prstGeom prst="wedgeEllipseCallout">
            <a:avLst>
              <a:gd name="adj1" fmla="val 23570"/>
              <a:gd name="adj2" fmla="val 271043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streaming multiprocessor</a:t>
            </a:r>
          </a:p>
        </p:txBody>
      </p:sp>
    </p:spTree>
    <p:extLst>
      <p:ext uri="{BB962C8B-B14F-4D97-AF65-F5344CB8AC3E}">
        <p14:creationId xmlns:p14="http://schemas.microsoft.com/office/powerpoint/2010/main" val="398053778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GPU device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124744"/>
            <a:ext cx="4073252" cy="51826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60032" y="1772816"/>
            <a:ext cx="39604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Global memory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Streaming Multiprocessors (SM) where each SM has: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/>
              <a:t>Control units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/>
              <a:t>Registers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/>
              <a:t>Execution pipelines</a:t>
            </a:r>
          </a:p>
          <a:p>
            <a:pPr marL="742950" lvl="1" indent="-285750">
              <a:buFont typeface="Arial"/>
              <a:buChar char="•"/>
            </a:pPr>
            <a:r>
              <a:rPr lang="en-US" dirty="0"/>
              <a:t>Caches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92080" y="5229200"/>
            <a:ext cx="3456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tatourian.com</a:t>
            </a:r>
            <a:r>
              <a:rPr lang="en-US" sz="1200" dirty="0"/>
              <a:t>/2013/09/03/</a:t>
            </a:r>
            <a:r>
              <a:rPr lang="en-US" sz="1200" dirty="0" err="1"/>
              <a:t>nvidia</a:t>
            </a:r>
            <a:r>
              <a:rPr lang="en-US" sz="1200" dirty="0"/>
              <a:t>-</a:t>
            </a:r>
            <a:r>
              <a:rPr lang="en-US" sz="1200" dirty="0" err="1"/>
              <a:t>gpu</a:t>
            </a:r>
            <a:r>
              <a:rPr lang="en-US" sz="1200" dirty="0"/>
              <a:t>-architecture-</a:t>
            </a:r>
            <a:r>
              <a:rPr lang="en-US" sz="1200" dirty="0" err="1"/>
              <a:t>cuda</a:t>
            </a:r>
            <a:r>
              <a:rPr lang="en-US" sz="1200" dirty="0"/>
              <a:t>-programming-environment/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94A0F8-F5B6-8447-A920-0721D5AF3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A7CC14-0B8E-FF4F-8CAA-589122001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10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4163951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139136" cy="490066"/>
          </a:xfrm>
        </p:spPr>
        <p:txBody>
          <a:bodyPr/>
          <a:lstStyle/>
          <a:p>
            <a:r>
              <a:rPr lang="en-US" dirty="0"/>
              <a:t>GeForce 8800 Architecture (Tesla)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00" y="988980"/>
            <a:ext cx="8320732" cy="5221319"/>
          </a:xfrm>
          <a:prstGeom prst="rect">
            <a:avLst/>
          </a:prstGeom>
        </p:spPr>
      </p:pic>
      <p:sp>
        <p:nvSpPr>
          <p:cNvPr id="3" name="Rounded Rectangular Callout 2">
            <a:extLst>
              <a:ext uri="{FF2B5EF4-FFF2-40B4-BE49-F238E27FC236}">
                <a16:creationId xmlns:a16="http://schemas.microsoft.com/office/drawing/2014/main" id="{B568F56D-11BE-4745-B4CC-03D1C09DF7AF}"/>
              </a:ext>
            </a:extLst>
          </p:cNvPr>
          <p:cNvSpPr/>
          <p:nvPr/>
        </p:nvSpPr>
        <p:spPr bwMode="auto">
          <a:xfrm>
            <a:off x="7164288" y="531217"/>
            <a:ext cx="1522512" cy="440300"/>
          </a:xfrm>
          <a:prstGeom prst="wedgeRoundRectCallout">
            <a:avLst>
              <a:gd name="adj1" fmla="val -122390"/>
              <a:gd name="adj2" fmla="val 445903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ro-RO" sz="1100" dirty="0" err="1"/>
              <a:t>Streaming</a:t>
            </a:r>
            <a:r>
              <a:rPr lang="ro-RO" sz="1100" dirty="0"/>
              <a:t> </a:t>
            </a:r>
            <a:r>
              <a:rPr lang="ro-RO" sz="1100" dirty="0" err="1"/>
              <a:t>MultiProcessor</a:t>
            </a:r>
            <a:r>
              <a:rPr lang="ro-RO" sz="1100" dirty="0"/>
              <a:t> </a:t>
            </a:r>
            <a:r>
              <a:rPr lang="ro-RO" sz="1100" dirty="0" err="1"/>
              <a:t>Array</a:t>
            </a:r>
            <a:endParaRPr kumimoji="0" lang="en-US" sz="11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65FB8C5-8123-3348-A60B-04EC9E1C2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7AF0573-91A6-6842-B450-B077DAE64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11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32683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950756"/>
            <a:ext cx="7482160" cy="5466009"/>
          </a:xfrm>
          <a:prstGeom prst="rect">
            <a:avLst/>
          </a:prstGeom>
        </p:spPr>
      </p:pic>
      <p:sp>
        <p:nvSpPr>
          <p:cNvPr id="3" name="Rounded Rectangular Callout 2">
            <a:extLst>
              <a:ext uri="{FF2B5EF4-FFF2-40B4-BE49-F238E27FC236}">
                <a16:creationId xmlns:a16="http://schemas.microsoft.com/office/drawing/2014/main" id="{B5F55D82-D6DA-E645-A432-2548377D384D}"/>
              </a:ext>
            </a:extLst>
          </p:cNvPr>
          <p:cNvSpPr/>
          <p:nvPr/>
        </p:nvSpPr>
        <p:spPr bwMode="auto">
          <a:xfrm>
            <a:off x="1907704" y="346962"/>
            <a:ext cx="1008112" cy="575990"/>
          </a:xfrm>
          <a:prstGeom prst="wedgeRoundRectCallout">
            <a:avLst>
              <a:gd name="adj1" fmla="val 183169"/>
              <a:gd name="adj2" fmla="val 107845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ro-RO" sz="1100" dirty="0" err="1"/>
              <a:t>Texture</a:t>
            </a:r>
            <a:r>
              <a:rPr lang="ro-RO" sz="1100" dirty="0"/>
              <a:t> / </a:t>
            </a:r>
            <a:r>
              <a:rPr lang="ro-RO" sz="1100" dirty="0" err="1"/>
              <a:t>Processor</a:t>
            </a:r>
            <a:r>
              <a:rPr lang="ro-RO" sz="1100" dirty="0"/>
              <a:t> Cluster</a:t>
            </a:r>
            <a:endParaRPr kumimoji="0" lang="en-US" sz="11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0C955D69-64C5-8244-8B78-05DC6B85469D}"/>
              </a:ext>
            </a:extLst>
          </p:cNvPr>
          <p:cNvSpPr/>
          <p:nvPr/>
        </p:nvSpPr>
        <p:spPr bwMode="auto">
          <a:xfrm>
            <a:off x="4716016" y="254626"/>
            <a:ext cx="1152128" cy="576064"/>
          </a:xfrm>
          <a:prstGeom prst="wedgeRoundRectCallout">
            <a:avLst>
              <a:gd name="adj1" fmla="val 113278"/>
              <a:gd name="adj2" fmla="val 138551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ro-RO" sz="1100" dirty="0" err="1"/>
              <a:t>Streaming</a:t>
            </a:r>
            <a:r>
              <a:rPr lang="ro-RO" sz="1100" dirty="0"/>
              <a:t> </a:t>
            </a:r>
            <a:r>
              <a:rPr lang="ro-RO" sz="1100" dirty="0" err="1"/>
              <a:t>Multiprocessor</a:t>
            </a:r>
            <a:endParaRPr kumimoji="0" lang="en-US" sz="11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9483F127-1333-864B-B8EC-69BD2D7C8E63}"/>
              </a:ext>
            </a:extLst>
          </p:cNvPr>
          <p:cNvSpPr/>
          <p:nvPr/>
        </p:nvSpPr>
        <p:spPr bwMode="auto">
          <a:xfrm>
            <a:off x="467544" y="1340768"/>
            <a:ext cx="1080120" cy="648072"/>
          </a:xfrm>
          <a:prstGeom prst="wedgeRoundRectCallout">
            <a:avLst>
              <a:gd name="adj1" fmla="val 267775"/>
              <a:gd name="adj2" fmla="val 268938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ro-RO" sz="1100" dirty="0" err="1"/>
              <a:t>Streaming</a:t>
            </a:r>
            <a:r>
              <a:rPr lang="ro-RO" sz="1100" dirty="0"/>
              <a:t> </a:t>
            </a:r>
            <a:r>
              <a:rPr lang="ro-RO" sz="1100" dirty="0" err="1"/>
              <a:t>processor</a:t>
            </a:r>
            <a:r>
              <a:rPr lang="ro-RO" sz="1100" dirty="0"/>
              <a:t> (CUDA </a:t>
            </a:r>
            <a:r>
              <a:rPr lang="ro-RO" sz="1100" dirty="0" err="1"/>
              <a:t>core</a:t>
            </a:r>
            <a:r>
              <a:rPr lang="ro-RO" sz="1100" dirty="0"/>
              <a:t>)</a:t>
            </a:r>
            <a:endParaRPr kumimoji="0" lang="en-US" sz="11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90FB0DC-5B0A-034F-86EF-3D104BE10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19FED6-83B6-C946-99F4-E8C17ADD5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12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3189581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92D85-D75D-7F84-3110-5A968DEF4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NVidia architectures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5E5181-EFCD-9B1F-6860-C08F8B64C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F98615-51EE-E46C-07B6-98E1CBDF4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13</a:t>
            </a:fld>
            <a:endParaRPr lang="es-ES" altLang="zh-TW" dirty="0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74689F2F-4681-992D-0E07-9D4696A3ACA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AA1E8E-2250-8A97-8B14-F5EC9C752F07}"/>
              </a:ext>
            </a:extLst>
          </p:cNvPr>
          <p:cNvSpPr txBox="1"/>
          <p:nvPr/>
        </p:nvSpPr>
        <p:spPr>
          <a:xfrm>
            <a:off x="927212" y="1191756"/>
            <a:ext cx="6984776" cy="4298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1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Blackwell Architecture (March 2024)</a:t>
            </a:r>
          </a:p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1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Hopper Architecture (March 2022)</a:t>
            </a:r>
          </a:p>
          <a:p>
            <a:pPr algn="l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1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Ada Lovelace Architecture (September 2022)</a:t>
            </a:r>
          </a:p>
          <a:p>
            <a:pPr algn="l">
              <a:buNone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Ampere Architecture (2020)</a:t>
            </a:r>
            <a:endParaRPr lang="en-US" sz="16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Turing Architecture (2018)</a:t>
            </a:r>
            <a:endParaRPr lang="en-US" sz="16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US" sz="16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Volta Architecture (2017)</a:t>
            </a:r>
            <a:endParaRPr lang="en-US" sz="16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US" sz="1600" b="1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Pascal Architecture (2016)</a:t>
            </a:r>
            <a:endParaRPr lang="en-US" sz="1600" b="0" i="0" dirty="0">
              <a:solidFill>
                <a:srgbClr val="1A1A1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US" sz="1600" b="1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Maxwell Architecture (2014)</a:t>
            </a:r>
            <a:endParaRPr lang="en-US" sz="1600" b="0" i="0" dirty="0">
              <a:solidFill>
                <a:srgbClr val="1A1A1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US" sz="1600" b="1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Kepler Architecture (2012)</a:t>
            </a:r>
            <a:endParaRPr lang="en-US" sz="1600" b="0" i="0" dirty="0">
              <a:solidFill>
                <a:srgbClr val="1A1A1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US" sz="1600" b="1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Fermi Architecture (2010)</a:t>
            </a:r>
            <a:endParaRPr lang="en-US" sz="1600" b="0" i="0" dirty="0">
              <a:solidFill>
                <a:srgbClr val="1A1A1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US" sz="1600" b="1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Tesla Architecture (2006)</a:t>
            </a:r>
            <a:endParaRPr lang="en-US" sz="1600" b="0" i="0" dirty="0">
              <a:solidFill>
                <a:srgbClr val="1A1A1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US" sz="1600" b="1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Curie Architecture 2004)</a:t>
            </a:r>
            <a:endParaRPr lang="en-US" sz="1600" b="0" i="0" dirty="0">
              <a:solidFill>
                <a:srgbClr val="1A1A1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US" sz="1600" b="1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Rankine (2003)</a:t>
            </a:r>
            <a:endParaRPr lang="en-US" sz="1600" b="0" i="0" dirty="0">
              <a:solidFill>
                <a:srgbClr val="1A1A1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US" sz="1600" b="1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Kelvin (2001)</a:t>
            </a:r>
            <a:endParaRPr lang="en-US" sz="1600" b="0" i="0" dirty="0">
              <a:solidFill>
                <a:srgbClr val="1A1A1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US" sz="1600" b="1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Celsius (1999)</a:t>
            </a:r>
            <a:endParaRPr lang="en-US" sz="1600" b="0" i="0" dirty="0">
              <a:solidFill>
                <a:srgbClr val="1A1A1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7976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Requirement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Cerinte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GPU </a:t>
            </a:r>
          </a:p>
          <a:p>
            <a:endParaRPr lang="en-US" dirty="0"/>
          </a:p>
          <a:p>
            <a:r>
              <a:rPr lang="fr-FR" dirty="0"/>
              <a:t> CUDA-capable GPU</a:t>
            </a:r>
          </a:p>
          <a:p>
            <a:pPr lvl="1"/>
            <a:r>
              <a:rPr lang="en-US" dirty="0" err="1"/>
              <a:t>Lista</a:t>
            </a:r>
            <a:r>
              <a:rPr lang="en-US" dirty="0"/>
              <a:t> device-</a:t>
            </a:r>
            <a:r>
              <a:rPr lang="en-US" dirty="0" err="1"/>
              <a:t>urilor</a:t>
            </a:r>
            <a:r>
              <a:rPr lang="en-US" dirty="0"/>
              <a:t> </a:t>
            </a:r>
            <a:r>
              <a:rPr lang="en-US" dirty="0" err="1"/>
              <a:t>acceptate</a:t>
            </a:r>
            <a:r>
              <a:rPr lang="en-US" dirty="0"/>
              <a:t>:	https://</a:t>
            </a:r>
            <a:r>
              <a:rPr lang="en-US" dirty="0" err="1"/>
              <a:t>developer.nvidia.com</a:t>
            </a:r>
            <a:r>
              <a:rPr lang="en-US" dirty="0"/>
              <a:t>/</a:t>
            </a:r>
            <a:r>
              <a:rPr lang="en-US" dirty="0" err="1"/>
              <a:t>cuda-gpus</a:t>
            </a:r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r>
              <a:rPr lang="en-US" dirty="0" err="1"/>
              <a:t>Instalare</a:t>
            </a:r>
            <a:r>
              <a:rPr lang="en-US" dirty="0"/>
              <a:t>-&gt; </a:t>
            </a:r>
            <a:r>
              <a:rPr lang="en-US" dirty="0" err="1"/>
              <a:t>documentatie</a:t>
            </a:r>
            <a:endParaRPr lang="en-US" dirty="0"/>
          </a:p>
          <a:p>
            <a:pPr lvl="2"/>
            <a:r>
              <a:rPr lang="en-US" dirty="0"/>
              <a:t>http://</a:t>
            </a:r>
            <a:r>
              <a:rPr lang="en-US" dirty="0" err="1"/>
              <a:t>docs.nvidia.com</a:t>
            </a:r>
            <a:r>
              <a:rPr lang="en-US" dirty="0"/>
              <a:t>/</a:t>
            </a:r>
            <a:r>
              <a:rPr lang="en-US" dirty="0" err="1"/>
              <a:t>cuda</a:t>
            </a:r>
            <a:r>
              <a:rPr lang="en-US" dirty="0"/>
              <a:t>/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8E792B-0801-5D47-85B8-BACB0FF80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8F75FD-610C-CE4D-97E4-2E51CCD4B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14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703571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Fluxul</a:t>
            </a:r>
            <a:r>
              <a:rPr lang="en-US" dirty="0"/>
              <a:t> de </a:t>
            </a:r>
            <a:r>
              <a:rPr lang="en-US" dirty="0" err="1"/>
              <a:t>procesare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 </a:t>
            </a:r>
            <a:r>
              <a:rPr lang="en-US" dirty="0" err="1"/>
              <a:t>copiaza</a:t>
            </a:r>
            <a:r>
              <a:rPr lang="en-US" dirty="0"/>
              <a:t> </a:t>
            </a:r>
            <a:r>
              <a:rPr lang="en-US" dirty="0" err="1"/>
              <a:t>datele</a:t>
            </a:r>
            <a:r>
              <a:rPr lang="en-US" dirty="0"/>
              <a:t> in </a:t>
            </a:r>
            <a:r>
              <a:rPr lang="en-US" dirty="0" err="1"/>
              <a:t>memoria</a:t>
            </a:r>
            <a:r>
              <a:rPr lang="en-US" dirty="0"/>
              <a:t> GPU </a:t>
            </a:r>
          </a:p>
          <a:p>
            <a:r>
              <a:rPr lang="en-US" dirty="0"/>
              <a:t>Se </a:t>
            </a:r>
            <a:r>
              <a:rPr lang="en-US" dirty="0" err="1"/>
              <a:t>executa</a:t>
            </a:r>
            <a:r>
              <a:rPr lang="en-US" dirty="0"/>
              <a:t> </a:t>
            </a:r>
            <a:r>
              <a:rPr lang="en-US" dirty="0" err="1"/>
              <a:t>calcul</a:t>
            </a:r>
            <a:r>
              <a:rPr lang="en-US" dirty="0"/>
              <a:t> in GPU (mii de </a:t>
            </a:r>
            <a:r>
              <a:rPr lang="en-US" dirty="0" err="1"/>
              <a:t>threaduri</a:t>
            </a:r>
            <a:r>
              <a:rPr lang="en-US" dirty="0"/>
              <a:t>)</a:t>
            </a:r>
          </a:p>
          <a:p>
            <a:r>
              <a:rPr lang="en-US" dirty="0"/>
              <a:t>Se </a:t>
            </a:r>
            <a:r>
              <a:rPr lang="en-US" dirty="0" err="1"/>
              <a:t>copiaza</a:t>
            </a:r>
            <a:r>
              <a:rPr lang="en-US" dirty="0"/>
              <a:t> </a:t>
            </a:r>
            <a:r>
              <a:rPr lang="en-US" dirty="0" err="1"/>
              <a:t>datele</a:t>
            </a:r>
            <a:r>
              <a:rPr lang="en-US" dirty="0"/>
              <a:t> din </a:t>
            </a:r>
            <a:r>
              <a:rPr lang="en-US" dirty="0" err="1"/>
              <a:t>memoria</a:t>
            </a:r>
            <a:r>
              <a:rPr lang="en-US" dirty="0"/>
              <a:t> GPU in </a:t>
            </a:r>
            <a:r>
              <a:rPr lang="en-US" dirty="0" err="1"/>
              <a:t>memoria</a:t>
            </a:r>
            <a:r>
              <a:rPr lang="en-US" dirty="0"/>
              <a:t>  host</a:t>
            </a:r>
          </a:p>
          <a:p>
            <a:endParaRPr lang="en-US" dirty="0"/>
          </a:p>
          <a:p>
            <a:r>
              <a:rPr lang="en-US" dirty="0"/>
              <a:t>Kernel: </a:t>
            </a:r>
            <a:r>
              <a:rPr lang="en-US" dirty="0" err="1"/>
              <a:t>codul</a:t>
            </a:r>
            <a:r>
              <a:rPr lang="en-US" dirty="0"/>
              <a:t> GPU care se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executa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6ABF7-69A8-7A43-98E3-DD7886498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F1E3DB-9ECF-114C-973C-EAC40E1AE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15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1072190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charset="0"/>
              </a:rPr>
              <a:t>Extended C</a:t>
            </a:r>
          </a:p>
        </p:txBody>
      </p:sp>
      <p:sp>
        <p:nvSpPr>
          <p:cNvPr id="512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3311525" cy="4572000"/>
          </a:xfrm>
        </p:spPr>
        <p:txBody>
          <a:bodyPr/>
          <a:lstStyle/>
          <a:p>
            <a:r>
              <a:rPr lang="en-US" sz="2000" b="1" dirty="0" err="1">
                <a:latin typeface="Times New Roman" charset="0"/>
              </a:rPr>
              <a:t>Declspecs</a:t>
            </a:r>
            <a:endParaRPr lang="en-US" sz="2000" b="1" dirty="0">
              <a:latin typeface="Times New Roman" charset="0"/>
            </a:endParaRPr>
          </a:p>
          <a:p>
            <a:pPr lvl="1"/>
            <a:r>
              <a:rPr lang="en-US" sz="1800" b="1" dirty="0">
                <a:latin typeface="Times New Roman" charset="0"/>
              </a:rPr>
              <a:t>global, device, shared, local, constant</a:t>
            </a:r>
          </a:p>
          <a:p>
            <a:endParaRPr lang="en-US" sz="2000" b="1" dirty="0">
              <a:latin typeface="Times New Roman" charset="0"/>
            </a:endParaRPr>
          </a:p>
          <a:p>
            <a:r>
              <a:rPr lang="en-US" sz="2000" b="1" dirty="0">
                <a:latin typeface="Times New Roman" charset="0"/>
              </a:rPr>
              <a:t>Keywords</a:t>
            </a:r>
          </a:p>
          <a:p>
            <a:pPr lvl="1"/>
            <a:r>
              <a:rPr lang="en-US" sz="1800" b="1" dirty="0" err="1">
                <a:latin typeface="Times New Roman" charset="0"/>
              </a:rPr>
              <a:t>threadIdx</a:t>
            </a:r>
            <a:r>
              <a:rPr lang="en-US" sz="1800" b="1" dirty="0">
                <a:latin typeface="Times New Roman" charset="0"/>
              </a:rPr>
              <a:t>, </a:t>
            </a:r>
            <a:r>
              <a:rPr lang="en-US" sz="1800" b="1" dirty="0" err="1">
                <a:latin typeface="Times New Roman" charset="0"/>
              </a:rPr>
              <a:t>blockIdx</a:t>
            </a:r>
            <a:endParaRPr lang="en-US" sz="1800" b="1" dirty="0">
              <a:latin typeface="Times New Roman" charset="0"/>
            </a:endParaRPr>
          </a:p>
          <a:p>
            <a:r>
              <a:rPr lang="en-US" sz="2000" b="1" dirty="0" err="1">
                <a:latin typeface="Times New Roman" charset="0"/>
              </a:rPr>
              <a:t>Intrinsics</a:t>
            </a:r>
            <a:endParaRPr lang="en-US" sz="2000" b="1" dirty="0">
              <a:latin typeface="Times New Roman" charset="0"/>
            </a:endParaRPr>
          </a:p>
          <a:p>
            <a:pPr lvl="1"/>
            <a:r>
              <a:rPr lang="en-US" sz="1800" b="1" dirty="0">
                <a:latin typeface="Times New Roman" charset="0"/>
              </a:rPr>
              <a:t>__</a:t>
            </a:r>
            <a:r>
              <a:rPr lang="en-US" sz="1800" b="1" dirty="0" err="1">
                <a:latin typeface="Times New Roman" charset="0"/>
              </a:rPr>
              <a:t>syncthreads</a:t>
            </a:r>
            <a:endParaRPr lang="en-US" sz="1800" b="1" dirty="0">
              <a:latin typeface="Times New Roman" charset="0"/>
            </a:endParaRPr>
          </a:p>
          <a:p>
            <a:endParaRPr lang="en-US" sz="2000" b="1" dirty="0">
              <a:latin typeface="Times New Roman" charset="0"/>
            </a:endParaRPr>
          </a:p>
          <a:p>
            <a:r>
              <a:rPr lang="en-US" sz="2000" b="1" dirty="0">
                <a:latin typeface="Times New Roman" charset="0"/>
              </a:rPr>
              <a:t>Runtime API</a:t>
            </a:r>
          </a:p>
          <a:p>
            <a:pPr lvl="1"/>
            <a:r>
              <a:rPr lang="en-US" sz="1800" b="1" dirty="0">
                <a:latin typeface="Times New Roman" charset="0"/>
              </a:rPr>
              <a:t>Memory, symbol, execution management</a:t>
            </a:r>
          </a:p>
          <a:p>
            <a:endParaRPr lang="en-US" sz="2000" b="1" dirty="0">
              <a:latin typeface="Times New Roman" charset="0"/>
            </a:endParaRPr>
          </a:p>
          <a:p>
            <a:r>
              <a:rPr lang="en-US" sz="2000" b="1" dirty="0">
                <a:latin typeface="Times New Roman" charset="0"/>
              </a:rPr>
              <a:t>Function launch</a:t>
            </a:r>
          </a:p>
        </p:txBody>
      </p:sp>
      <p:sp>
        <p:nvSpPr>
          <p:cNvPr id="51206" name="Text Box 4"/>
          <p:cNvSpPr txBox="1">
            <a:spLocks noChangeArrowheads="1"/>
          </p:cNvSpPr>
          <p:nvPr/>
        </p:nvSpPr>
        <p:spPr bwMode="auto">
          <a:xfrm>
            <a:off x="4095750" y="1390650"/>
            <a:ext cx="495300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b="1" dirty="0">
                <a:solidFill>
                  <a:srgbClr val="3366FF"/>
                </a:solidFill>
                <a:latin typeface="Courier New" charset="0"/>
              </a:rPr>
              <a:t>__device__ float filter[N]; </a:t>
            </a:r>
          </a:p>
          <a:p>
            <a:pPr eaLnBrk="1" hangingPunct="1"/>
            <a:endParaRPr lang="en-US" sz="1400" b="1" dirty="0">
              <a:solidFill>
                <a:srgbClr val="3366FF"/>
              </a:solidFill>
              <a:latin typeface="Courier New" charset="0"/>
            </a:endParaRPr>
          </a:p>
          <a:p>
            <a:pPr eaLnBrk="1" hangingPunct="1"/>
            <a:r>
              <a:rPr lang="en-US" sz="1200" b="1" dirty="0">
                <a:solidFill>
                  <a:schemeClr val="bg1">
                    <a:lumMod val="50000"/>
                  </a:schemeClr>
                </a:solidFill>
                <a:latin typeface="Courier New" charset="0"/>
              </a:rPr>
              <a:t>//</a:t>
            </a:r>
            <a:r>
              <a:rPr lang="en-US" sz="1200" b="1" dirty="0">
                <a:solidFill>
                  <a:schemeClr val="bg1">
                    <a:lumMod val="50000"/>
                  </a:schemeClr>
                </a:solidFill>
              </a:rPr>
              <a:t> a global variable in the GPU, not the CPU.</a:t>
            </a:r>
            <a:endParaRPr lang="en-US" sz="1400" b="1" dirty="0">
              <a:solidFill>
                <a:srgbClr val="3366FF"/>
              </a:solidFill>
              <a:latin typeface="Courier New" charset="0"/>
            </a:endParaRPr>
          </a:p>
          <a:p>
            <a:pPr eaLnBrk="1" hangingPunct="1"/>
            <a:r>
              <a:rPr lang="en-US" sz="1400" b="1" dirty="0">
                <a:solidFill>
                  <a:srgbClr val="3366FF"/>
                </a:solidFill>
                <a:latin typeface="Courier New" charset="0"/>
              </a:rPr>
              <a:t>__global__ void convolve (float *image)  {</a:t>
            </a:r>
          </a:p>
          <a:p>
            <a:pPr eaLnBrk="1" hangingPunct="1"/>
            <a:endParaRPr lang="en-US" sz="1400" b="1" dirty="0">
              <a:solidFill>
                <a:srgbClr val="3366FF"/>
              </a:solidFill>
              <a:latin typeface="Courier New" charset="0"/>
            </a:endParaRPr>
          </a:p>
          <a:p>
            <a:pPr eaLnBrk="1" hangingPunct="1"/>
            <a:r>
              <a:rPr lang="en-US" sz="1400" b="1" dirty="0">
                <a:solidFill>
                  <a:srgbClr val="3366FF"/>
                </a:solidFill>
                <a:latin typeface="Courier New" charset="0"/>
              </a:rPr>
              <a:t>  __shared__ float region[M];</a:t>
            </a:r>
          </a:p>
          <a:p>
            <a:pPr eaLnBrk="1" hangingPunct="1"/>
            <a:r>
              <a:rPr lang="en-US" sz="1400" b="1" dirty="0">
                <a:solidFill>
                  <a:srgbClr val="3366FF"/>
                </a:solidFill>
                <a:latin typeface="Courier New" charset="0"/>
              </a:rPr>
              <a:t>  ... </a:t>
            </a:r>
          </a:p>
          <a:p>
            <a:pPr eaLnBrk="1" hangingPunct="1"/>
            <a:endParaRPr lang="en-US" sz="1400" b="1" dirty="0">
              <a:solidFill>
                <a:srgbClr val="3366FF"/>
              </a:solidFill>
              <a:latin typeface="Courier New" charset="0"/>
            </a:endParaRPr>
          </a:p>
          <a:p>
            <a:pPr eaLnBrk="1" hangingPunct="1"/>
            <a:r>
              <a:rPr lang="en-US" sz="1400" b="1" dirty="0">
                <a:solidFill>
                  <a:srgbClr val="3366FF"/>
                </a:solidFill>
                <a:latin typeface="Courier New" charset="0"/>
              </a:rPr>
              <a:t>  region[</a:t>
            </a:r>
            <a:r>
              <a:rPr lang="en-US" sz="1400" b="1" dirty="0" err="1">
                <a:solidFill>
                  <a:srgbClr val="3366FF"/>
                </a:solidFill>
                <a:latin typeface="Courier New" charset="0"/>
              </a:rPr>
              <a:t>threadIdx</a:t>
            </a:r>
            <a:r>
              <a:rPr lang="en-US" sz="1400" b="1" dirty="0">
                <a:solidFill>
                  <a:srgbClr val="3366FF"/>
                </a:solidFill>
                <a:latin typeface="Courier New" charset="0"/>
              </a:rPr>
              <a:t>] = image[</a:t>
            </a:r>
            <a:r>
              <a:rPr lang="en-US" sz="1400" b="1" dirty="0" err="1">
                <a:solidFill>
                  <a:srgbClr val="3366FF"/>
                </a:solidFill>
                <a:latin typeface="Courier New" charset="0"/>
              </a:rPr>
              <a:t>i</a:t>
            </a:r>
            <a:r>
              <a:rPr lang="en-US" sz="1400" b="1" dirty="0">
                <a:solidFill>
                  <a:srgbClr val="3366FF"/>
                </a:solidFill>
                <a:latin typeface="Courier New" charset="0"/>
              </a:rPr>
              <a:t>]; </a:t>
            </a:r>
          </a:p>
          <a:p>
            <a:pPr eaLnBrk="1" hangingPunct="1"/>
            <a:endParaRPr lang="en-US" sz="1400" b="1" dirty="0">
              <a:solidFill>
                <a:srgbClr val="3366FF"/>
              </a:solidFill>
              <a:latin typeface="Courier New" charset="0"/>
            </a:endParaRPr>
          </a:p>
          <a:p>
            <a:pPr eaLnBrk="1" hangingPunct="1"/>
            <a:r>
              <a:rPr lang="en-US" sz="1400" b="1" dirty="0">
                <a:solidFill>
                  <a:srgbClr val="3366FF"/>
                </a:solidFill>
                <a:latin typeface="Courier New" charset="0"/>
              </a:rPr>
              <a:t>  __</a:t>
            </a:r>
            <a:r>
              <a:rPr lang="en-US" sz="1400" b="1" dirty="0" err="1">
                <a:solidFill>
                  <a:srgbClr val="3366FF"/>
                </a:solidFill>
                <a:latin typeface="Courier New" charset="0"/>
              </a:rPr>
              <a:t>syncthreads</a:t>
            </a:r>
            <a:r>
              <a:rPr lang="en-US" sz="1400" b="1" dirty="0">
                <a:solidFill>
                  <a:srgbClr val="3366FF"/>
                </a:solidFill>
                <a:latin typeface="Courier New" charset="0"/>
              </a:rPr>
              <a:t>()  </a:t>
            </a:r>
          </a:p>
          <a:p>
            <a:pPr eaLnBrk="1" hangingPunct="1"/>
            <a:r>
              <a:rPr lang="en-US" sz="1400" b="1" dirty="0">
                <a:solidFill>
                  <a:srgbClr val="3366FF"/>
                </a:solidFill>
                <a:latin typeface="Courier New" charset="0"/>
              </a:rPr>
              <a:t>  ... </a:t>
            </a:r>
          </a:p>
          <a:p>
            <a:pPr eaLnBrk="1" hangingPunct="1"/>
            <a:endParaRPr lang="en-US" sz="1400" b="1" dirty="0">
              <a:solidFill>
                <a:srgbClr val="3366FF"/>
              </a:solidFill>
              <a:latin typeface="Courier New" charset="0"/>
            </a:endParaRPr>
          </a:p>
          <a:p>
            <a:pPr eaLnBrk="1" hangingPunct="1"/>
            <a:r>
              <a:rPr lang="en-US" sz="1400" b="1" dirty="0">
                <a:solidFill>
                  <a:srgbClr val="3366FF"/>
                </a:solidFill>
                <a:latin typeface="Courier New" charset="0"/>
              </a:rPr>
              <a:t>  image[j] = result;</a:t>
            </a:r>
          </a:p>
          <a:p>
            <a:pPr eaLnBrk="1" hangingPunct="1"/>
            <a:r>
              <a:rPr lang="en-US" sz="1400" b="1" dirty="0">
                <a:solidFill>
                  <a:srgbClr val="3366FF"/>
                </a:solidFill>
                <a:latin typeface="Courier New" charset="0"/>
              </a:rPr>
              <a:t>}</a:t>
            </a:r>
          </a:p>
          <a:p>
            <a:pPr eaLnBrk="1" hangingPunct="1"/>
            <a:endParaRPr lang="en-US" sz="1400" b="1" dirty="0">
              <a:solidFill>
                <a:srgbClr val="3366FF"/>
              </a:solidFill>
              <a:latin typeface="Courier New" charset="0"/>
            </a:endParaRPr>
          </a:p>
          <a:p>
            <a:pPr eaLnBrk="1" hangingPunct="1"/>
            <a:r>
              <a:rPr lang="en-US" sz="1400" b="1" dirty="0">
                <a:solidFill>
                  <a:srgbClr val="3366FF"/>
                </a:solidFill>
                <a:latin typeface="Courier New" charset="0"/>
              </a:rPr>
              <a:t>// Allocate GPU memory</a:t>
            </a:r>
          </a:p>
          <a:p>
            <a:pPr eaLnBrk="1" hangingPunct="1"/>
            <a:r>
              <a:rPr lang="en-US" sz="1400" b="1" dirty="0">
                <a:solidFill>
                  <a:srgbClr val="3366FF"/>
                </a:solidFill>
                <a:latin typeface="Courier New" charset="0"/>
              </a:rPr>
              <a:t>void *</a:t>
            </a:r>
            <a:r>
              <a:rPr lang="en-US" sz="1400" b="1" dirty="0" err="1">
                <a:solidFill>
                  <a:srgbClr val="3366FF"/>
                </a:solidFill>
                <a:latin typeface="Courier New" charset="0"/>
              </a:rPr>
              <a:t>myimage</a:t>
            </a:r>
            <a:r>
              <a:rPr lang="en-US" sz="1400" b="1" dirty="0">
                <a:solidFill>
                  <a:srgbClr val="3366FF"/>
                </a:solidFill>
                <a:latin typeface="Courier New" charset="0"/>
              </a:rPr>
              <a:t> = </a:t>
            </a:r>
            <a:r>
              <a:rPr lang="en-US" sz="1400" b="1" dirty="0" err="1">
                <a:solidFill>
                  <a:srgbClr val="3366FF"/>
                </a:solidFill>
                <a:latin typeface="Courier New" charset="0"/>
              </a:rPr>
              <a:t>cudaMalloc</a:t>
            </a:r>
            <a:r>
              <a:rPr lang="en-US" sz="1400" b="1" dirty="0">
                <a:solidFill>
                  <a:srgbClr val="3366FF"/>
                </a:solidFill>
                <a:latin typeface="Courier New" charset="0"/>
              </a:rPr>
              <a:t>(bytes)</a:t>
            </a:r>
          </a:p>
          <a:p>
            <a:pPr eaLnBrk="1" hangingPunct="1"/>
            <a:endParaRPr lang="en-US" sz="1400" b="1" dirty="0">
              <a:solidFill>
                <a:srgbClr val="3366FF"/>
              </a:solidFill>
              <a:latin typeface="Courier New" charset="0"/>
            </a:endParaRPr>
          </a:p>
          <a:p>
            <a:pPr eaLnBrk="1" hangingPunct="1"/>
            <a:endParaRPr lang="en-US" sz="1400" b="1" dirty="0">
              <a:solidFill>
                <a:srgbClr val="3366FF"/>
              </a:solidFill>
              <a:latin typeface="Courier New" charset="0"/>
            </a:endParaRPr>
          </a:p>
          <a:p>
            <a:pPr eaLnBrk="1" hangingPunct="1"/>
            <a:r>
              <a:rPr lang="en-US" sz="1400" b="1" dirty="0">
                <a:solidFill>
                  <a:srgbClr val="3366FF"/>
                </a:solidFill>
                <a:latin typeface="Courier New" charset="0"/>
              </a:rPr>
              <a:t>// 100 blocks, 10 threads per block</a:t>
            </a:r>
          </a:p>
          <a:p>
            <a:pPr eaLnBrk="1" hangingPunct="1"/>
            <a:r>
              <a:rPr lang="en-US" sz="1400" b="1" dirty="0">
                <a:solidFill>
                  <a:srgbClr val="3366FF"/>
                </a:solidFill>
                <a:latin typeface="Courier New" charset="0"/>
              </a:rPr>
              <a:t>convolve&lt;&lt;&lt;100, 10&gt;&gt;&gt; (</a:t>
            </a:r>
            <a:r>
              <a:rPr lang="en-US" sz="1400" b="1" dirty="0" err="1">
                <a:solidFill>
                  <a:srgbClr val="3366FF"/>
                </a:solidFill>
                <a:latin typeface="Courier New" charset="0"/>
              </a:rPr>
              <a:t>myimage</a:t>
            </a:r>
            <a:r>
              <a:rPr lang="en-US" sz="1400" b="1" dirty="0">
                <a:solidFill>
                  <a:srgbClr val="3366FF"/>
                </a:solidFill>
                <a:latin typeface="Courier New" charset="0"/>
              </a:rPr>
              <a:t>);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6653A-0608-1F4E-97EA-09D3A69D0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44E3B9-CAF4-5E43-9E9F-B77F250A4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16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2286338180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8307388" cy="1144588"/>
          </a:xfrm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/>
          <a:p>
            <a:pPr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dirty="0">
                <a:latin typeface="Times New Roman" charset="0"/>
              </a:rPr>
              <a:t>CUDA Function Declarations</a:t>
            </a:r>
          </a:p>
        </p:txBody>
      </p:sp>
      <p:grpSp>
        <p:nvGrpSpPr>
          <p:cNvPr id="63493" name="Group 3"/>
          <p:cNvGrpSpPr>
            <a:grpSpLocks/>
          </p:cNvGrpSpPr>
          <p:nvPr/>
        </p:nvGrpSpPr>
        <p:grpSpPr bwMode="auto">
          <a:xfrm>
            <a:off x="609600" y="1295400"/>
            <a:ext cx="8304213" cy="2208213"/>
            <a:chOff x="384" y="816"/>
            <a:chExt cx="5231" cy="1391"/>
          </a:xfrm>
        </p:grpSpPr>
        <p:sp>
          <p:nvSpPr>
            <p:cNvPr id="63495" name="Rectangle 4"/>
            <p:cNvSpPr>
              <a:spLocks noChangeArrowheads="1"/>
            </p:cNvSpPr>
            <p:nvPr/>
          </p:nvSpPr>
          <p:spPr bwMode="auto">
            <a:xfrm>
              <a:off x="4415" y="1893"/>
              <a:ext cx="1200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algn="ctr" defTabSz="449263">
                <a:spcBef>
                  <a:spcPts val="500"/>
                </a:spcBef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>
                  <a:solidFill>
                    <a:srgbClr val="000000"/>
                  </a:solidFill>
                  <a:latin typeface="Arial" charset="0"/>
                </a:rPr>
                <a:t>host</a:t>
              </a:r>
            </a:p>
          </p:txBody>
        </p:sp>
        <p:sp>
          <p:nvSpPr>
            <p:cNvPr id="63496" name="Rectangle 5"/>
            <p:cNvSpPr>
              <a:spLocks noChangeArrowheads="1"/>
            </p:cNvSpPr>
            <p:nvPr/>
          </p:nvSpPr>
          <p:spPr bwMode="auto">
            <a:xfrm>
              <a:off x="3505" y="1893"/>
              <a:ext cx="911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algn="ctr" defTabSz="449263">
                <a:spcBef>
                  <a:spcPts val="500"/>
                </a:spcBef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>
                  <a:solidFill>
                    <a:srgbClr val="000000"/>
                  </a:solidFill>
                  <a:latin typeface="Arial" charset="0"/>
                </a:rPr>
                <a:t>host</a:t>
              </a:r>
            </a:p>
          </p:txBody>
        </p:sp>
        <p:sp>
          <p:nvSpPr>
            <p:cNvPr id="63497" name="Rectangle 6"/>
            <p:cNvSpPr>
              <a:spLocks noChangeArrowheads="1"/>
            </p:cNvSpPr>
            <p:nvPr/>
          </p:nvSpPr>
          <p:spPr bwMode="auto">
            <a:xfrm>
              <a:off x="384" y="1893"/>
              <a:ext cx="3121" cy="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defTabSz="449263">
                <a:spcBef>
                  <a:spcPts val="500"/>
                </a:spcBef>
                <a:buClr>
                  <a:srgbClr val="3333CC"/>
                </a:buClr>
                <a:buSzPct val="100000"/>
                <a:buFont typeface="Courier New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dirty="0">
                  <a:solidFill>
                    <a:srgbClr val="3333CC"/>
                  </a:solidFill>
                  <a:latin typeface="Courier New" charset="0"/>
                </a:rPr>
                <a:t>__host__</a:t>
              </a:r>
              <a:r>
                <a:rPr lang="en-US" sz="2000" b="1" dirty="0">
                  <a:solidFill>
                    <a:srgbClr val="000000"/>
                  </a:solidFill>
                  <a:latin typeface="Courier New" charset="0"/>
                </a:rPr>
                <a:t>   float </a:t>
              </a:r>
              <a:r>
                <a:rPr lang="en-US" sz="2000" b="1" dirty="0" err="1">
                  <a:solidFill>
                    <a:srgbClr val="000000"/>
                  </a:solidFill>
                  <a:latin typeface="Courier New" charset="0"/>
                </a:rPr>
                <a:t>HostFunc</a:t>
              </a:r>
              <a:r>
                <a:rPr lang="en-US" sz="2000" b="1" dirty="0">
                  <a:solidFill>
                    <a:srgbClr val="000000"/>
                  </a:solidFill>
                  <a:latin typeface="Courier New" charset="0"/>
                </a:rPr>
                <a:t>()</a:t>
              </a:r>
            </a:p>
          </p:txBody>
        </p:sp>
        <p:sp>
          <p:nvSpPr>
            <p:cNvPr id="63498" name="Rectangle 7"/>
            <p:cNvSpPr>
              <a:spLocks noChangeArrowheads="1"/>
            </p:cNvSpPr>
            <p:nvPr/>
          </p:nvSpPr>
          <p:spPr bwMode="auto">
            <a:xfrm>
              <a:off x="4415" y="1586"/>
              <a:ext cx="1200" cy="3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algn="ctr" defTabSz="449263">
                <a:spcBef>
                  <a:spcPts val="500"/>
                </a:spcBef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dirty="0">
                  <a:solidFill>
                    <a:srgbClr val="000000"/>
                  </a:solidFill>
                  <a:latin typeface="Arial" charset="0"/>
                </a:rPr>
                <a:t>host</a:t>
              </a:r>
            </a:p>
          </p:txBody>
        </p:sp>
        <p:sp>
          <p:nvSpPr>
            <p:cNvPr id="63499" name="Rectangle 8"/>
            <p:cNvSpPr>
              <a:spLocks noChangeArrowheads="1"/>
            </p:cNvSpPr>
            <p:nvPr/>
          </p:nvSpPr>
          <p:spPr bwMode="auto">
            <a:xfrm>
              <a:off x="3505" y="1586"/>
              <a:ext cx="911" cy="3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algn="ctr" defTabSz="449263">
                <a:spcBef>
                  <a:spcPts val="500"/>
                </a:spcBef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>
                  <a:solidFill>
                    <a:srgbClr val="000000"/>
                  </a:solidFill>
                  <a:latin typeface="Arial" charset="0"/>
                </a:rPr>
                <a:t>device</a:t>
              </a:r>
            </a:p>
          </p:txBody>
        </p:sp>
        <p:sp>
          <p:nvSpPr>
            <p:cNvPr id="63500" name="Rectangle 9"/>
            <p:cNvSpPr>
              <a:spLocks noChangeArrowheads="1"/>
            </p:cNvSpPr>
            <p:nvPr/>
          </p:nvSpPr>
          <p:spPr bwMode="auto">
            <a:xfrm>
              <a:off x="384" y="1586"/>
              <a:ext cx="3121" cy="3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defTabSz="449263">
                <a:spcBef>
                  <a:spcPts val="500"/>
                </a:spcBef>
                <a:buClr>
                  <a:srgbClr val="3333CC"/>
                </a:buClr>
                <a:buSzPct val="100000"/>
                <a:buFont typeface="Courier New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 dirty="0">
                  <a:solidFill>
                    <a:srgbClr val="3333CC"/>
                  </a:solidFill>
                  <a:latin typeface="Courier New" charset="0"/>
                </a:rPr>
                <a:t>__global__</a:t>
              </a:r>
              <a:r>
                <a:rPr lang="en-US" sz="2000" b="1" dirty="0">
                  <a:solidFill>
                    <a:srgbClr val="000000"/>
                  </a:solidFill>
                  <a:latin typeface="Courier New" charset="0"/>
                </a:rPr>
                <a:t> void  </a:t>
              </a:r>
              <a:r>
                <a:rPr lang="en-US" sz="2000" b="1" dirty="0" err="1">
                  <a:solidFill>
                    <a:srgbClr val="000000"/>
                  </a:solidFill>
                  <a:latin typeface="Courier New" charset="0"/>
                </a:rPr>
                <a:t>KernelFunc</a:t>
              </a:r>
              <a:r>
                <a:rPr lang="en-US" sz="2000" b="1" dirty="0">
                  <a:solidFill>
                    <a:srgbClr val="000000"/>
                  </a:solidFill>
                  <a:latin typeface="Courier New" charset="0"/>
                </a:rPr>
                <a:t>()</a:t>
              </a:r>
            </a:p>
          </p:txBody>
        </p:sp>
        <p:sp>
          <p:nvSpPr>
            <p:cNvPr id="63501" name="Rectangle 10"/>
            <p:cNvSpPr>
              <a:spLocks noChangeArrowheads="1"/>
            </p:cNvSpPr>
            <p:nvPr/>
          </p:nvSpPr>
          <p:spPr bwMode="auto">
            <a:xfrm>
              <a:off x="4415" y="1298"/>
              <a:ext cx="12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algn="ctr" defTabSz="449263">
                <a:spcBef>
                  <a:spcPts val="500"/>
                </a:spcBef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>
                  <a:solidFill>
                    <a:srgbClr val="000000"/>
                  </a:solidFill>
                  <a:latin typeface="Arial" charset="0"/>
                </a:rPr>
                <a:t>device</a:t>
              </a:r>
            </a:p>
          </p:txBody>
        </p:sp>
        <p:sp>
          <p:nvSpPr>
            <p:cNvPr id="63502" name="Rectangle 11"/>
            <p:cNvSpPr>
              <a:spLocks noChangeArrowheads="1"/>
            </p:cNvSpPr>
            <p:nvPr/>
          </p:nvSpPr>
          <p:spPr bwMode="auto">
            <a:xfrm>
              <a:off x="3505" y="1298"/>
              <a:ext cx="91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algn="ctr" defTabSz="449263">
                <a:spcBef>
                  <a:spcPts val="500"/>
                </a:spcBef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>
                  <a:solidFill>
                    <a:srgbClr val="000000"/>
                  </a:solidFill>
                  <a:latin typeface="Arial" charset="0"/>
                </a:rPr>
                <a:t>device</a:t>
              </a:r>
            </a:p>
          </p:txBody>
        </p:sp>
        <p:sp>
          <p:nvSpPr>
            <p:cNvPr id="63503" name="Rectangle 12"/>
            <p:cNvSpPr>
              <a:spLocks noChangeArrowheads="1"/>
            </p:cNvSpPr>
            <p:nvPr/>
          </p:nvSpPr>
          <p:spPr bwMode="auto">
            <a:xfrm>
              <a:off x="384" y="1298"/>
              <a:ext cx="31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defTabSz="449263">
                <a:spcBef>
                  <a:spcPts val="500"/>
                </a:spcBef>
                <a:buClr>
                  <a:srgbClr val="3333CC"/>
                </a:buClr>
                <a:buSzPct val="100000"/>
                <a:buFont typeface="Courier New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 b="1">
                  <a:solidFill>
                    <a:srgbClr val="3333CC"/>
                  </a:solidFill>
                  <a:latin typeface="Courier New" charset="0"/>
                </a:rPr>
                <a:t>__device__</a:t>
              </a:r>
              <a:r>
                <a:rPr lang="en-US" sz="2000" b="1">
                  <a:solidFill>
                    <a:srgbClr val="000000"/>
                  </a:solidFill>
                  <a:latin typeface="Courier New" charset="0"/>
                </a:rPr>
                <a:t> float DeviceFunc()</a:t>
              </a:r>
            </a:p>
          </p:txBody>
        </p:sp>
        <p:sp>
          <p:nvSpPr>
            <p:cNvPr id="63504" name="Rectangle 13"/>
            <p:cNvSpPr>
              <a:spLocks noChangeArrowheads="1"/>
            </p:cNvSpPr>
            <p:nvPr/>
          </p:nvSpPr>
          <p:spPr bwMode="auto">
            <a:xfrm>
              <a:off x="4415" y="816"/>
              <a:ext cx="1200" cy="4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algn="ctr" defTabSz="449263">
                <a:spcBef>
                  <a:spcPts val="500"/>
                </a:spcBef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>
                  <a:solidFill>
                    <a:srgbClr val="000000"/>
                  </a:solidFill>
                  <a:latin typeface="Arial" charset="0"/>
                </a:rPr>
                <a:t>Only callable from the:</a:t>
              </a:r>
            </a:p>
          </p:txBody>
        </p:sp>
        <p:sp>
          <p:nvSpPr>
            <p:cNvPr id="63505" name="Rectangle 14"/>
            <p:cNvSpPr>
              <a:spLocks noChangeArrowheads="1"/>
            </p:cNvSpPr>
            <p:nvPr/>
          </p:nvSpPr>
          <p:spPr bwMode="auto">
            <a:xfrm>
              <a:off x="3505" y="816"/>
              <a:ext cx="911" cy="4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algn="ctr" defTabSz="449263">
                <a:spcBef>
                  <a:spcPts val="500"/>
                </a:spcBef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2000">
                  <a:solidFill>
                    <a:srgbClr val="000000"/>
                  </a:solidFill>
                  <a:latin typeface="Arial" charset="0"/>
                </a:rPr>
                <a:t>Executed on the:</a:t>
              </a:r>
            </a:p>
          </p:txBody>
        </p:sp>
        <p:sp>
          <p:nvSpPr>
            <p:cNvPr id="63506" name="Rectangle 15"/>
            <p:cNvSpPr>
              <a:spLocks noChangeArrowheads="1"/>
            </p:cNvSpPr>
            <p:nvPr/>
          </p:nvSpPr>
          <p:spPr bwMode="auto">
            <a:xfrm>
              <a:off x="384" y="816"/>
              <a:ext cx="3121" cy="4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507" name="Line 16"/>
            <p:cNvSpPr>
              <a:spLocks noChangeShapeType="1"/>
            </p:cNvSpPr>
            <p:nvPr/>
          </p:nvSpPr>
          <p:spPr bwMode="auto">
            <a:xfrm>
              <a:off x="384" y="816"/>
              <a:ext cx="5232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08" name="Line 17"/>
            <p:cNvSpPr>
              <a:spLocks noChangeShapeType="1"/>
            </p:cNvSpPr>
            <p:nvPr/>
          </p:nvSpPr>
          <p:spPr bwMode="auto">
            <a:xfrm>
              <a:off x="384" y="1298"/>
              <a:ext cx="5232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09" name="Line 18"/>
            <p:cNvSpPr>
              <a:spLocks noChangeShapeType="1"/>
            </p:cNvSpPr>
            <p:nvPr/>
          </p:nvSpPr>
          <p:spPr bwMode="auto">
            <a:xfrm>
              <a:off x="384" y="1586"/>
              <a:ext cx="5232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10" name="Line 19"/>
            <p:cNvSpPr>
              <a:spLocks noChangeShapeType="1"/>
            </p:cNvSpPr>
            <p:nvPr/>
          </p:nvSpPr>
          <p:spPr bwMode="auto">
            <a:xfrm>
              <a:off x="384" y="1893"/>
              <a:ext cx="5232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11" name="Line 20"/>
            <p:cNvSpPr>
              <a:spLocks noChangeShapeType="1"/>
            </p:cNvSpPr>
            <p:nvPr/>
          </p:nvSpPr>
          <p:spPr bwMode="auto">
            <a:xfrm>
              <a:off x="384" y="2208"/>
              <a:ext cx="5232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12" name="Line 21"/>
            <p:cNvSpPr>
              <a:spLocks noChangeShapeType="1"/>
            </p:cNvSpPr>
            <p:nvPr/>
          </p:nvSpPr>
          <p:spPr bwMode="auto">
            <a:xfrm>
              <a:off x="384" y="816"/>
              <a:ext cx="1" cy="1392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13" name="Line 22"/>
            <p:cNvSpPr>
              <a:spLocks noChangeShapeType="1"/>
            </p:cNvSpPr>
            <p:nvPr/>
          </p:nvSpPr>
          <p:spPr bwMode="auto">
            <a:xfrm>
              <a:off x="3505" y="816"/>
              <a:ext cx="1" cy="1392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14" name="Line 23"/>
            <p:cNvSpPr>
              <a:spLocks noChangeShapeType="1"/>
            </p:cNvSpPr>
            <p:nvPr/>
          </p:nvSpPr>
          <p:spPr bwMode="auto">
            <a:xfrm>
              <a:off x="4415" y="816"/>
              <a:ext cx="1" cy="1392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15" name="Line 24"/>
            <p:cNvSpPr>
              <a:spLocks noChangeShapeType="1"/>
            </p:cNvSpPr>
            <p:nvPr/>
          </p:nvSpPr>
          <p:spPr bwMode="auto">
            <a:xfrm>
              <a:off x="5616" y="816"/>
              <a:ext cx="1" cy="1392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3494" name="Rectangle 25"/>
          <p:cNvSpPr>
            <a:spLocks noGrp="1" noChangeArrowheads="1"/>
          </p:cNvSpPr>
          <p:nvPr>
            <p:ph type="body" idx="1"/>
          </p:nvPr>
        </p:nvSpPr>
        <p:spPr>
          <a:xfrm>
            <a:off x="838200" y="3962400"/>
            <a:ext cx="8305800" cy="2514600"/>
          </a:xfrm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/>
          <a:p>
            <a:pPr marL="457200" indent="-457200" defTabSz="449263">
              <a:buFont typeface="Courier New" charset="0"/>
              <a:buChar char="•"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b="1" dirty="0">
                <a:latin typeface="Courier New" charset="0"/>
              </a:rPr>
              <a:t> </a:t>
            </a:r>
            <a:r>
              <a:rPr lang="en-US" b="1" dirty="0">
                <a:solidFill>
                  <a:srgbClr val="3333CC"/>
                </a:solidFill>
                <a:latin typeface="Courier New" charset="0"/>
              </a:rPr>
              <a:t>__global__</a:t>
            </a:r>
            <a:r>
              <a:rPr lang="en-US" dirty="0">
                <a:latin typeface="Times New Roman" charset="0"/>
              </a:rPr>
              <a:t> defines a kernel function</a:t>
            </a:r>
          </a:p>
          <a:p>
            <a:pPr marL="571500" lvl="1" indent="0" defTabSz="449263">
              <a:buNone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endParaRPr lang="en-US" dirty="0">
              <a:latin typeface="Times New Roman" charset="0"/>
            </a:endParaRPr>
          </a:p>
          <a:p>
            <a:pPr marL="571500" lvl="1" indent="0" defTabSz="449263">
              <a:buNone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b="1" dirty="0">
                <a:latin typeface="Times New Roman" charset="0"/>
              </a:rPr>
              <a:t>!!!   Must return </a:t>
            </a:r>
            <a:r>
              <a:rPr lang="en-US" b="1" dirty="0">
                <a:solidFill>
                  <a:srgbClr val="3333CC"/>
                </a:solidFill>
                <a:latin typeface="Courier New" charset="0"/>
              </a:rPr>
              <a:t>void</a:t>
            </a:r>
          </a:p>
          <a:p>
            <a:pPr marL="571500" lvl="1" indent="0" defTabSz="449263">
              <a:buNone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endParaRPr lang="en-US" b="1" dirty="0">
              <a:solidFill>
                <a:srgbClr val="3333CC"/>
              </a:solidFill>
              <a:latin typeface="Courier New" charset="0"/>
            </a:endParaRPr>
          </a:p>
          <a:p>
            <a:pPr marL="571500" lvl="1" indent="0" defTabSz="449263">
              <a:buNone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endParaRPr lang="en-US" b="1" dirty="0">
              <a:solidFill>
                <a:srgbClr val="3333CC"/>
              </a:solidFill>
              <a:latin typeface="Courier New" charset="0"/>
            </a:endParaRPr>
          </a:p>
          <a:p>
            <a:pPr marL="571500" lvl="1" indent="0" defTabSz="449263">
              <a:buNone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b="1" dirty="0">
                <a:solidFill>
                  <a:srgbClr val="3333CC"/>
                </a:solidFill>
                <a:latin typeface="Courier New" charset="0"/>
              </a:rPr>
              <a:t>__device__</a:t>
            </a:r>
            <a:r>
              <a:rPr lang="en-US" dirty="0">
                <a:latin typeface="Times New Roman" charset="0"/>
              </a:rPr>
              <a:t> functions cannot have their address taken</a:t>
            </a:r>
          </a:p>
          <a:p>
            <a:pPr marL="571500" lvl="1" indent="0" defTabSz="449263">
              <a:buNone/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endParaRPr lang="en-US" b="1" dirty="0">
              <a:solidFill>
                <a:srgbClr val="3333CC"/>
              </a:solidFill>
              <a:latin typeface="Courier New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0B1789-D881-BD46-ABDA-BC552213921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fr-FR"/>
              <a:t>Curs 11 - PPD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3375F0-BB47-A14B-8040-7AE6700983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7549A9-B5C0-EB47-BAD8-5EA4F99ABD1A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7236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3B5E4-2CE0-AA47-0FCC-DA4776625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3366FF"/>
                </a:solidFill>
              </a:rPr>
              <a:t> __device__   </a:t>
            </a:r>
            <a:r>
              <a:rPr lang="en-US" dirty="0">
                <a:solidFill>
                  <a:schemeClr val="tx1"/>
                </a:solidFill>
              </a:rPr>
              <a:t>and</a:t>
            </a:r>
            <a:r>
              <a:rPr lang="en-US" dirty="0">
                <a:solidFill>
                  <a:srgbClr val="3366FF"/>
                </a:solidFill>
              </a:rPr>
              <a:t> __host__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25CA6-94EA-2ECB-5665-B3055E21F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1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routine decorated with </a:t>
            </a:r>
            <a:r>
              <a:rPr lang="en-US" sz="1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host</a:t>
            </a:r>
            <a:r>
              <a:rPr lang="en-US" sz="1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instructs the compiler to generate a host-callable entry point (i.e. compile it as host code). Such a routine is host code that can only be called from other host code.</a:t>
            </a:r>
          </a:p>
          <a:p>
            <a:pPr algn="l"/>
            <a:r>
              <a:rPr lang="en-US" sz="1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routine decorated with </a:t>
            </a:r>
            <a:r>
              <a:rPr lang="en-US" sz="1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device</a:t>
            </a:r>
            <a:r>
              <a:rPr lang="en-US" sz="1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instructs the compiler to generate a device-callable entry point (i.e. compile it as device code). Such a routine is device code that can only be called from other device code.</a:t>
            </a:r>
          </a:p>
          <a:p>
            <a:pPr algn="l"/>
            <a:r>
              <a:rPr lang="en-US" sz="1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only situation where device code can be “called from host code” is the kernel launch, which must be decorated with </a:t>
            </a:r>
            <a:r>
              <a:rPr lang="en-US" sz="1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global</a:t>
            </a:r>
            <a:endParaRPr lang="en-US" sz="1400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routine with none of the above decorations is treated by </a:t>
            </a:r>
            <a:r>
              <a:rPr lang="en-US" sz="1400" b="1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nvcc</a:t>
            </a:r>
            <a:r>
              <a:rPr lang="en-US" sz="1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implicitly as if it were decorated with </a:t>
            </a:r>
            <a:r>
              <a:rPr lang="en-US" sz="1400" b="1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host</a:t>
            </a:r>
          </a:p>
          <a:p>
            <a:r>
              <a:rPr lang="en-US" sz="1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 can use both. If you use both, order does not matter. If you use both, </a:t>
            </a:r>
            <a:r>
              <a:rPr lang="en-US" sz="1400" b="0" i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compiler generates both types </a:t>
            </a:r>
            <a:r>
              <a:rPr lang="en-US" sz="14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 routines describe as above, one with a device-callable entry point, and one with a host-callable entry point.</a:t>
            </a:r>
          </a:p>
          <a:p>
            <a:pPr marL="0" indent="0" algn="l">
              <a:buNone/>
            </a:pPr>
            <a:endParaRPr lang="en-US" sz="1200" b="0" i="0" dirty="0">
              <a:solidFill>
                <a:srgbClr val="333333"/>
              </a:solidFill>
              <a:effectLst/>
              <a:latin typeface="NVIDIA Sans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366FF"/>
                </a:solidFill>
              </a:rPr>
              <a:t>class example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3366FF"/>
                </a:solidFill>
              </a:rPr>
              <a:t>{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3366FF"/>
                </a:solidFill>
              </a:rPr>
              <a:t>    public: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3366FF"/>
                </a:solidFill>
              </a:rPr>
              <a:t>    float a, b;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3366FF"/>
                </a:solidFill>
              </a:rPr>
              <a:t>    __device__ __host__     example(float _a, float _b) : a(_a), b(_b) {};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3366FF"/>
                </a:solidFill>
              </a:rPr>
              <a:t>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2486F8-22A8-F91C-29C5-71365CD3A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FE3EBC-6668-69C2-BF35-C3F9BF371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18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38407235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534400" cy="1143000"/>
          </a:xfrm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/>
          <a:p>
            <a:pPr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600" dirty="0">
                <a:latin typeface="Times New Roman" charset="0"/>
              </a:rPr>
              <a:t>CUDA Function Declarations</a:t>
            </a:r>
          </a:p>
        </p:txBody>
      </p:sp>
      <p:sp>
        <p:nvSpPr>
          <p:cNvPr id="645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8307388" cy="4573588"/>
          </a:xfrm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/>
          <a:p>
            <a:pPr marL="0" indent="0" defTabSz="449263">
              <a:spcBef>
                <a:spcPts val="800"/>
              </a:spcBef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dirty="0">
              <a:latin typeface="Times New Roman" charset="0"/>
            </a:endParaRPr>
          </a:p>
          <a:p>
            <a:pPr marL="341313" indent="-341313" defTabSz="449263">
              <a:spcBef>
                <a:spcPts val="8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>
                <a:latin typeface="Times New Roman" charset="0"/>
              </a:rPr>
              <a:t>For functions executed on the device:</a:t>
            </a:r>
          </a:p>
          <a:p>
            <a:pPr marL="741363" lvl="1" indent="-284163" defTabSz="449263"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b="1" i="1" dirty="0">
                <a:latin typeface="Times New Roman" charset="0"/>
              </a:rPr>
              <a:t>No recursion</a:t>
            </a:r>
          </a:p>
          <a:p>
            <a:pPr marL="741363" lvl="1" indent="-284163" defTabSz="449263"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b="1" i="1" dirty="0">
                <a:latin typeface="Times New Roman" charset="0"/>
              </a:rPr>
              <a:t>No static variable declarations inside the function</a:t>
            </a:r>
          </a:p>
          <a:p>
            <a:pPr marL="741363" lvl="1" indent="-284163" defTabSz="449263"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b="1" i="1" dirty="0">
                <a:latin typeface="Times New Roman" charset="0"/>
              </a:rPr>
              <a:t>No variable number of arguments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B88DC7-18A0-8249-B35E-01AB83752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17B98B-1FF4-4A4B-9D61-B3F3E3123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19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179021070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2" name="Text Box 2"/>
          <p:cNvSpPr txBox="1">
            <a:spLocks noChangeArrowheads="1"/>
          </p:cNvSpPr>
          <p:nvPr/>
        </p:nvSpPr>
        <p:spPr bwMode="auto">
          <a:xfrm>
            <a:off x="6629400" y="645795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1pPr>
            <a:lvl2pPr marL="742950" indent="-28575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2pPr>
            <a:lvl3pPr marL="11430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3pPr>
            <a:lvl4pPr marL="16002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4pPr>
            <a:lvl5pPr marL="20574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9pPr>
          </a:lstStyle>
          <a:p>
            <a:pPr algn="r" eaLnBrk="1" hangingPunct="1">
              <a:buClr>
                <a:srgbClr val="000000"/>
              </a:buClr>
              <a:buSzPct val="100000"/>
              <a:buFont typeface="Arial" charset="0"/>
              <a:buNone/>
            </a:pPr>
            <a:endParaRPr lang="en-US" sz="14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3253" name="Text Box 3"/>
          <p:cNvSpPr txBox="1">
            <a:spLocks noChangeArrowheads="1"/>
          </p:cNvSpPr>
          <p:nvPr/>
        </p:nvSpPr>
        <p:spPr bwMode="auto">
          <a:xfrm>
            <a:off x="395536" y="188640"/>
            <a:ext cx="83058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1pPr>
            <a:lvl2pPr marL="742950" indent="-28575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2pPr>
            <a:lvl3pPr marL="11430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3pPr>
            <a:lvl4pPr marL="16002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4pPr>
            <a:lvl5pPr marL="20574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ct val="100000"/>
              <a:buFont typeface="Arial" charset="0"/>
              <a:buNone/>
            </a:pPr>
            <a:r>
              <a:rPr lang="en-US" sz="3200" dirty="0">
                <a:solidFill>
                  <a:srgbClr val="000000"/>
                </a:solidFill>
                <a:latin typeface="Arial" charset="0"/>
              </a:rPr>
              <a:t>Arrays of Parallel Threads</a:t>
            </a:r>
          </a:p>
        </p:txBody>
      </p:sp>
      <p:sp>
        <p:nvSpPr>
          <p:cNvPr id="53254" name="Text Box 4"/>
          <p:cNvSpPr txBox="1">
            <a:spLocks noChangeArrowheads="1"/>
          </p:cNvSpPr>
          <p:nvPr/>
        </p:nvSpPr>
        <p:spPr bwMode="auto">
          <a:xfrm>
            <a:off x="457200" y="1865040"/>
            <a:ext cx="8305800" cy="45151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marL="457200" indent="-457200" defTabSz="449263" eaLnBrk="0" hangingPunct="0"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1pPr>
            <a:lvl2pPr marL="973138" indent="-401638" defTabSz="449263" eaLnBrk="0" hangingPunct="0"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2pPr>
            <a:lvl3pPr marL="1143000" indent="-228600" defTabSz="449263" eaLnBrk="0" hangingPunct="0"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3pPr>
            <a:lvl4pPr marL="1600200" indent="-228600" defTabSz="449263" eaLnBrk="0" hangingPunct="0"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4pPr>
            <a:lvl5pPr marL="2057400" indent="-228600" defTabSz="449263" eaLnBrk="0" hangingPunct="0"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charset="0"/>
              </a:rPr>
              <a:t>A CUDA kernel is executed by an array of</a:t>
            </a:r>
            <a:r>
              <a:rPr lang="en-US" sz="1800" dirty="0">
                <a:solidFill>
                  <a:srgbClr val="3333CC"/>
                </a:solidFill>
                <a:latin typeface="Arial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Arial" charset="0"/>
              </a:rPr>
              <a:t>threads</a:t>
            </a:r>
          </a:p>
          <a:p>
            <a:pPr lvl="1" eaLnBrk="1" hangingPunct="1">
              <a:lnSpc>
                <a:spcPct val="9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charset="0"/>
              <a:buChar char="–"/>
            </a:pPr>
            <a:r>
              <a:rPr lang="en-US" sz="1800" dirty="0">
                <a:solidFill>
                  <a:srgbClr val="000000"/>
                </a:solidFill>
                <a:latin typeface="Arial" charset="0"/>
              </a:rPr>
              <a:t>All threads run the same code (SPMD)</a:t>
            </a:r>
            <a:r>
              <a:rPr lang="ar-sa" sz="1800" dirty="0">
                <a:solidFill>
                  <a:srgbClr val="000000"/>
                </a:solidFill>
                <a:latin typeface="Arial" charset="0"/>
                <a:cs typeface="Arial" charset="0"/>
              </a:rPr>
              <a:t>‏</a:t>
            </a:r>
            <a:endParaRPr lang="en-US" sz="1800" dirty="0">
              <a:solidFill>
                <a:srgbClr val="000000"/>
              </a:solidFill>
              <a:latin typeface="Arial" charset="0"/>
            </a:endParaRPr>
          </a:p>
          <a:p>
            <a:pPr lvl="1" eaLnBrk="1" hangingPunct="1">
              <a:lnSpc>
                <a:spcPct val="9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charset="0"/>
              <a:buChar char="–"/>
            </a:pPr>
            <a:r>
              <a:rPr lang="en-US" sz="1800" dirty="0">
                <a:solidFill>
                  <a:srgbClr val="000000"/>
                </a:solidFill>
                <a:latin typeface="Arial" charset="0"/>
              </a:rPr>
              <a:t>Each thread has an ID</a:t>
            </a:r>
          </a:p>
          <a:p>
            <a:pPr eaLnBrk="1" hangingPunct="1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charset="0"/>
              <a:buNone/>
            </a:pPr>
            <a:endParaRPr lang="en-US" sz="2800" dirty="0">
              <a:solidFill>
                <a:srgbClr val="000000"/>
              </a:solidFill>
              <a:latin typeface="Arial" charset="0"/>
            </a:endParaRPr>
          </a:p>
        </p:txBody>
      </p:sp>
      <p:grpSp>
        <p:nvGrpSpPr>
          <p:cNvPr id="53255" name="Group 5"/>
          <p:cNvGrpSpPr>
            <a:grpSpLocks/>
          </p:cNvGrpSpPr>
          <p:nvPr/>
        </p:nvGrpSpPr>
        <p:grpSpPr bwMode="auto">
          <a:xfrm>
            <a:off x="3505201" y="3305176"/>
            <a:ext cx="1862137" cy="241300"/>
            <a:chOff x="2271" y="2076"/>
            <a:chExt cx="1173" cy="152"/>
          </a:xfrm>
        </p:grpSpPr>
        <p:sp>
          <p:nvSpPr>
            <p:cNvPr id="53268" name="Rectangle 6"/>
            <p:cNvSpPr>
              <a:spLocks noChangeArrowheads="1"/>
            </p:cNvSpPr>
            <p:nvPr/>
          </p:nvSpPr>
          <p:spPr bwMode="auto">
            <a:xfrm>
              <a:off x="3298" y="2076"/>
              <a:ext cx="147" cy="1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defTabSz="449263">
                <a:spcBef>
                  <a:spcPts val="300"/>
                </a:spcBef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200">
                  <a:solidFill>
                    <a:srgbClr val="000000"/>
                  </a:solidFill>
                  <a:latin typeface="Arial" charset="0"/>
                </a:rPr>
                <a:t>7</a:t>
              </a:r>
            </a:p>
          </p:txBody>
        </p:sp>
        <p:sp>
          <p:nvSpPr>
            <p:cNvPr id="53269" name="Rectangle 7"/>
            <p:cNvSpPr>
              <a:spLocks noChangeArrowheads="1"/>
            </p:cNvSpPr>
            <p:nvPr/>
          </p:nvSpPr>
          <p:spPr bwMode="auto">
            <a:xfrm>
              <a:off x="3152" y="2076"/>
              <a:ext cx="146" cy="1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defTabSz="449263">
                <a:spcBef>
                  <a:spcPts val="300"/>
                </a:spcBef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200">
                  <a:solidFill>
                    <a:srgbClr val="000000"/>
                  </a:solidFill>
                  <a:latin typeface="Arial" charset="0"/>
                </a:rPr>
                <a:t>6</a:t>
              </a:r>
            </a:p>
          </p:txBody>
        </p:sp>
        <p:sp>
          <p:nvSpPr>
            <p:cNvPr id="53270" name="Rectangle 8"/>
            <p:cNvSpPr>
              <a:spLocks noChangeArrowheads="1"/>
            </p:cNvSpPr>
            <p:nvPr/>
          </p:nvSpPr>
          <p:spPr bwMode="auto">
            <a:xfrm>
              <a:off x="3005" y="2076"/>
              <a:ext cx="147" cy="1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defTabSz="449263">
                <a:spcBef>
                  <a:spcPts val="300"/>
                </a:spcBef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200">
                  <a:solidFill>
                    <a:srgbClr val="000000"/>
                  </a:solidFill>
                  <a:latin typeface="Arial" charset="0"/>
                </a:rPr>
                <a:t>5</a:t>
              </a:r>
            </a:p>
          </p:txBody>
        </p:sp>
        <p:sp>
          <p:nvSpPr>
            <p:cNvPr id="53271" name="Rectangle 9"/>
            <p:cNvSpPr>
              <a:spLocks noChangeArrowheads="1"/>
            </p:cNvSpPr>
            <p:nvPr/>
          </p:nvSpPr>
          <p:spPr bwMode="auto">
            <a:xfrm>
              <a:off x="2858" y="2076"/>
              <a:ext cx="147" cy="1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defTabSz="449263">
                <a:spcBef>
                  <a:spcPts val="300"/>
                </a:spcBef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200">
                  <a:solidFill>
                    <a:srgbClr val="000000"/>
                  </a:solidFill>
                  <a:latin typeface="Arial" charset="0"/>
                </a:rPr>
                <a:t>4</a:t>
              </a:r>
            </a:p>
          </p:txBody>
        </p:sp>
        <p:sp>
          <p:nvSpPr>
            <p:cNvPr id="53272" name="Rectangle 10"/>
            <p:cNvSpPr>
              <a:spLocks noChangeArrowheads="1"/>
            </p:cNvSpPr>
            <p:nvPr/>
          </p:nvSpPr>
          <p:spPr bwMode="auto">
            <a:xfrm>
              <a:off x="2711" y="2076"/>
              <a:ext cx="147" cy="1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defTabSz="449263">
                <a:spcBef>
                  <a:spcPts val="300"/>
                </a:spcBef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200">
                  <a:solidFill>
                    <a:srgbClr val="000000"/>
                  </a:solidFill>
                  <a:latin typeface="Arial" charset="0"/>
                </a:rPr>
                <a:t>3</a:t>
              </a:r>
            </a:p>
          </p:txBody>
        </p:sp>
        <p:sp>
          <p:nvSpPr>
            <p:cNvPr id="53273" name="Rectangle 11"/>
            <p:cNvSpPr>
              <a:spLocks noChangeArrowheads="1"/>
            </p:cNvSpPr>
            <p:nvPr/>
          </p:nvSpPr>
          <p:spPr bwMode="auto">
            <a:xfrm>
              <a:off x="2565" y="2076"/>
              <a:ext cx="146" cy="1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defTabSz="449263">
                <a:spcBef>
                  <a:spcPts val="300"/>
                </a:spcBef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200">
                  <a:solidFill>
                    <a:srgbClr val="000000"/>
                  </a:solidFill>
                  <a:latin typeface="Arial" charset="0"/>
                </a:rPr>
                <a:t>2</a:t>
              </a:r>
            </a:p>
          </p:txBody>
        </p:sp>
        <p:sp>
          <p:nvSpPr>
            <p:cNvPr id="53274" name="Rectangle 12"/>
            <p:cNvSpPr>
              <a:spLocks noChangeArrowheads="1"/>
            </p:cNvSpPr>
            <p:nvPr/>
          </p:nvSpPr>
          <p:spPr bwMode="auto">
            <a:xfrm>
              <a:off x="2418" y="2076"/>
              <a:ext cx="147" cy="1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defTabSz="449263">
                <a:spcBef>
                  <a:spcPts val="300"/>
                </a:spcBef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200">
                  <a:solidFill>
                    <a:srgbClr val="000000"/>
                  </a:solidFill>
                  <a:latin typeface="Arial" charset="0"/>
                </a:rPr>
                <a:t>1</a:t>
              </a:r>
            </a:p>
          </p:txBody>
        </p:sp>
        <p:sp>
          <p:nvSpPr>
            <p:cNvPr id="53275" name="Rectangle 13"/>
            <p:cNvSpPr>
              <a:spLocks noChangeArrowheads="1"/>
            </p:cNvSpPr>
            <p:nvPr/>
          </p:nvSpPr>
          <p:spPr bwMode="auto">
            <a:xfrm>
              <a:off x="2271" y="2076"/>
              <a:ext cx="147" cy="1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defTabSz="449263">
                <a:spcBef>
                  <a:spcPts val="300"/>
                </a:spcBef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200">
                  <a:solidFill>
                    <a:srgbClr val="000000"/>
                  </a:solidFill>
                  <a:latin typeface="Arial" charset="0"/>
                </a:rPr>
                <a:t>0</a:t>
              </a:r>
            </a:p>
          </p:txBody>
        </p:sp>
        <p:sp>
          <p:nvSpPr>
            <p:cNvPr id="53276" name="Line 14"/>
            <p:cNvSpPr>
              <a:spLocks noChangeShapeType="1"/>
            </p:cNvSpPr>
            <p:nvPr/>
          </p:nvSpPr>
          <p:spPr bwMode="auto">
            <a:xfrm>
              <a:off x="2271" y="2076"/>
              <a:ext cx="1174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77" name="Line 15"/>
            <p:cNvSpPr>
              <a:spLocks noChangeShapeType="1"/>
            </p:cNvSpPr>
            <p:nvPr/>
          </p:nvSpPr>
          <p:spPr bwMode="auto">
            <a:xfrm>
              <a:off x="2271" y="2229"/>
              <a:ext cx="1174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78" name="Line 16"/>
            <p:cNvSpPr>
              <a:spLocks noChangeShapeType="1"/>
            </p:cNvSpPr>
            <p:nvPr/>
          </p:nvSpPr>
          <p:spPr bwMode="auto">
            <a:xfrm>
              <a:off x="2271" y="2076"/>
              <a:ext cx="1" cy="153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79" name="Line 17"/>
            <p:cNvSpPr>
              <a:spLocks noChangeShapeType="1"/>
            </p:cNvSpPr>
            <p:nvPr/>
          </p:nvSpPr>
          <p:spPr bwMode="auto">
            <a:xfrm>
              <a:off x="2418" y="2076"/>
              <a:ext cx="1" cy="153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80" name="Line 18"/>
            <p:cNvSpPr>
              <a:spLocks noChangeShapeType="1"/>
            </p:cNvSpPr>
            <p:nvPr/>
          </p:nvSpPr>
          <p:spPr bwMode="auto">
            <a:xfrm>
              <a:off x="2565" y="2076"/>
              <a:ext cx="1" cy="153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81" name="Line 19"/>
            <p:cNvSpPr>
              <a:spLocks noChangeShapeType="1"/>
            </p:cNvSpPr>
            <p:nvPr/>
          </p:nvSpPr>
          <p:spPr bwMode="auto">
            <a:xfrm>
              <a:off x="2711" y="2076"/>
              <a:ext cx="1" cy="153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82" name="Line 20"/>
            <p:cNvSpPr>
              <a:spLocks noChangeShapeType="1"/>
            </p:cNvSpPr>
            <p:nvPr/>
          </p:nvSpPr>
          <p:spPr bwMode="auto">
            <a:xfrm>
              <a:off x="2858" y="2076"/>
              <a:ext cx="1" cy="153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83" name="Line 21"/>
            <p:cNvSpPr>
              <a:spLocks noChangeShapeType="1"/>
            </p:cNvSpPr>
            <p:nvPr/>
          </p:nvSpPr>
          <p:spPr bwMode="auto">
            <a:xfrm>
              <a:off x="3005" y="2076"/>
              <a:ext cx="1" cy="153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84" name="Line 22"/>
            <p:cNvSpPr>
              <a:spLocks noChangeShapeType="1"/>
            </p:cNvSpPr>
            <p:nvPr/>
          </p:nvSpPr>
          <p:spPr bwMode="auto">
            <a:xfrm>
              <a:off x="3152" y="2076"/>
              <a:ext cx="1" cy="153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85" name="Line 23"/>
            <p:cNvSpPr>
              <a:spLocks noChangeShapeType="1"/>
            </p:cNvSpPr>
            <p:nvPr/>
          </p:nvSpPr>
          <p:spPr bwMode="auto">
            <a:xfrm>
              <a:off x="3298" y="2076"/>
              <a:ext cx="1" cy="153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86" name="Line 24"/>
            <p:cNvSpPr>
              <a:spLocks noChangeShapeType="1"/>
            </p:cNvSpPr>
            <p:nvPr/>
          </p:nvSpPr>
          <p:spPr bwMode="auto">
            <a:xfrm>
              <a:off x="3445" y="2076"/>
              <a:ext cx="1" cy="153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3256" name="Group 25"/>
          <p:cNvGrpSpPr>
            <a:grpSpLocks/>
          </p:cNvGrpSpPr>
          <p:nvPr/>
        </p:nvGrpSpPr>
        <p:grpSpPr bwMode="auto">
          <a:xfrm>
            <a:off x="2330450" y="3244850"/>
            <a:ext cx="3660776" cy="2798763"/>
            <a:chOff x="1468" y="2044"/>
            <a:chExt cx="2306" cy="1763"/>
          </a:xfrm>
        </p:grpSpPr>
        <p:grpSp>
          <p:nvGrpSpPr>
            <p:cNvPr id="53257" name="Group 26"/>
            <p:cNvGrpSpPr>
              <a:grpSpLocks/>
            </p:cNvGrpSpPr>
            <p:nvPr/>
          </p:nvGrpSpPr>
          <p:grpSpPr bwMode="auto">
            <a:xfrm>
              <a:off x="2354" y="2303"/>
              <a:ext cx="1165" cy="1504"/>
              <a:chOff x="2354" y="2303"/>
              <a:chExt cx="1165" cy="1504"/>
            </a:xfrm>
          </p:grpSpPr>
          <p:sp>
            <p:nvSpPr>
              <p:cNvPr id="53260" name="Freeform 27"/>
              <p:cNvSpPr>
                <a:spLocks/>
              </p:cNvSpPr>
              <p:nvPr/>
            </p:nvSpPr>
            <p:spPr bwMode="auto">
              <a:xfrm>
                <a:off x="2354" y="2304"/>
                <a:ext cx="152" cy="1494"/>
              </a:xfrm>
              <a:custGeom>
                <a:avLst/>
                <a:gdLst>
                  <a:gd name="T0" fmla="*/ 0 w 152"/>
                  <a:gd name="T1" fmla="*/ 0 h 1893"/>
                  <a:gd name="T2" fmla="*/ 148 w 152"/>
                  <a:gd name="T3" fmla="*/ 176 h 1893"/>
                  <a:gd name="T4" fmla="*/ 22 w 152"/>
                  <a:gd name="T5" fmla="*/ 350 h 1893"/>
                  <a:gd name="T6" fmla="*/ 120 w 152"/>
                  <a:gd name="T7" fmla="*/ 553 h 1893"/>
                  <a:gd name="T8" fmla="*/ 11 w 152"/>
                  <a:gd name="T9" fmla="*/ 712 h 1893"/>
                  <a:gd name="T10" fmla="*/ 126 w 152"/>
                  <a:gd name="T11" fmla="*/ 844 h 1893"/>
                  <a:gd name="T12" fmla="*/ 71 w 152"/>
                  <a:gd name="T13" fmla="*/ 930 h 18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2" h="1893">
                    <a:moveTo>
                      <a:pt x="0" y="0"/>
                    </a:moveTo>
                    <a:cubicBezTo>
                      <a:pt x="72" y="119"/>
                      <a:pt x="144" y="238"/>
                      <a:pt x="148" y="357"/>
                    </a:cubicBezTo>
                    <a:cubicBezTo>
                      <a:pt x="152" y="476"/>
                      <a:pt x="27" y="585"/>
                      <a:pt x="22" y="713"/>
                    </a:cubicBezTo>
                    <a:cubicBezTo>
                      <a:pt x="17" y="841"/>
                      <a:pt x="122" y="1003"/>
                      <a:pt x="120" y="1125"/>
                    </a:cubicBezTo>
                    <a:cubicBezTo>
                      <a:pt x="118" y="1247"/>
                      <a:pt x="10" y="1349"/>
                      <a:pt x="11" y="1448"/>
                    </a:cubicBezTo>
                    <a:cubicBezTo>
                      <a:pt x="12" y="1547"/>
                      <a:pt x="116" y="1643"/>
                      <a:pt x="126" y="1717"/>
                    </a:cubicBezTo>
                    <a:cubicBezTo>
                      <a:pt x="136" y="1791"/>
                      <a:pt x="81" y="1864"/>
                      <a:pt x="71" y="1893"/>
                    </a:cubicBezTo>
                  </a:path>
                </a:pathLst>
              </a:custGeom>
              <a:noFill/>
              <a:ln w="936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261" name="Freeform 28"/>
              <p:cNvSpPr>
                <a:spLocks/>
              </p:cNvSpPr>
              <p:nvPr/>
            </p:nvSpPr>
            <p:spPr bwMode="auto">
              <a:xfrm>
                <a:off x="2518" y="2303"/>
                <a:ext cx="152" cy="1493"/>
              </a:xfrm>
              <a:custGeom>
                <a:avLst/>
                <a:gdLst>
                  <a:gd name="T0" fmla="*/ 0 w 152"/>
                  <a:gd name="T1" fmla="*/ 0 h 1893"/>
                  <a:gd name="T2" fmla="*/ 148 w 152"/>
                  <a:gd name="T3" fmla="*/ 175 h 1893"/>
                  <a:gd name="T4" fmla="*/ 22 w 152"/>
                  <a:gd name="T5" fmla="*/ 349 h 1893"/>
                  <a:gd name="T6" fmla="*/ 120 w 152"/>
                  <a:gd name="T7" fmla="*/ 552 h 1893"/>
                  <a:gd name="T8" fmla="*/ 11 w 152"/>
                  <a:gd name="T9" fmla="*/ 711 h 1893"/>
                  <a:gd name="T10" fmla="*/ 126 w 152"/>
                  <a:gd name="T11" fmla="*/ 842 h 1893"/>
                  <a:gd name="T12" fmla="*/ 71 w 152"/>
                  <a:gd name="T13" fmla="*/ 929 h 18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2" h="1893">
                    <a:moveTo>
                      <a:pt x="0" y="0"/>
                    </a:moveTo>
                    <a:cubicBezTo>
                      <a:pt x="72" y="119"/>
                      <a:pt x="144" y="238"/>
                      <a:pt x="148" y="357"/>
                    </a:cubicBezTo>
                    <a:cubicBezTo>
                      <a:pt x="152" y="476"/>
                      <a:pt x="27" y="585"/>
                      <a:pt x="22" y="713"/>
                    </a:cubicBezTo>
                    <a:cubicBezTo>
                      <a:pt x="17" y="841"/>
                      <a:pt x="122" y="1003"/>
                      <a:pt x="120" y="1125"/>
                    </a:cubicBezTo>
                    <a:cubicBezTo>
                      <a:pt x="118" y="1247"/>
                      <a:pt x="10" y="1349"/>
                      <a:pt x="11" y="1448"/>
                    </a:cubicBezTo>
                    <a:cubicBezTo>
                      <a:pt x="12" y="1547"/>
                      <a:pt x="116" y="1643"/>
                      <a:pt x="126" y="1717"/>
                    </a:cubicBezTo>
                    <a:cubicBezTo>
                      <a:pt x="136" y="1791"/>
                      <a:pt x="81" y="1864"/>
                      <a:pt x="71" y="1893"/>
                    </a:cubicBezTo>
                  </a:path>
                </a:pathLst>
              </a:custGeom>
              <a:noFill/>
              <a:ln w="936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262" name="Freeform 29"/>
              <p:cNvSpPr>
                <a:spLocks/>
              </p:cNvSpPr>
              <p:nvPr/>
            </p:nvSpPr>
            <p:spPr bwMode="auto">
              <a:xfrm>
                <a:off x="2655" y="2304"/>
                <a:ext cx="152" cy="1493"/>
              </a:xfrm>
              <a:custGeom>
                <a:avLst/>
                <a:gdLst>
                  <a:gd name="T0" fmla="*/ 0 w 152"/>
                  <a:gd name="T1" fmla="*/ 0 h 1893"/>
                  <a:gd name="T2" fmla="*/ 148 w 152"/>
                  <a:gd name="T3" fmla="*/ 175 h 1893"/>
                  <a:gd name="T4" fmla="*/ 22 w 152"/>
                  <a:gd name="T5" fmla="*/ 349 h 1893"/>
                  <a:gd name="T6" fmla="*/ 120 w 152"/>
                  <a:gd name="T7" fmla="*/ 552 h 1893"/>
                  <a:gd name="T8" fmla="*/ 11 w 152"/>
                  <a:gd name="T9" fmla="*/ 711 h 1893"/>
                  <a:gd name="T10" fmla="*/ 126 w 152"/>
                  <a:gd name="T11" fmla="*/ 842 h 1893"/>
                  <a:gd name="T12" fmla="*/ 71 w 152"/>
                  <a:gd name="T13" fmla="*/ 929 h 18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2" h="1893">
                    <a:moveTo>
                      <a:pt x="0" y="0"/>
                    </a:moveTo>
                    <a:cubicBezTo>
                      <a:pt x="72" y="119"/>
                      <a:pt x="144" y="238"/>
                      <a:pt x="148" y="357"/>
                    </a:cubicBezTo>
                    <a:cubicBezTo>
                      <a:pt x="152" y="476"/>
                      <a:pt x="27" y="585"/>
                      <a:pt x="22" y="713"/>
                    </a:cubicBezTo>
                    <a:cubicBezTo>
                      <a:pt x="17" y="841"/>
                      <a:pt x="122" y="1003"/>
                      <a:pt x="120" y="1125"/>
                    </a:cubicBezTo>
                    <a:cubicBezTo>
                      <a:pt x="118" y="1247"/>
                      <a:pt x="10" y="1349"/>
                      <a:pt x="11" y="1448"/>
                    </a:cubicBezTo>
                    <a:cubicBezTo>
                      <a:pt x="12" y="1547"/>
                      <a:pt x="116" y="1643"/>
                      <a:pt x="126" y="1717"/>
                    </a:cubicBezTo>
                    <a:cubicBezTo>
                      <a:pt x="136" y="1791"/>
                      <a:pt x="81" y="1864"/>
                      <a:pt x="71" y="1893"/>
                    </a:cubicBezTo>
                  </a:path>
                </a:pathLst>
              </a:custGeom>
              <a:noFill/>
              <a:ln w="936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263" name="Freeform 30"/>
              <p:cNvSpPr>
                <a:spLocks/>
              </p:cNvSpPr>
              <p:nvPr/>
            </p:nvSpPr>
            <p:spPr bwMode="auto">
              <a:xfrm>
                <a:off x="2808" y="2308"/>
                <a:ext cx="152" cy="1494"/>
              </a:xfrm>
              <a:custGeom>
                <a:avLst/>
                <a:gdLst>
                  <a:gd name="T0" fmla="*/ 0 w 152"/>
                  <a:gd name="T1" fmla="*/ 0 h 1893"/>
                  <a:gd name="T2" fmla="*/ 148 w 152"/>
                  <a:gd name="T3" fmla="*/ 176 h 1893"/>
                  <a:gd name="T4" fmla="*/ 22 w 152"/>
                  <a:gd name="T5" fmla="*/ 350 h 1893"/>
                  <a:gd name="T6" fmla="*/ 120 w 152"/>
                  <a:gd name="T7" fmla="*/ 553 h 1893"/>
                  <a:gd name="T8" fmla="*/ 11 w 152"/>
                  <a:gd name="T9" fmla="*/ 712 h 1893"/>
                  <a:gd name="T10" fmla="*/ 126 w 152"/>
                  <a:gd name="T11" fmla="*/ 844 h 1893"/>
                  <a:gd name="T12" fmla="*/ 71 w 152"/>
                  <a:gd name="T13" fmla="*/ 930 h 18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2" h="1893">
                    <a:moveTo>
                      <a:pt x="0" y="0"/>
                    </a:moveTo>
                    <a:cubicBezTo>
                      <a:pt x="72" y="119"/>
                      <a:pt x="144" y="238"/>
                      <a:pt x="148" y="357"/>
                    </a:cubicBezTo>
                    <a:cubicBezTo>
                      <a:pt x="152" y="476"/>
                      <a:pt x="27" y="585"/>
                      <a:pt x="22" y="713"/>
                    </a:cubicBezTo>
                    <a:cubicBezTo>
                      <a:pt x="17" y="841"/>
                      <a:pt x="122" y="1003"/>
                      <a:pt x="120" y="1125"/>
                    </a:cubicBezTo>
                    <a:cubicBezTo>
                      <a:pt x="118" y="1247"/>
                      <a:pt x="10" y="1349"/>
                      <a:pt x="11" y="1448"/>
                    </a:cubicBezTo>
                    <a:cubicBezTo>
                      <a:pt x="12" y="1547"/>
                      <a:pt x="116" y="1643"/>
                      <a:pt x="126" y="1717"/>
                    </a:cubicBezTo>
                    <a:cubicBezTo>
                      <a:pt x="136" y="1791"/>
                      <a:pt x="81" y="1864"/>
                      <a:pt x="71" y="1893"/>
                    </a:cubicBezTo>
                  </a:path>
                </a:pathLst>
              </a:custGeom>
              <a:noFill/>
              <a:ln w="936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264" name="Freeform 31"/>
              <p:cNvSpPr>
                <a:spLocks/>
              </p:cNvSpPr>
              <p:nvPr/>
            </p:nvSpPr>
            <p:spPr bwMode="auto">
              <a:xfrm>
                <a:off x="3368" y="2303"/>
                <a:ext cx="152" cy="1494"/>
              </a:xfrm>
              <a:custGeom>
                <a:avLst/>
                <a:gdLst>
                  <a:gd name="T0" fmla="*/ 0 w 152"/>
                  <a:gd name="T1" fmla="*/ 0 h 1893"/>
                  <a:gd name="T2" fmla="*/ 148 w 152"/>
                  <a:gd name="T3" fmla="*/ 176 h 1893"/>
                  <a:gd name="T4" fmla="*/ 22 w 152"/>
                  <a:gd name="T5" fmla="*/ 350 h 1893"/>
                  <a:gd name="T6" fmla="*/ 120 w 152"/>
                  <a:gd name="T7" fmla="*/ 553 h 1893"/>
                  <a:gd name="T8" fmla="*/ 11 w 152"/>
                  <a:gd name="T9" fmla="*/ 712 h 1893"/>
                  <a:gd name="T10" fmla="*/ 126 w 152"/>
                  <a:gd name="T11" fmla="*/ 844 h 1893"/>
                  <a:gd name="T12" fmla="*/ 71 w 152"/>
                  <a:gd name="T13" fmla="*/ 930 h 18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2" h="1893">
                    <a:moveTo>
                      <a:pt x="0" y="0"/>
                    </a:moveTo>
                    <a:cubicBezTo>
                      <a:pt x="72" y="119"/>
                      <a:pt x="144" y="238"/>
                      <a:pt x="148" y="357"/>
                    </a:cubicBezTo>
                    <a:cubicBezTo>
                      <a:pt x="152" y="476"/>
                      <a:pt x="27" y="585"/>
                      <a:pt x="22" y="713"/>
                    </a:cubicBezTo>
                    <a:cubicBezTo>
                      <a:pt x="17" y="841"/>
                      <a:pt x="122" y="1003"/>
                      <a:pt x="120" y="1125"/>
                    </a:cubicBezTo>
                    <a:cubicBezTo>
                      <a:pt x="118" y="1247"/>
                      <a:pt x="10" y="1349"/>
                      <a:pt x="11" y="1448"/>
                    </a:cubicBezTo>
                    <a:cubicBezTo>
                      <a:pt x="12" y="1547"/>
                      <a:pt x="116" y="1643"/>
                      <a:pt x="126" y="1717"/>
                    </a:cubicBezTo>
                    <a:cubicBezTo>
                      <a:pt x="136" y="1791"/>
                      <a:pt x="81" y="1864"/>
                      <a:pt x="71" y="1893"/>
                    </a:cubicBezTo>
                  </a:path>
                </a:pathLst>
              </a:custGeom>
              <a:noFill/>
              <a:ln w="936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265" name="Freeform 32"/>
              <p:cNvSpPr>
                <a:spLocks/>
              </p:cNvSpPr>
              <p:nvPr/>
            </p:nvSpPr>
            <p:spPr bwMode="auto">
              <a:xfrm>
                <a:off x="2928" y="2314"/>
                <a:ext cx="152" cy="1493"/>
              </a:xfrm>
              <a:custGeom>
                <a:avLst/>
                <a:gdLst>
                  <a:gd name="T0" fmla="*/ 0 w 152"/>
                  <a:gd name="T1" fmla="*/ 0 h 1893"/>
                  <a:gd name="T2" fmla="*/ 148 w 152"/>
                  <a:gd name="T3" fmla="*/ 175 h 1893"/>
                  <a:gd name="T4" fmla="*/ 22 w 152"/>
                  <a:gd name="T5" fmla="*/ 349 h 1893"/>
                  <a:gd name="T6" fmla="*/ 120 w 152"/>
                  <a:gd name="T7" fmla="*/ 552 h 1893"/>
                  <a:gd name="T8" fmla="*/ 11 w 152"/>
                  <a:gd name="T9" fmla="*/ 711 h 1893"/>
                  <a:gd name="T10" fmla="*/ 126 w 152"/>
                  <a:gd name="T11" fmla="*/ 842 h 1893"/>
                  <a:gd name="T12" fmla="*/ 71 w 152"/>
                  <a:gd name="T13" fmla="*/ 929 h 18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2" h="1893">
                    <a:moveTo>
                      <a:pt x="0" y="0"/>
                    </a:moveTo>
                    <a:cubicBezTo>
                      <a:pt x="72" y="119"/>
                      <a:pt x="144" y="238"/>
                      <a:pt x="148" y="357"/>
                    </a:cubicBezTo>
                    <a:cubicBezTo>
                      <a:pt x="152" y="476"/>
                      <a:pt x="27" y="585"/>
                      <a:pt x="22" y="713"/>
                    </a:cubicBezTo>
                    <a:cubicBezTo>
                      <a:pt x="17" y="841"/>
                      <a:pt x="122" y="1003"/>
                      <a:pt x="120" y="1125"/>
                    </a:cubicBezTo>
                    <a:cubicBezTo>
                      <a:pt x="118" y="1247"/>
                      <a:pt x="10" y="1349"/>
                      <a:pt x="11" y="1448"/>
                    </a:cubicBezTo>
                    <a:cubicBezTo>
                      <a:pt x="12" y="1547"/>
                      <a:pt x="116" y="1643"/>
                      <a:pt x="126" y="1717"/>
                    </a:cubicBezTo>
                    <a:cubicBezTo>
                      <a:pt x="136" y="1791"/>
                      <a:pt x="81" y="1864"/>
                      <a:pt x="71" y="1893"/>
                    </a:cubicBezTo>
                  </a:path>
                </a:pathLst>
              </a:custGeom>
              <a:noFill/>
              <a:ln w="936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266" name="Freeform 33"/>
              <p:cNvSpPr>
                <a:spLocks/>
              </p:cNvSpPr>
              <p:nvPr/>
            </p:nvSpPr>
            <p:spPr bwMode="auto">
              <a:xfrm>
                <a:off x="3076" y="2315"/>
                <a:ext cx="152" cy="1493"/>
              </a:xfrm>
              <a:custGeom>
                <a:avLst/>
                <a:gdLst>
                  <a:gd name="T0" fmla="*/ 0 w 152"/>
                  <a:gd name="T1" fmla="*/ 0 h 1893"/>
                  <a:gd name="T2" fmla="*/ 148 w 152"/>
                  <a:gd name="T3" fmla="*/ 175 h 1893"/>
                  <a:gd name="T4" fmla="*/ 22 w 152"/>
                  <a:gd name="T5" fmla="*/ 349 h 1893"/>
                  <a:gd name="T6" fmla="*/ 120 w 152"/>
                  <a:gd name="T7" fmla="*/ 552 h 1893"/>
                  <a:gd name="T8" fmla="*/ 11 w 152"/>
                  <a:gd name="T9" fmla="*/ 711 h 1893"/>
                  <a:gd name="T10" fmla="*/ 126 w 152"/>
                  <a:gd name="T11" fmla="*/ 842 h 1893"/>
                  <a:gd name="T12" fmla="*/ 71 w 152"/>
                  <a:gd name="T13" fmla="*/ 929 h 18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2" h="1893">
                    <a:moveTo>
                      <a:pt x="0" y="0"/>
                    </a:moveTo>
                    <a:cubicBezTo>
                      <a:pt x="72" y="119"/>
                      <a:pt x="144" y="238"/>
                      <a:pt x="148" y="357"/>
                    </a:cubicBezTo>
                    <a:cubicBezTo>
                      <a:pt x="152" y="476"/>
                      <a:pt x="27" y="585"/>
                      <a:pt x="22" y="713"/>
                    </a:cubicBezTo>
                    <a:cubicBezTo>
                      <a:pt x="17" y="841"/>
                      <a:pt x="122" y="1003"/>
                      <a:pt x="120" y="1125"/>
                    </a:cubicBezTo>
                    <a:cubicBezTo>
                      <a:pt x="118" y="1247"/>
                      <a:pt x="10" y="1349"/>
                      <a:pt x="11" y="1448"/>
                    </a:cubicBezTo>
                    <a:cubicBezTo>
                      <a:pt x="12" y="1547"/>
                      <a:pt x="116" y="1643"/>
                      <a:pt x="126" y="1717"/>
                    </a:cubicBezTo>
                    <a:cubicBezTo>
                      <a:pt x="136" y="1791"/>
                      <a:pt x="81" y="1864"/>
                      <a:pt x="71" y="1893"/>
                    </a:cubicBezTo>
                  </a:path>
                </a:pathLst>
              </a:custGeom>
              <a:noFill/>
              <a:ln w="936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267" name="Freeform 34"/>
              <p:cNvSpPr>
                <a:spLocks/>
              </p:cNvSpPr>
              <p:nvPr/>
            </p:nvSpPr>
            <p:spPr bwMode="auto">
              <a:xfrm>
                <a:off x="3229" y="2303"/>
                <a:ext cx="152" cy="1494"/>
              </a:xfrm>
              <a:custGeom>
                <a:avLst/>
                <a:gdLst>
                  <a:gd name="T0" fmla="*/ 0 w 152"/>
                  <a:gd name="T1" fmla="*/ 0 h 1893"/>
                  <a:gd name="T2" fmla="*/ 148 w 152"/>
                  <a:gd name="T3" fmla="*/ 176 h 1893"/>
                  <a:gd name="T4" fmla="*/ 22 w 152"/>
                  <a:gd name="T5" fmla="*/ 350 h 1893"/>
                  <a:gd name="T6" fmla="*/ 120 w 152"/>
                  <a:gd name="T7" fmla="*/ 553 h 1893"/>
                  <a:gd name="T8" fmla="*/ 11 w 152"/>
                  <a:gd name="T9" fmla="*/ 712 h 1893"/>
                  <a:gd name="T10" fmla="*/ 126 w 152"/>
                  <a:gd name="T11" fmla="*/ 844 h 1893"/>
                  <a:gd name="T12" fmla="*/ 71 w 152"/>
                  <a:gd name="T13" fmla="*/ 930 h 18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2" h="1893">
                    <a:moveTo>
                      <a:pt x="0" y="0"/>
                    </a:moveTo>
                    <a:cubicBezTo>
                      <a:pt x="72" y="119"/>
                      <a:pt x="144" y="238"/>
                      <a:pt x="148" y="357"/>
                    </a:cubicBezTo>
                    <a:cubicBezTo>
                      <a:pt x="152" y="476"/>
                      <a:pt x="27" y="585"/>
                      <a:pt x="22" y="713"/>
                    </a:cubicBezTo>
                    <a:cubicBezTo>
                      <a:pt x="17" y="841"/>
                      <a:pt x="122" y="1003"/>
                      <a:pt x="120" y="1125"/>
                    </a:cubicBezTo>
                    <a:cubicBezTo>
                      <a:pt x="118" y="1247"/>
                      <a:pt x="10" y="1349"/>
                      <a:pt x="11" y="1448"/>
                    </a:cubicBezTo>
                    <a:cubicBezTo>
                      <a:pt x="12" y="1547"/>
                      <a:pt x="116" y="1643"/>
                      <a:pt x="126" y="1717"/>
                    </a:cubicBezTo>
                    <a:cubicBezTo>
                      <a:pt x="136" y="1791"/>
                      <a:pt x="81" y="1864"/>
                      <a:pt x="71" y="1893"/>
                    </a:cubicBezTo>
                  </a:path>
                </a:pathLst>
              </a:custGeom>
              <a:noFill/>
              <a:ln w="936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3258" name="Text Box 35"/>
            <p:cNvSpPr txBox="1">
              <a:spLocks noChangeArrowheads="1"/>
            </p:cNvSpPr>
            <p:nvPr/>
          </p:nvSpPr>
          <p:spPr bwMode="auto">
            <a:xfrm>
              <a:off x="2134" y="2686"/>
              <a:ext cx="1640" cy="634"/>
            </a:xfrm>
            <a:prstGeom prst="rect">
              <a:avLst/>
            </a:prstGeom>
            <a:solidFill>
              <a:srgbClr val="000000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defTabSz="449263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ＭＳ Ｐゴシック" charset="0"/>
                </a:defRPr>
              </a:lvl1pPr>
              <a:lvl2pPr marL="742950" indent="-285750" defTabSz="449263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ＭＳ Ｐゴシック" charset="0"/>
                </a:defRPr>
              </a:lvl2pPr>
              <a:lvl3pPr marL="1143000" indent="-228600" defTabSz="449263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ＭＳ Ｐゴシック" charset="0"/>
                </a:defRPr>
              </a:lvl3pPr>
              <a:lvl4pPr marL="1600200" indent="-228600" defTabSz="449263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ＭＳ Ｐゴシック" charset="0"/>
                </a:defRPr>
              </a:lvl4pPr>
              <a:lvl5pPr marL="2057400" indent="-228600" defTabSz="449263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ＭＳ Ｐゴシック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ＭＳ Ｐゴシック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ＭＳ Ｐゴシック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ＭＳ Ｐゴシック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ＭＳ Ｐゴシック" charset="0"/>
                </a:defRPr>
              </a:lvl9pPr>
            </a:lstStyle>
            <a:p>
              <a:pPr eaLnBrk="1" hangingPunct="1">
                <a:buClr>
                  <a:srgbClr val="FFFFFF"/>
                </a:buClr>
                <a:buSzPct val="100000"/>
                <a:buFont typeface="Courier New" charset="0"/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ourier New" charset="0"/>
                </a:rPr>
                <a:t>…</a:t>
              </a:r>
            </a:p>
            <a:p>
              <a:pPr eaLnBrk="1" hangingPunct="1">
                <a:buClr>
                  <a:srgbClr val="FFFFFF"/>
                </a:buClr>
                <a:buSzPct val="100000"/>
                <a:buFont typeface="Courier New" charset="0"/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ourier New" charset="0"/>
                </a:rPr>
                <a:t>float x = input[</a:t>
              </a:r>
              <a:r>
                <a:rPr lang="en-US" sz="1200" b="1" dirty="0" err="1">
                  <a:solidFill>
                    <a:srgbClr val="FFFFFF"/>
                  </a:solidFill>
                  <a:latin typeface="Courier New" charset="0"/>
                </a:rPr>
                <a:t>threadID</a:t>
              </a:r>
              <a:r>
                <a:rPr lang="en-US" sz="1200" b="1" dirty="0">
                  <a:solidFill>
                    <a:srgbClr val="FFFFFF"/>
                  </a:solidFill>
                  <a:latin typeface="Courier New" charset="0"/>
                </a:rPr>
                <a:t>];</a:t>
              </a:r>
            </a:p>
            <a:p>
              <a:pPr eaLnBrk="1" hangingPunct="1">
                <a:buClr>
                  <a:srgbClr val="FFFFFF"/>
                </a:buClr>
                <a:buSzPct val="100000"/>
                <a:buFont typeface="Courier New" charset="0"/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ourier New" charset="0"/>
                </a:rPr>
                <a:t>float y = </a:t>
              </a:r>
              <a:r>
                <a:rPr lang="en-US" sz="1200" b="1" dirty="0" err="1">
                  <a:solidFill>
                    <a:srgbClr val="FFFFFF"/>
                  </a:solidFill>
                  <a:latin typeface="Courier New" charset="0"/>
                </a:rPr>
                <a:t>func</a:t>
              </a:r>
              <a:r>
                <a:rPr lang="en-US" sz="1200" b="1" dirty="0">
                  <a:solidFill>
                    <a:srgbClr val="FFFFFF"/>
                  </a:solidFill>
                  <a:latin typeface="Courier New" charset="0"/>
                </a:rPr>
                <a:t>(x);</a:t>
              </a:r>
            </a:p>
            <a:p>
              <a:pPr eaLnBrk="1" hangingPunct="1">
                <a:buClr>
                  <a:srgbClr val="FFFFFF"/>
                </a:buClr>
                <a:buSzPct val="100000"/>
                <a:buFont typeface="Courier New" charset="0"/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ourier New" charset="0"/>
                </a:rPr>
                <a:t>output[</a:t>
              </a:r>
              <a:r>
                <a:rPr lang="en-US" sz="1200" b="1" dirty="0" err="1">
                  <a:solidFill>
                    <a:srgbClr val="FFFFFF"/>
                  </a:solidFill>
                  <a:latin typeface="Courier New" charset="0"/>
                </a:rPr>
                <a:t>threadID</a:t>
              </a:r>
              <a:r>
                <a:rPr lang="en-US" sz="1200" b="1" dirty="0">
                  <a:solidFill>
                    <a:srgbClr val="FFFFFF"/>
                  </a:solidFill>
                  <a:latin typeface="Courier New" charset="0"/>
                </a:rPr>
                <a:t>] = y;</a:t>
              </a:r>
            </a:p>
            <a:p>
              <a:pPr eaLnBrk="1" hangingPunct="1">
                <a:buClr>
                  <a:srgbClr val="FFFFFF"/>
                </a:buClr>
                <a:buSzPct val="100000"/>
                <a:buFont typeface="Courier New" charset="0"/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ourier New" charset="0"/>
                </a:rPr>
                <a:t>…</a:t>
              </a:r>
            </a:p>
          </p:txBody>
        </p:sp>
        <p:sp>
          <p:nvSpPr>
            <p:cNvPr id="53259" name="Rectangle 36"/>
            <p:cNvSpPr>
              <a:spLocks noChangeArrowheads="1"/>
            </p:cNvSpPr>
            <p:nvPr/>
          </p:nvSpPr>
          <p:spPr bwMode="auto">
            <a:xfrm>
              <a:off x="1468" y="2044"/>
              <a:ext cx="72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defTabSz="449263">
                <a:buClr>
                  <a:srgbClr val="000000"/>
                </a:buClr>
                <a:buSzPct val="100000"/>
                <a:buFont typeface="Courier New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600" b="1">
                  <a:solidFill>
                    <a:srgbClr val="000000"/>
                  </a:solidFill>
                  <a:latin typeface="Courier New" charset="0"/>
                </a:rPr>
                <a:t>threadID</a:t>
              </a:r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FEB3DB-C83B-974C-B8D8-EA1876795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C8A540-3B39-D04A-8269-BD50466AD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CE7269-5C5D-4C29-A9CA-FF87F6AC4DB5}" type="slidenum">
              <a:rPr lang="es-ES" altLang="zh-TW" smtClean="0"/>
              <a:pPr>
                <a:defRPr/>
              </a:pPr>
              <a:t>20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22906774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276" name="Group 2"/>
          <p:cNvGrpSpPr>
            <a:grpSpLocks/>
          </p:cNvGrpSpPr>
          <p:nvPr/>
        </p:nvGrpSpPr>
        <p:grpSpPr bwMode="auto">
          <a:xfrm>
            <a:off x="642938" y="4056063"/>
            <a:ext cx="2854325" cy="2038350"/>
            <a:chOff x="405" y="2555"/>
            <a:chExt cx="1798" cy="1284"/>
          </a:xfrm>
        </p:grpSpPr>
        <p:grpSp>
          <p:nvGrpSpPr>
            <p:cNvPr id="54366" name="Group 3"/>
            <p:cNvGrpSpPr>
              <a:grpSpLocks/>
            </p:cNvGrpSpPr>
            <p:nvPr/>
          </p:nvGrpSpPr>
          <p:grpSpPr bwMode="auto">
            <a:xfrm>
              <a:off x="1147" y="2718"/>
              <a:ext cx="868" cy="1121"/>
              <a:chOff x="1147" y="2718"/>
              <a:chExt cx="868" cy="1121"/>
            </a:xfrm>
          </p:grpSpPr>
          <p:sp>
            <p:nvSpPr>
              <p:cNvPr id="54369" name="Freeform 4"/>
              <p:cNvSpPr>
                <a:spLocks/>
              </p:cNvSpPr>
              <p:nvPr/>
            </p:nvSpPr>
            <p:spPr bwMode="auto">
              <a:xfrm>
                <a:off x="1147" y="2719"/>
                <a:ext cx="113" cy="1113"/>
              </a:xfrm>
              <a:custGeom>
                <a:avLst/>
                <a:gdLst>
                  <a:gd name="T0" fmla="*/ 0 w 152"/>
                  <a:gd name="T1" fmla="*/ 0 h 1893"/>
                  <a:gd name="T2" fmla="*/ 61 w 152"/>
                  <a:gd name="T3" fmla="*/ 72 h 1893"/>
                  <a:gd name="T4" fmla="*/ 9 w 152"/>
                  <a:gd name="T5" fmla="*/ 145 h 1893"/>
                  <a:gd name="T6" fmla="*/ 49 w 152"/>
                  <a:gd name="T7" fmla="*/ 229 h 1893"/>
                  <a:gd name="T8" fmla="*/ 4 w 152"/>
                  <a:gd name="T9" fmla="*/ 294 h 1893"/>
                  <a:gd name="T10" fmla="*/ 52 w 152"/>
                  <a:gd name="T11" fmla="*/ 349 h 1893"/>
                  <a:gd name="T12" fmla="*/ 29 w 152"/>
                  <a:gd name="T13" fmla="*/ 385 h 18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2" h="1893">
                    <a:moveTo>
                      <a:pt x="0" y="0"/>
                    </a:moveTo>
                    <a:cubicBezTo>
                      <a:pt x="72" y="119"/>
                      <a:pt x="144" y="238"/>
                      <a:pt x="148" y="357"/>
                    </a:cubicBezTo>
                    <a:cubicBezTo>
                      <a:pt x="152" y="476"/>
                      <a:pt x="27" y="585"/>
                      <a:pt x="22" y="713"/>
                    </a:cubicBezTo>
                    <a:cubicBezTo>
                      <a:pt x="17" y="841"/>
                      <a:pt x="122" y="1003"/>
                      <a:pt x="120" y="1125"/>
                    </a:cubicBezTo>
                    <a:cubicBezTo>
                      <a:pt x="118" y="1247"/>
                      <a:pt x="10" y="1349"/>
                      <a:pt x="11" y="1448"/>
                    </a:cubicBezTo>
                    <a:cubicBezTo>
                      <a:pt x="12" y="1547"/>
                      <a:pt x="116" y="1643"/>
                      <a:pt x="126" y="1717"/>
                    </a:cubicBezTo>
                    <a:cubicBezTo>
                      <a:pt x="136" y="1791"/>
                      <a:pt x="81" y="1864"/>
                      <a:pt x="71" y="1893"/>
                    </a:cubicBezTo>
                  </a:path>
                </a:pathLst>
              </a:custGeom>
              <a:noFill/>
              <a:ln w="936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370" name="Freeform 5"/>
              <p:cNvSpPr>
                <a:spLocks/>
              </p:cNvSpPr>
              <p:nvPr/>
            </p:nvSpPr>
            <p:spPr bwMode="auto">
              <a:xfrm>
                <a:off x="1269" y="2718"/>
                <a:ext cx="113" cy="1113"/>
              </a:xfrm>
              <a:custGeom>
                <a:avLst/>
                <a:gdLst>
                  <a:gd name="T0" fmla="*/ 0 w 152"/>
                  <a:gd name="T1" fmla="*/ 0 h 1893"/>
                  <a:gd name="T2" fmla="*/ 61 w 152"/>
                  <a:gd name="T3" fmla="*/ 72 h 1893"/>
                  <a:gd name="T4" fmla="*/ 9 w 152"/>
                  <a:gd name="T5" fmla="*/ 145 h 1893"/>
                  <a:gd name="T6" fmla="*/ 49 w 152"/>
                  <a:gd name="T7" fmla="*/ 229 h 1893"/>
                  <a:gd name="T8" fmla="*/ 4 w 152"/>
                  <a:gd name="T9" fmla="*/ 294 h 1893"/>
                  <a:gd name="T10" fmla="*/ 52 w 152"/>
                  <a:gd name="T11" fmla="*/ 349 h 1893"/>
                  <a:gd name="T12" fmla="*/ 29 w 152"/>
                  <a:gd name="T13" fmla="*/ 385 h 18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2" h="1893">
                    <a:moveTo>
                      <a:pt x="0" y="0"/>
                    </a:moveTo>
                    <a:cubicBezTo>
                      <a:pt x="72" y="119"/>
                      <a:pt x="144" y="238"/>
                      <a:pt x="148" y="357"/>
                    </a:cubicBezTo>
                    <a:cubicBezTo>
                      <a:pt x="152" y="476"/>
                      <a:pt x="27" y="585"/>
                      <a:pt x="22" y="713"/>
                    </a:cubicBezTo>
                    <a:cubicBezTo>
                      <a:pt x="17" y="841"/>
                      <a:pt x="122" y="1003"/>
                      <a:pt x="120" y="1125"/>
                    </a:cubicBezTo>
                    <a:cubicBezTo>
                      <a:pt x="118" y="1247"/>
                      <a:pt x="10" y="1349"/>
                      <a:pt x="11" y="1448"/>
                    </a:cubicBezTo>
                    <a:cubicBezTo>
                      <a:pt x="12" y="1547"/>
                      <a:pt x="116" y="1643"/>
                      <a:pt x="126" y="1717"/>
                    </a:cubicBezTo>
                    <a:cubicBezTo>
                      <a:pt x="136" y="1791"/>
                      <a:pt x="81" y="1864"/>
                      <a:pt x="71" y="1893"/>
                    </a:cubicBezTo>
                  </a:path>
                </a:pathLst>
              </a:custGeom>
              <a:noFill/>
              <a:ln w="936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371" name="Freeform 6"/>
              <p:cNvSpPr>
                <a:spLocks/>
              </p:cNvSpPr>
              <p:nvPr/>
            </p:nvSpPr>
            <p:spPr bwMode="auto">
              <a:xfrm>
                <a:off x="1371" y="2719"/>
                <a:ext cx="113" cy="1113"/>
              </a:xfrm>
              <a:custGeom>
                <a:avLst/>
                <a:gdLst>
                  <a:gd name="T0" fmla="*/ 0 w 152"/>
                  <a:gd name="T1" fmla="*/ 0 h 1893"/>
                  <a:gd name="T2" fmla="*/ 61 w 152"/>
                  <a:gd name="T3" fmla="*/ 72 h 1893"/>
                  <a:gd name="T4" fmla="*/ 9 w 152"/>
                  <a:gd name="T5" fmla="*/ 145 h 1893"/>
                  <a:gd name="T6" fmla="*/ 49 w 152"/>
                  <a:gd name="T7" fmla="*/ 229 h 1893"/>
                  <a:gd name="T8" fmla="*/ 4 w 152"/>
                  <a:gd name="T9" fmla="*/ 294 h 1893"/>
                  <a:gd name="T10" fmla="*/ 52 w 152"/>
                  <a:gd name="T11" fmla="*/ 349 h 1893"/>
                  <a:gd name="T12" fmla="*/ 29 w 152"/>
                  <a:gd name="T13" fmla="*/ 385 h 18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2" h="1893">
                    <a:moveTo>
                      <a:pt x="0" y="0"/>
                    </a:moveTo>
                    <a:cubicBezTo>
                      <a:pt x="72" y="119"/>
                      <a:pt x="144" y="238"/>
                      <a:pt x="148" y="357"/>
                    </a:cubicBezTo>
                    <a:cubicBezTo>
                      <a:pt x="152" y="476"/>
                      <a:pt x="27" y="585"/>
                      <a:pt x="22" y="713"/>
                    </a:cubicBezTo>
                    <a:cubicBezTo>
                      <a:pt x="17" y="841"/>
                      <a:pt x="122" y="1003"/>
                      <a:pt x="120" y="1125"/>
                    </a:cubicBezTo>
                    <a:cubicBezTo>
                      <a:pt x="118" y="1247"/>
                      <a:pt x="10" y="1349"/>
                      <a:pt x="11" y="1448"/>
                    </a:cubicBezTo>
                    <a:cubicBezTo>
                      <a:pt x="12" y="1547"/>
                      <a:pt x="116" y="1643"/>
                      <a:pt x="126" y="1717"/>
                    </a:cubicBezTo>
                    <a:cubicBezTo>
                      <a:pt x="136" y="1791"/>
                      <a:pt x="81" y="1864"/>
                      <a:pt x="71" y="1893"/>
                    </a:cubicBezTo>
                  </a:path>
                </a:pathLst>
              </a:custGeom>
              <a:noFill/>
              <a:ln w="936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372" name="Freeform 7"/>
              <p:cNvSpPr>
                <a:spLocks/>
              </p:cNvSpPr>
              <p:nvPr/>
            </p:nvSpPr>
            <p:spPr bwMode="auto">
              <a:xfrm>
                <a:off x="1485" y="2722"/>
                <a:ext cx="113" cy="1113"/>
              </a:xfrm>
              <a:custGeom>
                <a:avLst/>
                <a:gdLst>
                  <a:gd name="T0" fmla="*/ 0 w 152"/>
                  <a:gd name="T1" fmla="*/ 0 h 1893"/>
                  <a:gd name="T2" fmla="*/ 61 w 152"/>
                  <a:gd name="T3" fmla="*/ 72 h 1893"/>
                  <a:gd name="T4" fmla="*/ 9 w 152"/>
                  <a:gd name="T5" fmla="*/ 145 h 1893"/>
                  <a:gd name="T6" fmla="*/ 49 w 152"/>
                  <a:gd name="T7" fmla="*/ 229 h 1893"/>
                  <a:gd name="T8" fmla="*/ 4 w 152"/>
                  <a:gd name="T9" fmla="*/ 294 h 1893"/>
                  <a:gd name="T10" fmla="*/ 52 w 152"/>
                  <a:gd name="T11" fmla="*/ 349 h 1893"/>
                  <a:gd name="T12" fmla="*/ 29 w 152"/>
                  <a:gd name="T13" fmla="*/ 385 h 18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2" h="1893">
                    <a:moveTo>
                      <a:pt x="0" y="0"/>
                    </a:moveTo>
                    <a:cubicBezTo>
                      <a:pt x="72" y="119"/>
                      <a:pt x="144" y="238"/>
                      <a:pt x="148" y="357"/>
                    </a:cubicBezTo>
                    <a:cubicBezTo>
                      <a:pt x="152" y="476"/>
                      <a:pt x="27" y="585"/>
                      <a:pt x="22" y="713"/>
                    </a:cubicBezTo>
                    <a:cubicBezTo>
                      <a:pt x="17" y="841"/>
                      <a:pt x="122" y="1003"/>
                      <a:pt x="120" y="1125"/>
                    </a:cubicBezTo>
                    <a:cubicBezTo>
                      <a:pt x="118" y="1247"/>
                      <a:pt x="10" y="1349"/>
                      <a:pt x="11" y="1448"/>
                    </a:cubicBezTo>
                    <a:cubicBezTo>
                      <a:pt x="12" y="1547"/>
                      <a:pt x="116" y="1643"/>
                      <a:pt x="126" y="1717"/>
                    </a:cubicBezTo>
                    <a:cubicBezTo>
                      <a:pt x="136" y="1791"/>
                      <a:pt x="81" y="1864"/>
                      <a:pt x="71" y="1893"/>
                    </a:cubicBezTo>
                  </a:path>
                </a:pathLst>
              </a:custGeom>
              <a:noFill/>
              <a:ln w="936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373" name="Freeform 8"/>
              <p:cNvSpPr>
                <a:spLocks/>
              </p:cNvSpPr>
              <p:nvPr/>
            </p:nvSpPr>
            <p:spPr bwMode="auto">
              <a:xfrm>
                <a:off x="1902" y="2718"/>
                <a:ext cx="113" cy="1113"/>
              </a:xfrm>
              <a:custGeom>
                <a:avLst/>
                <a:gdLst>
                  <a:gd name="T0" fmla="*/ 0 w 152"/>
                  <a:gd name="T1" fmla="*/ 0 h 1893"/>
                  <a:gd name="T2" fmla="*/ 61 w 152"/>
                  <a:gd name="T3" fmla="*/ 72 h 1893"/>
                  <a:gd name="T4" fmla="*/ 9 w 152"/>
                  <a:gd name="T5" fmla="*/ 145 h 1893"/>
                  <a:gd name="T6" fmla="*/ 49 w 152"/>
                  <a:gd name="T7" fmla="*/ 229 h 1893"/>
                  <a:gd name="T8" fmla="*/ 4 w 152"/>
                  <a:gd name="T9" fmla="*/ 294 h 1893"/>
                  <a:gd name="T10" fmla="*/ 52 w 152"/>
                  <a:gd name="T11" fmla="*/ 349 h 1893"/>
                  <a:gd name="T12" fmla="*/ 29 w 152"/>
                  <a:gd name="T13" fmla="*/ 385 h 18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2" h="1893">
                    <a:moveTo>
                      <a:pt x="0" y="0"/>
                    </a:moveTo>
                    <a:cubicBezTo>
                      <a:pt x="72" y="119"/>
                      <a:pt x="144" y="238"/>
                      <a:pt x="148" y="357"/>
                    </a:cubicBezTo>
                    <a:cubicBezTo>
                      <a:pt x="152" y="476"/>
                      <a:pt x="27" y="585"/>
                      <a:pt x="22" y="713"/>
                    </a:cubicBezTo>
                    <a:cubicBezTo>
                      <a:pt x="17" y="841"/>
                      <a:pt x="122" y="1003"/>
                      <a:pt x="120" y="1125"/>
                    </a:cubicBezTo>
                    <a:cubicBezTo>
                      <a:pt x="118" y="1247"/>
                      <a:pt x="10" y="1349"/>
                      <a:pt x="11" y="1448"/>
                    </a:cubicBezTo>
                    <a:cubicBezTo>
                      <a:pt x="12" y="1547"/>
                      <a:pt x="116" y="1643"/>
                      <a:pt x="126" y="1717"/>
                    </a:cubicBezTo>
                    <a:cubicBezTo>
                      <a:pt x="136" y="1791"/>
                      <a:pt x="81" y="1864"/>
                      <a:pt x="71" y="1893"/>
                    </a:cubicBezTo>
                  </a:path>
                </a:pathLst>
              </a:custGeom>
              <a:noFill/>
              <a:ln w="936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374" name="Freeform 9"/>
              <p:cNvSpPr>
                <a:spLocks/>
              </p:cNvSpPr>
              <p:nvPr/>
            </p:nvSpPr>
            <p:spPr bwMode="auto">
              <a:xfrm>
                <a:off x="1574" y="2726"/>
                <a:ext cx="113" cy="1113"/>
              </a:xfrm>
              <a:custGeom>
                <a:avLst/>
                <a:gdLst>
                  <a:gd name="T0" fmla="*/ 0 w 152"/>
                  <a:gd name="T1" fmla="*/ 0 h 1893"/>
                  <a:gd name="T2" fmla="*/ 61 w 152"/>
                  <a:gd name="T3" fmla="*/ 72 h 1893"/>
                  <a:gd name="T4" fmla="*/ 9 w 152"/>
                  <a:gd name="T5" fmla="*/ 145 h 1893"/>
                  <a:gd name="T6" fmla="*/ 49 w 152"/>
                  <a:gd name="T7" fmla="*/ 229 h 1893"/>
                  <a:gd name="T8" fmla="*/ 4 w 152"/>
                  <a:gd name="T9" fmla="*/ 294 h 1893"/>
                  <a:gd name="T10" fmla="*/ 52 w 152"/>
                  <a:gd name="T11" fmla="*/ 349 h 1893"/>
                  <a:gd name="T12" fmla="*/ 29 w 152"/>
                  <a:gd name="T13" fmla="*/ 385 h 18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2" h="1893">
                    <a:moveTo>
                      <a:pt x="0" y="0"/>
                    </a:moveTo>
                    <a:cubicBezTo>
                      <a:pt x="72" y="119"/>
                      <a:pt x="144" y="238"/>
                      <a:pt x="148" y="357"/>
                    </a:cubicBezTo>
                    <a:cubicBezTo>
                      <a:pt x="152" y="476"/>
                      <a:pt x="27" y="585"/>
                      <a:pt x="22" y="713"/>
                    </a:cubicBezTo>
                    <a:cubicBezTo>
                      <a:pt x="17" y="841"/>
                      <a:pt x="122" y="1003"/>
                      <a:pt x="120" y="1125"/>
                    </a:cubicBezTo>
                    <a:cubicBezTo>
                      <a:pt x="118" y="1247"/>
                      <a:pt x="10" y="1349"/>
                      <a:pt x="11" y="1448"/>
                    </a:cubicBezTo>
                    <a:cubicBezTo>
                      <a:pt x="12" y="1547"/>
                      <a:pt x="116" y="1643"/>
                      <a:pt x="126" y="1717"/>
                    </a:cubicBezTo>
                    <a:cubicBezTo>
                      <a:pt x="136" y="1791"/>
                      <a:pt x="81" y="1864"/>
                      <a:pt x="71" y="1893"/>
                    </a:cubicBezTo>
                  </a:path>
                </a:pathLst>
              </a:custGeom>
              <a:noFill/>
              <a:ln w="936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375" name="Freeform 10"/>
              <p:cNvSpPr>
                <a:spLocks/>
              </p:cNvSpPr>
              <p:nvPr/>
            </p:nvSpPr>
            <p:spPr bwMode="auto">
              <a:xfrm>
                <a:off x="1685" y="2727"/>
                <a:ext cx="113" cy="1113"/>
              </a:xfrm>
              <a:custGeom>
                <a:avLst/>
                <a:gdLst>
                  <a:gd name="T0" fmla="*/ 0 w 152"/>
                  <a:gd name="T1" fmla="*/ 0 h 1893"/>
                  <a:gd name="T2" fmla="*/ 61 w 152"/>
                  <a:gd name="T3" fmla="*/ 72 h 1893"/>
                  <a:gd name="T4" fmla="*/ 9 w 152"/>
                  <a:gd name="T5" fmla="*/ 145 h 1893"/>
                  <a:gd name="T6" fmla="*/ 49 w 152"/>
                  <a:gd name="T7" fmla="*/ 229 h 1893"/>
                  <a:gd name="T8" fmla="*/ 4 w 152"/>
                  <a:gd name="T9" fmla="*/ 294 h 1893"/>
                  <a:gd name="T10" fmla="*/ 52 w 152"/>
                  <a:gd name="T11" fmla="*/ 349 h 1893"/>
                  <a:gd name="T12" fmla="*/ 29 w 152"/>
                  <a:gd name="T13" fmla="*/ 385 h 18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2" h="1893">
                    <a:moveTo>
                      <a:pt x="0" y="0"/>
                    </a:moveTo>
                    <a:cubicBezTo>
                      <a:pt x="72" y="119"/>
                      <a:pt x="144" y="238"/>
                      <a:pt x="148" y="357"/>
                    </a:cubicBezTo>
                    <a:cubicBezTo>
                      <a:pt x="152" y="476"/>
                      <a:pt x="27" y="585"/>
                      <a:pt x="22" y="713"/>
                    </a:cubicBezTo>
                    <a:cubicBezTo>
                      <a:pt x="17" y="841"/>
                      <a:pt x="122" y="1003"/>
                      <a:pt x="120" y="1125"/>
                    </a:cubicBezTo>
                    <a:cubicBezTo>
                      <a:pt x="118" y="1247"/>
                      <a:pt x="10" y="1349"/>
                      <a:pt x="11" y="1448"/>
                    </a:cubicBezTo>
                    <a:cubicBezTo>
                      <a:pt x="12" y="1547"/>
                      <a:pt x="116" y="1643"/>
                      <a:pt x="126" y="1717"/>
                    </a:cubicBezTo>
                    <a:cubicBezTo>
                      <a:pt x="136" y="1791"/>
                      <a:pt x="81" y="1864"/>
                      <a:pt x="71" y="1893"/>
                    </a:cubicBezTo>
                  </a:path>
                </a:pathLst>
              </a:custGeom>
              <a:noFill/>
              <a:ln w="936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376" name="Freeform 11"/>
              <p:cNvSpPr>
                <a:spLocks/>
              </p:cNvSpPr>
              <p:nvPr/>
            </p:nvSpPr>
            <p:spPr bwMode="auto">
              <a:xfrm>
                <a:off x="1799" y="2718"/>
                <a:ext cx="113" cy="1113"/>
              </a:xfrm>
              <a:custGeom>
                <a:avLst/>
                <a:gdLst>
                  <a:gd name="T0" fmla="*/ 0 w 152"/>
                  <a:gd name="T1" fmla="*/ 0 h 1893"/>
                  <a:gd name="T2" fmla="*/ 61 w 152"/>
                  <a:gd name="T3" fmla="*/ 72 h 1893"/>
                  <a:gd name="T4" fmla="*/ 9 w 152"/>
                  <a:gd name="T5" fmla="*/ 145 h 1893"/>
                  <a:gd name="T6" fmla="*/ 49 w 152"/>
                  <a:gd name="T7" fmla="*/ 229 h 1893"/>
                  <a:gd name="T8" fmla="*/ 4 w 152"/>
                  <a:gd name="T9" fmla="*/ 294 h 1893"/>
                  <a:gd name="T10" fmla="*/ 52 w 152"/>
                  <a:gd name="T11" fmla="*/ 349 h 1893"/>
                  <a:gd name="T12" fmla="*/ 29 w 152"/>
                  <a:gd name="T13" fmla="*/ 385 h 18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2" h="1893">
                    <a:moveTo>
                      <a:pt x="0" y="0"/>
                    </a:moveTo>
                    <a:cubicBezTo>
                      <a:pt x="72" y="119"/>
                      <a:pt x="144" y="238"/>
                      <a:pt x="148" y="357"/>
                    </a:cubicBezTo>
                    <a:cubicBezTo>
                      <a:pt x="152" y="476"/>
                      <a:pt x="27" y="585"/>
                      <a:pt x="22" y="713"/>
                    </a:cubicBezTo>
                    <a:cubicBezTo>
                      <a:pt x="17" y="841"/>
                      <a:pt x="122" y="1003"/>
                      <a:pt x="120" y="1125"/>
                    </a:cubicBezTo>
                    <a:cubicBezTo>
                      <a:pt x="118" y="1247"/>
                      <a:pt x="10" y="1349"/>
                      <a:pt x="11" y="1448"/>
                    </a:cubicBezTo>
                    <a:cubicBezTo>
                      <a:pt x="12" y="1547"/>
                      <a:pt x="116" y="1643"/>
                      <a:pt x="126" y="1717"/>
                    </a:cubicBezTo>
                    <a:cubicBezTo>
                      <a:pt x="136" y="1791"/>
                      <a:pt x="81" y="1864"/>
                      <a:pt x="71" y="1893"/>
                    </a:cubicBezTo>
                  </a:path>
                </a:pathLst>
              </a:custGeom>
              <a:noFill/>
              <a:ln w="936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4367" name="Text Box 12"/>
            <p:cNvSpPr txBox="1">
              <a:spLocks noChangeArrowheads="1"/>
            </p:cNvSpPr>
            <p:nvPr/>
          </p:nvSpPr>
          <p:spPr bwMode="auto">
            <a:xfrm>
              <a:off x="983" y="3004"/>
              <a:ext cx="1222" cy="491"/>
            </a:xfrm>
            <a:prstGeom prst="rect">
              <a:avLst/>
            </a:prstGeom>
            <a:solidFill>
              <a:srgbClr val="000000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defTabSz="449263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ＭＳ Ｐゴシック" charset="0"/>
                </a:defRPr>
              </a:lvl1pPr>
              <a:lvl2pPr marL="742950" indent="-285750" defTabSz="449263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ＭＳ Ｐゴシック" charset="0"/>
                </a:defRPr>
              </a:lvl2pPr>
              <a:lvl3pPr marL="1143000" indent="-228600" defTabSz="449263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ＭＳ Ｐゴシック" charset="0"/>
                </a:defRPr>
              </a:lvl3pPr>
              <a:lvl4pPr marL="1600200" indent="-228600" defTabSz="449263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ＭＳ Ｐゴシック" charset="0"/>
                </a:defRPr>
              </a:lvl4pPr>
              <a:lvl5pPr marL="2057400" indent="-228600" defTabSz="449263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ＭＳ Ｐゴシック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ＭＳ Ｐゴシック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ＭＳ Ｐゴシック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ＭＳ Ｐゴシック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ＭＳ Ｐゴシック" charset="0"/>
                </a:defRPr>
              </a:lvl9pPr>
            </a:lstStyle>
            <a:p>
              <a:pPr eaLnBrk="1" hangingPunct="1">
                <a:buClr>
                  <a:srgbClr val="FFFFFF"/>
                </a:buClr>
                <a:buSzPct val="100000"/>
                <a:buFont typeface="Courier New" charset="0"/>
                <a:buNone/>
              </a:pPr>
              <a:r>
                <a:rPr lang="en-US" sz="900" b="1">
                  <a:solidFill>
                    <a:srgbClr val="FFFFFF"/>
                  </a:solidFill>
                  <a:latin typeface="Courier New" charset="0"/>
                </a:rPr>
                <a:t>…</a:t>
              </a:r>
            </a:p>
            <a:p>
              <a:pPr eaLnBrk="1" hangingPunct="1">
                <a:buClr>
                  <a:srgbClr val="FFFFFF"/>
                </a:buClr>
                <a:buSzPct val="100000"/>
                <a:buFont typeface="Courier New" charset="0"/>
                <a:buNone/>
              </a:pPr>
              <a:r>
                <a:rPr lang="en-US" sz="900" b="1">
                  <a:solidFill>
                    <a:srgbClr val="FFFFFF"/>
                  </a:solidFill>
                  <a:latin typeface="Courier New" charset="0"/>
                </a:rPr>
                <a:t>float x = input[threadID];</a:t>
              </a:r>
            </a:p>
            <a:p>
              <a:pPr eaLnBrk="1" hangingPunct="1">
                <a:buClr>
                  <a:srgbClr val="FFFFFF"/>
                </a:buClr>
                <a:buSzPct val="100000"/>
                <a:buFont typeface="Courier New" charset="0"/>
                <a:buNone/>
              </a:pPr>
              <a:r>
                <a:rPr lang="en-US" sz="900" b="1">
                  <a:solidFill>
                    <a:srgbClr val="FFFFFF"/>
                  </a:solidFill>
                  <a:latin typeface="Courier New" charset="0"/>
                </a:rPr>
                <a:t>float y = func(x);</a:t>
              </a:r>
            </a:p>
            <a:p>
              <a:pPr eaLnBrk="1" hangingPunct="1">
                <a:buClr>
                  <a:srgbClr val="FFFFFF"/>
                </a:buClr>
                <a:buSzPct val="100000"/>
                <a:buFont typeface="Courier New" charset="0"/>
                <a:buNone/>
              </a:pPr>
              <a:r>
                <a:rPr lang="en-US" sz="900" b="1">
                  <a:solidFill>
                    <a:srgbClr val="FFFFFF"/>
                  </a:solidFill>
                  <a:latin typeface="Courier New" charset="0"/>
                </a:rPr>
                <a:t>output[threadID] = y;</a:t>
              </a:r>
            </a:p>
            <a:p>
              <a:pPr eaLnBrk="1" hangingPunct="1">
                <a:buClr>
                  <a:srgbClr val="FFFFFF"/>
                </a:buClr>
                <a:buSzPct val="100000"/>
                <a:buFont typeface="Courier New" charset="0"/>
                <a:buNone/>
              </a:pPr>
              <a:r>
                <a:rPr lang="en-US" sz="900" b="1">
                  <a:solidFill>
                    <a:srgbClr val="FFFFFF"/>
                  </a:solidFill>
                  <a:latin typeface="Courier New" charset="0"/>
                </a:rPr>
                <a:t>…</a:t>
              </a:r>
            </a:p>
          </p:txBody>
        </p:sp>
        <p:sp>
          <p:nvSpPr>
            <p:cNvPr id="54368" name="Rectangle 13"/>
            <p:cNvSpPr>
              <a:spLocks noChangeArrowheads="1"/>
            </p:cNvSpPr>
            <p:nvPr/>
          </p:nvSpPr>
          <p:spPr bwMode="auto">
            <a:xfrm>
              <a:off x="405" y="2555"/>
              <a:ext cx="575" cy="1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defTabSz="449263">
                <a:buClr>
                  <a:srgbClr val="000000"/>
                </a:buClr>
                <a:buSzPct val="100000"/>
                <a:buFont typeface="Courier New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1200" b="1">
                  <a:solidFill>
                    <a:srgbClr val="000000"/>
                  </a:solidFill>
                  <a:latin typeface="Courier New" charset="0"/>
                </a:rPr>
                <a:t>threadID</a:t>
              </a:r>
            </a:p>
          </p:txBody>
        </p:sp>
      </p:grpSp>
      <p:sp>
        <p:nvSpPr>
          <p:cNvPr id="54277" name="Text Box 14"/>
          <p:cNvSpPr txBox="1">
            <a:spLocks noChangeArrowheads="1"/>
          </p:cNvSpPr>
          <p:nvPr/>
        </p:nvSpPr>
        <p:spPr bwMode="auto">
          <a:xfrm>
            <a:off x="1677988" y="3748088"/>
            <a:ext cx="1355725" cy="306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1pPr>
            <a:lvl2pPr marL="742950" indent="-28575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2pPr>
            <a:lvl3pPr marL="11430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3pPr>
            <a:lvl4pPr marL="16002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4pPr>
            <a:lvl5pPr marL="20574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Arial" charset="0"/>
              <a:buNone/>
            </a:pPr>
            <a:r>
              <a:rPr lang="en-US" sz="1400">
                <a:solidFill>
                  <a:srgbClr val="000000"/>
                </a:solidFill>
                <a:latin typeface="Arial" charset="0"/>
              </a:rPr>
              <a:t>Thread Block 0</a:t>
            </a:r>
          </a:p>
        </p:txBody>
      </p:sp>
      <p:sp>
        <p:nvSpPr>
          <p:cNvPr id="54278" name="Text Box 15"/>
          <p:cNvSpPr txBox="1">
            <a:spLocks noChangeArrowheads="1"/>
          </p:cNvSpPr>
          <p:nvPr/>
        </p:nvSpPr>
        <p:spPr bwMode="auto">
          <a:xfrm>
            <a:off x="5837238" y="4918075"/>
            <a:ext cx="573087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1pPr>
            <a:lvl2pPr marL="742950" indent="-28575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2pPr>
            <a:lvl3pPr marL="11430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3pPr>
            <a:lvl4pPr marL="16002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4pPr>
            <a:lvl5pPr marL="20574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Arial" charset="0"/>
              <a:buNone/>
            </a:pPr>
            <a:r>
              <a:rPr lang="en-US" sz="2800" b="1">
                <a:solidFill>
                  <a:srgbClr val="000000"/>
                </a:solidFill>
                <a:latin typeface="Arial" charset="0"/>
              </a:rPr>
              <a:t>…</a:t>
            </a:r>
          </a:p>
        </p:txBody>
      </p:sp>
      <p:grpSp>
        <p:nvGrpSpPr>
          <p:cNvPr id="54279" name="Group 16"/>
          <p:cNvGrpSpPr>
            <a:grpSpLocks/>
          </p:cNvGrpSpPr>
          <p:nvPr/>
        </p:nvGrpSpPr>
        <p:grpSpPr bwMode="auto">
          <a:xfrm>
            <a:off x="3775075" y="4300538"/>
            <a:ext cx="1938338" cy="1779587"/>
            <a:chOff x="2378" y="2709"/>
            <a:chExt cx="1221" cy="1121"/>
          </a:xfrm>
        </p:grpSpPr>
        <p:grpSp>
          <p:nvGrpSpPr>
            <p:cNvPr id="54356" name="Group 17"/>
            <p:cNvGrpSpPr>
              <a:grpSpLocks/>
            </p:cNvGrpSpPr>
            <p:nvPr/>
          </p:nvGrpSpPr>
          <p:grpSpPr bwMode="auto">
            <a:xfrm>
              <a:off x="2542" y="2709"/>
              <a:ext cx="868" cy="1121"/>
              <a:chOff x="2542" y="2709"/>
              <a:chExt cx="868" cy="1121"/>
            </a:xfrm>
          </p:grpSpPr>
          <p:sp>
            <p:nvSpPr>
              <p:cNvPr id="54358" name="Freeform 18"/>
              <p:cNvSpPr>
                <a:spLocks/>
              </p:cNvSpPr>
              <p:nvPr/>
            </p:nvSpPr>
            <p:spPr bwMode="auto">
              <a:xfrm>
                <a:off x="2542" y="2710"/>
                <a:ext cx="113" cy="1114"/>
              </a:xfrm>
              <a:custGeom>
                <a:avLst/>
                <a:gdLst>
                  <a:gd name="T0" fmla="*/ 0 w 152"/>
                  <a:gd name="T1" fmla="*/ 0 h 1893"/>
                  <a:gd name="T2" fmla="*/ 61 w 152"/>
                  <a:gd name="T3" fmla="*/ 73 h 1893"/>
                  <a:gd name="T4" fmla="*/ 9 w 152"/>
                  <a:gd name="T5" fmla="*/ 145 h 1893"/>
                  <a:gd name="T6" fmla="*/ 49 w 152"/>
                  <a:gd name="T7" fmla="*/ 230 h 1893"/>
                  <a:gd name="T8" fmla="*/ 4 w 152"/>
                  <a:gd name="T9" fmla="*/ 295 h 1893"/>
                  <a:gd name="T10" fmla="*/ 52 w 152"/>
                  <a:gd name="T11" fmla="*/ 350 h 1893"/>
                  <a:gd name="T12" fmla="*/ 29 w 152"/>
                  <a:gd name="T13" fmla="*/ 386 h 18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2" h="1893">
                    <a:moveTo>
                      <a:pt x="0" y="0"/>
                    </a:moveTo>
                    <a:cubicBezTo>
                      <a:pt x="72" y="119"/>
                      <a:pt x="144" y="238"/>
                      <a:pt x="148" y="357"/>
                    </a:cubicBezTo>
                    <a:cubicBezTo>
                      <a:pt x="152" y="476"/>
                      <a:pt x="27" y="585"/>
                      <a:pt x="22" y="713"/>
                    </a:cubicBezTo>
                    <a:cubicBezTo>
                      <a:pt x="17" y="841"/>
                      <a:pt x="122" y="1003"/>
                      <a:pt x="120" y="1125"/>
                    </a:cubicBezTo>
                    <a:cubicBezTo>
                      <a:pt x="118" y="1247"/>
                      <a:pt x="10" y="1349"/>
                      <a:pt x="11" y="1448"/>
                    </a:cubicBezTo>
                    <a:cubicBezTo>
                      <a:pt x="12" y="1547"/>
                      <a:pt x="116" y="1643"/>
                      <a:pt x="126" y="1717"/>
                    </a:cubicBezTo>
                    <a:cubicBezTo>
                      <a:pt x="136" y="1791"/>
                      <a:pt x="81" y="1864"/>
                      <a:pt x="71" y="1893"/>
                    </a:cubicBezTo>
                  </a:path>
                </a:pathLst>
              </a:custGeom>
              <a:noFill/>
              <a:ln w="936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359" name="Freeform 19"/>
              <p:cNvSpPr>
                <a:spLocks/>
              </p:cNvSpPr>
              <p:nvPr/>
            </p:nvSpPr>
            <p:spPr bwMode="auto">
              <a:xfrm>
                <a:off x="2664" y="2709"/>
                <a:ext cx="113" cy="1113"/>
              </a:xfrm>
              <a:custGeom>
                <a:avLst/>
                <a:gdLst>
                  <a:gd name="T0" fmla="*/ 0 w 152"/>
                  <a:gd name="T1" fmla="*/ 0 h 1893"/>
                  <a:gd name="T2" fmla="*/ 61 w 152"/>
                  <a:gd name="T3" fmla="*/ 72 h 1893"/>
                  <a:gd name="T4" fmla="*/ 9 w 152"/>
                  <a:gd name="T5" fmla="*/ 145 h 1893"/>
                  <a:gd name="T6" fmla="*/ 49 w 152"/>
                  <a:gd name="T7" fmla="*/ 229 h 1893"/>
                  <a:gd name="T8" fmla="*/ 4 w 152"/>
                  <a:gd name="T9" fmla="*/ 294 h 1893"/>
                  <a:gd name="T10" fmla="*/ 52 w 152"/>
                  <a:gd name="T11" fmla="*/ 349 h 1893"/>
                  <a:gd name="T12" fmla="*/ 29 w 152"/>
                  <a:gd name="T13" fmla="*/ 385 h 18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2" h="1893">
                    <a:moveTo>
                      <a:pt x="0" y="0"/>
                    </a:moveTo>
                    <a:cubicBezTo>
                      <a:pt x="72" y="119"/>
                      <a:pt x="144" y="238"/>
                      <a:pt x="148" y="357"/>
                    </a:cubicBezTo>
                    <a:cubicBezTo>
                      <a:pt x="152" y="476"/>
                      <a:pt x="27" y="585"/>
                      <a:pt x="22" y="713"/>
                    </a:cubicBezTo>
                    <a:cubicBezTo>
                      <a:pt x="17" y="841"/>
                      <a:pt x="122" y="1003"/>
                      <a:pt x="120" y="1125"/>
                    </a:cubicBezTo>
                    <a:cubicBezTo>
                      <a:pt x="118" y="1247"/>
                      <a:pt x="10" y="1349"/>
                      <a:pt x="11" y="1448"/>
                    </a:cubicBezTo>
                    <a:cubicBezTo>
                      <a:pt x="12" y="1547"/>
                      <a:pt x="116" y="1643"/>
                      <a:pt x="126" y="1717"/>
                    </a:cubicBezTo>
                    <a:cubicBezTo>
                      <a:pt x="136" y="1791"/>
                      <a:pt x="81" y="1864"/>
                      <a:pt x="71" y="1893"/>
                    </a:cubicBezTo>
                  </a:path>
                </a:pathLst>
              </a:custGeom>
              <a:noFill/>
              <a:ln w="936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360" name="Freeform 20"/>
              <p:cNvSpPr>
                <a:spLocks/>
              </p:cNvSpPr>
              <p:nvPr/>
            </p:nvSpPr>
            <p:spPr bwMode="auto">
              <a:xfrm>
                <a:off x="2766" y="2710"/>
                <a:ext cx="113" cy="1113"/>
              </a:xfrm>
              <a:custGeom>
                <a:avLst/>
                <a:gdLst>
                  <a:gd name="T0" fmla="*/ 0 w 152"/>
                  <a:gd name="T1" fmla="*/ 0 h 1893"/>
                  <a:gd name="T2" fmla="*/ 61 w 152"/>
                  <a:gd name="T3" fmla="*/ 72 h 1893"/>
                  <a:gd name="T4" fmla="*/ 9 w 152"/>
                  <a:gd name="T5" fmla="*/ 145 h 1893"/>
                  <a:gd name="T6" fmla="*/ 49 w 152"/>
                  <a:gd name="T7" fmla="*/ 229 h 1893"/>
                  <a:gd name="T8" fmla="*/ 4 w 152"/>
                  <a:gd name="T9" fmla="*/ 294 h 1893"/>
                  <a:gd name="T10" fmla="*/ 52 w 152"/>
                  <a:gd name="T11" fmla="*/ 349 h 1893"/>
                  <a:gd name="T12" fmla="*/ 29 w 152"/>
                  <a:gd name="T13" fmla="*/ 385 h 18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2" h="1893">
                    <a:moveTo>
                      <a:pt x="0" y="0"/>
                    </a:moveTo>
                    <a:cubicBezTo>
                      <a:pt x="72" y="119"/>
                      <a:pt x="144" y="238"/>
                      <a:pt x="148" y="357"/>
                    </a:cubicBezTo>
                    <a:cubicBezTo>
                      <a:pt x="152" y="476"/>
                      <a:pt x="27" y="585"/>
                      <a:pt x="22" y="713"/>
                    </a:cubicBezTo>
                    <a:cubicBezTo>
                      <a:pt x="17" y="841"/>
                      <a:pt x="122" y="1003"/>
                      <a:pt x="120" y="1125"/>
                    </a:cubicBezTo>
                    <a:cubicBezTo>
                      <a:pt x="118" y="1247"/>
                      <a:pt x="10" y="1349"/>
                      <a:pt x="11" y="1448"/>
                    </a:cubicBezTo>
                    <a:cubicBezTo>
                      <a:pt x="12" y="1547"/>
                      <a:pt x="116" y="1643"/>
                      <a:pt x="126" y="1717"/>
                    </a:cubicBezTo>
                    <a:cubicBezTo>
                      <a:pt x="136" y="1791"/>
                      <a:pt x="81" y="1864"/>
                      <a:pt x="71" y="1893"/>
                    </a:cubicBezTo>
                  </a:path>
                </a:pathLst>
              </a:custGeom>
              <a:noFill/>
              <a:ln w="936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361" name="Freeform 21"/>
              <p:cNvSpPr>
                <a:spLocks/>
              </p:cNvSpPr>
              <p:nvPr/>
            </p:nvSpPr>
            <p:spPr bwMode="auto">
              <a:xfrm>
                <a:off x="2880" y="2713"/>
                <a:ext cx="113" cy="1114"/>
              </a:xfrm>
              <a:custGeom>
                <a:avLst/>
                <a:gdLst>
                  <a:gd name="T0" fmla="*/ 0 w 152"/>
                  <a:gd name="T1" fmla="*/ 0 h 1893"/>
                  <a:gd name="T2" fmla="*/ 61 w 152"/>
                  <a:gd name="T3" fmla="*/ 73 h 1893"/>
                  <a:gd name="T4" fmla="*/ 9 w 152"/>
                  <a:gd name="T5" fmla="*/ 145 h 1893"/>
                  <a:gd name="T6" fmla="*/ 49 w 152"/>
                  <a:gd name="T7" fmla="*/ 230 h 1893"/>
                  <a:gd name="T8" fmla="*/ 4 w 152"/>
                  <a:gd name="T9" fmla="*/ 295 h 1893"/>
                  <a:gd name="T10" fmla="*/ 52 w 152"/>
                  <a:gd name="T11" fmla="*/ 350 h 1893"/>
                  <a:gd name="T12" fmla="*/ 29 w 152"/>
                  <a:gd name="T13" fmla="*/ 386 h 18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2" h="1893">
                    <a:moveTo>
                      <a:pt x="0" y="0"/>
                    </a:moveTo>
                    <a:cubicBezTo>
                      <a:pt x="72" y="119"/>
                      <a:pt x="144" y="238"/>
                      <a:pt x="148" y="357"/>
                    </a:cubicBezTo>
                    <a:cubicBezTo>
                      <a:pt x="152" y="476"/>
                      <a:pt x="27" y="585"/>
                      <a:pt x="22" y="713"/>
                    </a:cubicBezTo>
                    <a:cubicBezTo>
                      <a:pt x="17" y="841"/>
                      <a:pt x="122" y="1003"/>
                      <a:pt x="120" y="1125"/>
                    </a:cubicBezTo>
                    <a:cubicBezTo>
                      <a:pt x="118" y="1247"/>
                      <a:pt x="10" y="1349"/>
                      <a:pt x="11" y="1448"/>
                    </a:cubicBezTo>
                    <a:cubicBezTo>
                      <a:pt x="12" y="1547"/>
                      <a:pt x="116" y="1643"/>
                      <a:pt x="126" y="1717"/>
                    </a:cubicBezTo>
                    <a:cubicBezTo>
                      <a:pt x="136" y="1791"/>
                      <a:pt x="81" y="1864"/>
                      <a:pt x="71" y="1893"/>
                    </a:cubicBezTo>
                  </a:path>
                </a:pathLst>
              </a:custGeom>
              <a:noFill/>
              <a:ln w="936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362" name="Freeform 22"/>
              <p:cNvSpPr>
                <a:spLocks/>
              </p:cNvSpPr>
              <p:nvPr/>
            </p:nvSpPr>
            <p:spPr bwMode="auto">
              <a:xfrm>
                <a:off x="3298" y="2709"/>
                <a:ext cx="113" cy="1114"/>
              </a:xfrm>
              <a:custGeom>
                <a:avLst/>
                <a:gdLst>
                  <a:gd name="T0" fmla="*/ 0 w 152"/>
                  <a:gd name="T1" fmla="*/ 0 h 1893"/>
                  <a:gd name="T2" fmla="*/ 61 w 152"/>
                  <a:gd name="T3" fmla="*/ 73 h 1893"/>
                  <a:gd name="T4" fmla="*/ 9 w 152"/>
                  <a:gd name="T5" fmla="*/ 145 h 1893"/>
                  <a:gd name="T6" fmla="*/ 49 w 152"/>
                  <a:gd name="T7" fmla="*/ 230 h 1893"/>
                  <a:gd name="T8" fmla="*/ 4 w 152"/>
                  <a:gd name="T9" fmla="*/ 295 h 1893"/>
                  <a:gd name="T10" fmla="*/ 52 w 152"/>
                  <a:gd name="T11" fmla="*/ 350 h 1893"/>
                  <a:gd name="T12" fmla="*/ 29 w 152"/>
                  <a:gd name="T13" fmla="*/ 386 h 18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2" h="1893">
                    <a:moveTo>
                      <a:pt x="0" y="0"/>
                    </a:moveTo>
                    <a:cubicBezTo>
                      <a:pt x="72" y="119"/>
                      <a:pt x="144" y="238"/>
                      <a:pt x="148" y="357"/>
                    </a:cubicBezTo>
                    <a:cubicBezTo>
                      <a:pt x="152" y="476"/>
                      <a:pt x="27" y="585"/>
                      <a:pt x="22" y="713"/>
                    </a:cubicBezTo>
                    <a:cubicBezTo>
                      <a:pt x="17" y="841"/>
                      <a:pt x="122" y="1003"/>
                      <a:pt x="120" y="1125"/>
                    </a:cubicBezTo>
                    <a:cubicBezTo>
                      <a:pt x="118" y="1247"/>
                      <a:pt x="10" y="1349"/>
                      <a:pt x="11" y="1448"/>
                    </a:cubicBezTo>
                    <a:cubicBezTo>
                      <a:pt x="12" y="1547"/>
                      <a:pt x="116" y="1643"/>
                      <a:pt x="126" y="1717"/>
                    </a:cubicBezTo>
                    <a:cubicBezTo>
                      <a:pt x="136" y="1791"/>
                      <a:pt x="81" y="1864"/>
                      <a:pt x="71" y="1893"/>
                    </a:cubicBezTo>
                  </a:path>
                </a:pathLst>
              </a:custGeom>
              <a:noFill/>
              <a:ln w="936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363" name="Freeform 23"/>
              <p:cNvSpPr>
                <a:spLocks/>
              </p:cNvSpPr>
              <p:nvPr/>
            </p:nvSpPr>
            <p:spPr bwMode="auto">
              <a:xfrm>
                <a:off x="2970" y="2717"/>
                <a:ext cx="113" cy="1113"/>
              </a:xfrm>
              <a:custGeom>
                <a:avLst/>
                <a:gdLst>
                  <a:gd name="T0" fmla="*/ 0 w 152"/>
                  <a:gd name="T1" fmla="*/ 0 h 1893"/>
                  <a:gd name="T2" fmla="*/ 61 w 152"/>
                  <a:gd name="T3" fmla="*/ 72 h 1893"/>
                  <a:gd name="T4" fmla="*/ 9 w 152"/>
                  <a:gd name="T5" fmla="*/ 145 h 1893"/>
                  <a:gd name="T6" fmla="*/ 49 w 152"/>
                  <a:gd name="T7" fmla="*/ 229 h 1893"/>
                  <a:gd name="T8" fmla="*/ 4 w 152"/>
                  <a:gd name="T9" fmla="*/ 294 h 1893"/>
                  <a:gd name="T10" fmla="*/ 52 w 152"/>
                  <a:gd name="T11" fmla="*/ 349 h 1893"/>
                  <a:gd name="T12" fmla="*/ 29 w 152"/>
                  <a:gd name="T13" fmla="*/ 385 h 18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2" h="1893">
                    <a:moveTo>
                      <a:pt x="0" y="0"/>
                    </a:moveTo>
                    <a:cubicBezTo>
                      <a:pt x="72" y="119"/>
                      <a:pt x="144" y="238"/>
                      <a:pt x="148" y="357"/>
                    </a:cubicBezTo>
                    <a:cubicBezTo>
                      <a:pt x="152" y="476"/>
                      <a:pt x="27" y="585"/>
                      <a:pt x="22" y="713"/>
                    </a:cubicBezTo>
                    <a:cubicBezTo>
                      <a:pt x="17" y="841"/>
                      <a:pt x="122" y="1003"/>
                      <a:pt x="120" y="1125"/>
                    </a:cubicBezTo>
                    <a:cubicBezTo>
                      <a:pt x="118" y="1247"/>
                      <a:pt x="10" y="1349"/>
                      <a:pt x="11" y="1448"/>
                    </a:cubicBezTo>
                    <a:cubicBezTo>
                      <a:pt x="12" y="1547"/>
                      <a:pt x="116" y="1643"/>
                      <a:pt x="126" y="1717"/>
                    </a:cubicBezTo>
                    <a:cubicBezTo>
                      <a:pt x="136" y="1791"/>
                      <a:pt x="81" y="1864"/>
                      <a:pt x="71" y="1893"/>
                    </a:cubicBezTo>
                  </a:path>
                </a:pathLst>
              </a:custGeom>
              <a:noFill/>
              <a:ln w="936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364" name="Freeform 24"/>
              <p:cNvSpPr>
                <a:spLocks/>
              </p:cNvSpPr>
              <p:nvPr/>
            </p:nvSpPr>
            <p:spPr bwMode="auto">
              <a:xfrm>
                <a:off x="3080" y="2718"/>
                <a:ext cx="113" cy="1113"/>
              </a:xfrm>
              <a:custGeom>
                <a:avLst/>
                <a:gdLst>
                  <a:gd name="T0" fmla="*/ 0 w 152"/>
                  <a:gd name="T1" fmla="*/ 0 h 1893"/>
                  <a:gd name="T2" fmla="*/ 61 w 152"/>
                  <a:gd name="T3" fmla="*/ 72 h 1893"/>
                  <a:gd name="T4" fmla="*/ 9 w 152"/>
                  <a:gd name="T5" fmla="*/ 145 h 1893"/>
                  <a:gd name="T6" fmla="*/ 49 w 152"/>
                  <a:gd name="T7" fmla="*/ 229 h 1893"/>
                  <a:gd name="T8" fmla="*/ 4 w 152"/>
                  <a:gd name="T9" fmla="*/ 294 h 1893"/>
                  <a:gd name="T10" fmla="*/ 52 w 152"/>
                  <a:gd name="T11" fmla="*/ 349 h 1893"/>
                  <a:gd name="T12" fmla="*/ 29 w 152"/>
                  <a:gd name="T13" fmla="*/ 385 h 18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2" h="1893">
                    <a:moveTo>
                      <a:pt x="0" y="0"/>
                    </a:moveTo>
                    <a:cubicBezTo>
                      <a:pt x="72" y="119"/>
                      <a:pt x="144" y="238"/>
                      <a:pt x="148" y="357"/>
                    </a:cubicBezTo>
                    <a:cubicBezTo>
                      <a:pt x="152" y="476"/>
                      <a:pt x="27" y="585"/>
                      <a:pt x="22" y="713"/>
                    </a:cubicBezTo>
                    <a:cubicBezTo>
                      <a:pt x="17" y="841"/>
                      <a:pt x="122" y="1003"/>
                      <a:pt x="120" y="1125"/>
                    </a:cubicBezTo>
                    <a:cubicBezTo>
                      <a:pt x="118" y="1247"/>
                      <a:pt x="10" y="1349"/>
                      <a:pt x="11" y="1448"/>
                    </a:cubicBezTo>
                    <a:cubicBezTo>
                      <a:pt x="12" y="1547"/>
                      <a:pt x="116" y="1643"/>
                      <a:pt x="126" y="1717"/>
                    </a:cubicBezTo>
                    <a:cubicBezTo>
                      <a:pt x="136" y="1791"/>
                      <a:pt x="81" y="1864"/>
                      <a:pt x="71" y="1893"/>
                    </a:cubicBezTo>
                  </a:path>
                </a:pathLst>
              </a:custGeom>
              <a:noFill/>
              <a:ln w="936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365" name="Freeform 25"/>
              <p:cNvSpPr>
                <a:spLocks/>
              </p:cNvSpPr>
              <p:nvPr/>
            </p:nvSpPr>
            <p:spPr bwMode="auto">
              <a:xfrm>
                <a:off x="3194" y="2709"/>
                <a:ext cx="113" cy="1114"/>
              </a:xfrm>
              <a:custGeom>
                <a:avLst/>
                <a:gdLst>
                  <a:gd name="T0" fmla="*/ 0 w 152"/>
                  <a:gd name="T1" fmla="*/ 0 h 1893"/>
                  <a:gd name="T2" fmla="*/ 61 w 152"/>
                  <a:gd name="T3" fmla="*/ 73 h 1893"/>
                  <a:gd name="T4" fmla="*/ 9 w 152"/>
                  <a:gd name="T5" fmla="*/ 145 h 1893"/>
                  <a:gd name="T6" fmla="*/ 49 w 152"/>
                  <a:gd name="T7" fmla="*/ 230 h 1893"/>
                  <a:gd name="T8" fmla="*/ 4 w 152"/>
                  <a:gd name="T9" fmla="*/ 295 h 1893"/>
                  <a:gd name="T10" fmla="*/ 52 w 152"/>
                  <a:gd name="T11" fmla="*/ 350 h 1893"/>
                  <a:gd name="T12" fmla="*/ 29 w 152"/>
                  <a:gd name="T13" fmla="*/ 386 h 18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2" h="1893">
                    <a:moveTo>
                      <a:pt x="0" y="0"/>
                    </a:moveTo>
                    <a:cubicBezTo>
                      <a:pt x="72" y="119"/>
                      <a:pt x="144" y="238"/>
                      <a:pt x="148" y="357"/>
                    </a:cubicBezTo>
                    <a:cubicBezTo>
                      <a:pt x="152" y="476"/>
                      <a:pt x="27" y="585"/>
                      <a:pt x="22" y="713"/>
                    </a:cubicBezTo>
                    <a:cubicBezTo>
                      <a:pt x="17" y="841"/>
                      <a:pt x="122" y="1003"/>
                      <a:pt x="120" y="1125"/>
                    </a:cubicBezTo>
                    <a:cubicBezTo>
                      <a:pt x="118" y="1247"/>
                      <a:pt x="10" y="1349"/>
                      <a:pt x="11" y="1448"/>
                    </a:cubicBezTo>
                    <a:cubicBezTo>
                      <a:pt x="12" y="1547"/>
                      <a:pt x="116" y="1643"/>
                      <a:pt x="126" y="1717"/>
                    </a:cubicBezTo>
                    <a:cubicBezTo>
                      <a:pt x="136" y="1791"/>
                      <a:pt x="81" y="1864"/>
                      <a:pt x="71" y="1893"/>
                    </a:cubicBezTo>
                  </a:path>
                </a:pathLst>
              </a:custGeom>
              <a:noFill/>
              <a:ln w="936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4357" name="Text Box 26"/>
            <p:cNvSpPr txBox="1">
              <a:spLocks noChangeArrowheads="1"/>
            </p:cNvSpPr>
            <p:nvPr/>
          </p:nvSpPr>
          <p:spPr bwMode="auto">
            <a:xfrm>
              <a:off x="2378" y="2995"/>
              <a:ext cx="1222" cy="491"/>
            </a:xfrm>
            <a:prstGeom prst="rect">
              <a:avLst/>
            </a:prstGeom>
            <a:solidFill>
              <a:srgbClr val="000000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defTabSz="449263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ＭＳ Ｐゴシック" charset="0"/>
                </a:defRPr>
              </a:lvl1pPr>
              <a:lvl2pPr marL="742950" indent="-285750" defTabSz="449263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ＭＳ Ｐゴシック" charset="0"/>
                </a:defRPr>
              </a:lvl2pPr>
              <a:lvl3pPr marL="1143000" indent="-228600" defTabSz="449263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ＭＳ Ｐゴシック" charset="0"/>
                </a:defRPr>
              </a:lvl3pPr>
              <a:lvl4pPr marL="1600200" indent="-228600" defTabSz="449263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ＭＳ Ｐゴシック" charset="0"/>
                </a:defRPr>
              </a:lvl4pPr>
              <a:lvl5pPr marL="2057400" indent="-228600" defTabSz="449263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ＭＳ Ｐゴシック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ＭＳ Ｐゴシック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ＭＳ Ｐゴシック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ＭＳ Ｐゴシック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ＭＳ Ｐゴシック" charset="0"/>
                </a:defRPr>
              </a:lvl9pPr>
            </a:lstStyle>
            <a:p>
              <a:pPr eaLnBrk="1" hangingPunct="1">
                <a:buClr>
                  <a:srgbClr val="FFFFFF"/>
                </a:buClr>
                <a:buSzPct val="100000"/>
                <a:buFont typeface="Courier New" charset="0"/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ourier New" charset="0"/>
                </a:rPr>
                <a:t>…</a:t>
              </a:r>
            </a:p>
            <a:p>
              <a:pPr eaLnBrk="1" hangingPunct="1">
                <a:buClr>
                  <a:srgbClr val="FFFFFF"/>
                </a:buClr>
                <a:buSzPct val="100000"/>
                <a:buFont typeface="Courier New" charset="0"/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ourier New" charset="0"/>
                </a:rPr>
                <a:t>float x = input[</a:t>
              </a:r>
              <a:r>
                <a:rPr lang="en-US" sz="900" b="1" dirty="0" err="1">
                  <a:solidFill>
                    <a:srgbClr val="FFFFFF"/>
                  </a:solidFill>
                  <a:latin typeface="Courier New" charset="0"/>
                </a:rPr>
                <a:t>threadID</a:t>
              </a:r>
              <a:r>
                <a:rPr lang="en-US" sz="900" b="1" dirty="0">
                  <a:solidFill>
                    <a:srgbClr val="FFFFFF"/>
                  </a:solidFill>
                  <a:latin typeface="Courier New" charset="0"/>
                </a:rPr>
                <a:t>];</a:t>
              </a:r>
            </a:p>
            <a:p>
              <a:pPr eaLnBrk="1" hangingPunct="1">
                <a:buClr>
                  <a:srgbClr val="FFFFFF"/>
                </a:buClr>
                <a:buSzPct val="100000"/>
                <a:buFont typeface="Courier New" charset="0"/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ourier New" charset="0"/>
                </a:rPr>
                <a:t>float y = </a:t>
              </a:r>
              <a:r>
                <a:rPr lang="en-US" sz="900" b="1" dirty="0" err="1">
                  <a:solidFill>
                    <a:srgbClr val="FFFFFF"/>
                  </a:solidFill>
                  <a:latin typeface="Courier New" charset="0"/>
                </a:rPr>
                <a:t>func</a:t>
              </a:r>
              <a:r>
                <a:rPr lang="en-US" sz="900" b="1" dirty="0">
                  <a:solidFill>
                    <a:srgbClr val="FFFFFF"/>
                  </a:solidFill>
                  <a:latin typeface="Courier New" charset="0"/>
                </a:rPr>
                <a:t>(x);</a:t>
              </a:r>
            </a:p>
            <a:p>
              <a:pPr eaLnBrk="1" hangingPunct="1">
                <a:buClr>
                  <a:srgbClr val="FFFFFF"/>
                </a:buClr>
                <a:buSzPct val="100000"/>
                <a:buFont typeface="Courier New" charset="0"/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ourier New" charset="0"/>
                </a:rPr>
                <a:t>output[</a:t>
              </a:r>
              <a:r>
                <a:rPr lang="en-US" sz="900" b="1" dirty="0" err="1">
                  <a:solidFill>
                    <a:srgbClr val="FFFFFF"/>
                  </a:solidFill>
                  <a:latin typeface="Courier New" charset="0"/>
                </a:rPr>
                <a:t>threadID</a:t>
              </a:r>
              <a:r>
                <a:rPr lang="en-US" sz="900" b="1" dirty="0">
                  <a:solidFill>
                    <a:srgbClr val="FFFFFF"/>
                  </a:solidFill>
                  <a:latin typeface="Courier New" charset="0"/>
                </a:rPr>
                <a:t>] = y;</a:t>
              </a:r>
            </a:p>
            <a:p>
              <a:pPr eaLnBrk="1" hangingPunct="1">
                <a:buClr>
                  <a:srgbClr val="FFFFFF"/>
                </a:buClr>
                <a:buSzPct val="100000"/>
                <a:buFont typeface="Courier New" charset="0"/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ourier New" charset="0"/>
                </a:rPr>
                <a:t>…</a:t>
              </a:r>
            </a:p>
          </p:txBody>
        </p:sp>
      </p:grpSp>
      <p:sp>
        <p:nvSpPr>
          <p:cNvPr id="54280" name="Text Box 27"/>
          <p:cNvSpPr txBox="1">
            <a:spLocks noChangeArrowheads="1"/>
          </p:cNvSpPr>
          <p:nvPr/>
        </p:nvSpPr>
        <p:spPr bwMode="auto">
          <a:xfrm>
            <a:off x="3892550" y="3733800"/>
            <a:ext cx="13731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1pPr>
            <a:lvl2pPr marL="742950" indent="-28575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2pPr>
            <a:lvl3pPr marL="11430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3pPr>
            <a:lvl4pPr marL="16002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4pPr>
            <a:lvl5pPr marL="20574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Arial" charset="0"/>
              <a:buNone/>
            </a:pPr>
            <a:r>
              <a:rPr lang="en-US" sz="1400">
                <a:solidFill>
                  <a:srgbClr val="000000"/>
                </a:solidFill>
                <a:latin typeface="Arial" charset="0"/>
              </a:rPr>
              <a:t>Thread Block 1</a:t>
            </a:r>
          </a:p>
        </p:txBody>
      </p:sp>
      <p:grpSp>
        <p:nvGrpSpPr>
          <p:cNvPr id="54281" name="Group 28"/>
          <p:cNvGrpSpPr>
            <a:grpSpLocks/>
          </p:cNvGrpSpPr>
          <p:nvPr/>
        </p:nvGrpSpPr>
        <p:grpSpPr bwMode="auto">
          <a:xfrm>
            <a:off x="6510338" y="4302125"/>
            <a:ext cx="1938337" cy="1779588"/>
            <a:chOff x="4101" y="2710"/>
            <a:chExt cx="1221" cy="1121"/>
          </a:xfrm>
        </p:grpSpPr>
        <p:grpSp>
          <p:nvGrpSpPr>
            <p:cNvPr id="54346" name="Group 29"/>
            <p:cNvGrpSpPr>
              <a:grpSpLocks/>
            </p:cNvGrpSpPr>
            <p:nvPr/>
          </p:nvGrpSpPr>
          <p:grpSpPr bwMode="auto">
            <a:xfrm>
              <a:off x="4265" y="2710"/>
              <a:ext cx="868" cy="1121"/>
              <a:chOff x="4265" y="2710"/>
              <a:chExt cx="868" cy="1121"/>
            </a:xfrm>
          </p:grpSpPr>
          <p:sp>
            <p:nvSpPr>
              <p:cNvPr id="54348" name="Freeform 30"/>
              <p:cNvSpPr>
                <a:spLocks/>
              </p:cNvSpPr>
              <p:nvPr/>
            </p:nvSpPr>
            <p:spPr bwMode="auto">
              <a:xfrm>
                <a:off x="4265" y="2711"/>
                <a:ext cx="113" cy="1114"/>
              </a:xfrm>
              <a:custGeom>
                <a:avLst/>
                <a:gdLst>
                  <a:gd name="T0" fmla="*/ 0 w 152"/>
                  <a:gd name="T1" fmla="*/ 0 h 1893"/>
                  <a:gd name="T2" fmla="*/ 61 w 152"/>
                  <a:gd name="T3" fmla="*/ 73 h 1893"/>
                  <a:gd name="T4" fmla="*/ 9 w 152"/>
                  <a:gd name="T5" fmla="*/ 145 h 1893"/>
                  <a:gd name="T6" fmla="*/ 49 w 152"/>
                  <a:gd name="T7" fmla="*/ 230 h 1893"/>
                  <a:gd name="T8" fmla="*/ 4 w 152"/>
                  <a:gd name="T9" fmla="*/ 295 h 1893"/>
                  <a:gd name="T10" fmla="*/ 52 w 152"/>
                  <a:gd name="T11" fmla="*/ 350 h 1893"/>
                  <a:gd name="T12" fmla="*/ 29 w 152"/>
                  <a:gd name="T13" fmla="*/ 386 h 18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2" h="1893">
                    <a:moveTo>
                      <a:pt x="0" y="0"/>
                    </a:moveTo>
                    <a:cubicBezTo>
                      <a:pt x="72" y="119"/>
                      <a:pt x="144" y="238"/>
                      <a:pt x="148" y="357"/>
                    </a:cubicBezTo>
                    <a:cubicBezTo>
                      <a:pt x="152" y="476"/>
                      <a:pt x="27" y="585"/>
                      <a:pt x="22" y="713"/>
                    </a:cubicBezTo>
                    <a:cubicBezTo>
                      <a:pt x="17" y="841"/>
                      <a:pt x="122" y="1003"/>
                      <a:pt x="120" y="1125"/>
                    </a:cubicBezTo>
                    <a:cubicBezTo>
                      <a:pt x="118" y="1247"/>
                      <a:pt x="10" y="1349"/>
                      <a:pt x="11" y="1448"/>
                    </a:cubicBezTo>
                    <a:cubicBezTo>
                      <a:pt x="12" y="1547"/>
                      <a:pt x="116" y="1643"/>
                      <a:pt x="126" y="1717"/>
                    </a:cubicBezTo>
                    <a:cubicBezTo>
                      <a:pt x="136" y="1791"/>
                      <a:pt x="81" y="1864"/>
                      <a:pt x="71" y="1893"/>
                    </a:cubicBezTo>
                  </a:path>
                </a:pathLst>
              </a:custGeom>
              <a:noFill/>
              <a:ln w="936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349" name="Freeform 31"/>
              <p:cNvSpPr>
                <a:spLocks/>
              </p:cNvSpPr>
              <p:nvPr/>
            </p:nvSpPr>
            <p:spPr bwMode="auto">
              <a:xfrm>
                <a:off x="4387" y="2710"/>
                <a:ext cx="113" cy="1113"/>
              </a:xfrm>
              <a:custGeom>
                <a:avLst/>
                <a:gdLst>
                  <a:gd name="T0" fmla="*/ 0 w 152"/>
                  <a:gd name="T1" fmla="*/ 0 h 1893"/>
                  <a:gd name="T2" fmla="*/ 61 w 152"/>
                  <a:gd name="T3" fmla="*/ 72 h 1893"/>
                  <a:gd name="T4" fmla="*/ 9 w 152"/>
                  <a:gd name="T5" fmla="*/ 145 h 1893"/>
                  <a:gd name="T6" fmla="*/ 49 w 152"/>
                  <a:gd name="T7" fmla="*/ 229 h 1893"/>
                  <a:gd name="T8" fmla="*/ 4 w 152"/>
                  <a:gd name="T9" fmla="*/ 294 h 1893"/>
                  <a:gd name="T10" fmla="*/ 52 w 152"/>
                  <a:gd name="T11" fmla="*/ 349 h 1893"/>
                  <a:gd name="T12" fmla="*/ 29 w 152"/>
                  <a:gd name="T13" fmla="*/ 385 h 18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2" h="1893">
                    <a:moveTo>
                      <a:pt x="0" y="0"/>
                    </a:moveTo>
                    <a:cubicBezTo>
                      <a:pt x="72" y="119"/>
                      <a:pt x="144" y="238"/>
                      <a:pt x="148" y="357"/>
                    </a:cubicBezTo>
                    <a:cubicBezTo>
                      <a:pt x="152" y="476"/>
                      <a:pt x="27" y="585"/>
                      <a:pt x="22" y="713"/>
                    </a:cubicBezTo>
                    <a:cubicBezTo>
                      <a:pt x="17" y="841"/>
                      <a:pt x="122" y="1003"/>
                      <a:pt x="120" y="1125"/>
                    </a:cubicBezTo>
                    <a:cubicBezTo>
                      <a:pt x="118" y="1247"/>
                      <a:pt x="10" y="1349"/>
                      <a:pt x="11" y="1448"/>
                    </a:cubicBezTo>
                    <a:cubicBezTo>
                      <a:pt x="12" y="1547"/>
                      <a:pt x="116" y="1643"/>
                      <a:pt x="126" y="1717"/>
                    </a:cubicBezTo>
                    <a:cubicBezTo>
                      <a:pt x="136" y="1791"/>
                      <a:pt x="81" y="1864"/>
                      <a:pt x="71" y="1893"/>
                    </a:cubicBezTo>
                  </a:path>
                </a:pathLst>
              </a:custGeom>
              <a:noFill/>
              <a:ln w="936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350" name="Freeform 32"/>
              <p:cNvSpPr>
                <a:spLocks/>
              </p:cNvSpPr>
              <p:nvPr/>
            </p:nvSpPr>
            <p:spPr bwMode="auto">
              <a:xfrm>
                <a:off x="4489" y="2711"/>
                <a:ext cx="113" cy="1113"/>
              </a:xfrm>
              <a:custGeom>
                <a:avLst/>
                <a:gdLst>
                  <a:gd name="T0" fmla="*/ 0 w 152"/>
                  <a:gd name="T1" fmla="*/ 0 h 1893"/>
                  <a:gd name="T2" fmla="*/ 61 w 152"/>
                  <a:gd name="T3" fmla="*/ 72 h 1893"/>
                  <a:gd name="T4" fmla="*/ 9 w 152"/>
                  <a:gd name="T5" fmla="*/ 145 h 1893"/>
                  <a:gd name="T6" fmla="*/ 49 w 152"/>
                  <a:gd name="T7" fmla="*/ 229 h 1893"/>
                  <a:gd name="T8" fmla="*/ 4 w 152"/>
                  <a:gd name="T9" fmla="*/ 294 h 1893"/>
                  <a:gd name="T10" fmla="*/ 52 w 152"/>
                  <a:gd name="T11" fmla="*/ 349 h 1893"/>
                  <a:gd name="T12" fmla="*/ 29 w 152"/>
                  <a:gd name="T13" fmla="*/ 385 h 18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2" h="1893">
                    <a:moveTo>
                      <a:pt x="0" y="0"/>
                    </a:moveTo>
                    <a:cubicBezTo>
                      <a:pt x="72" y="119"/>
                      <a:pt x="144" y="238"/>
                      <a:pt x="148" y="357"/>
                    </a:cubicBezTo>
                    <a:cubicBezTo>
                      <a:pt x="152" y="476"/>
                      <a:pt x="27" y="585"/>
                      <a:pt x="22" y="713"/>
                    </a:cubicBezTo>
                    <a:cubicBezTo>
                      <a:pt x="17" y="841"/>
                      <a:pt x="122" y="1003"/>
                      <a:pt x="120" y="1125"/>
                    </a:cubicBezTo>
                    <a:cubicBezTo>
                      <a:pt x="118" y="1247"/>
                      <a:pt x="10" y="1349"/>
                      <a:pt x="11" y="1448"/>
                    </a:cubicBezTo>
                    <a:cubicBezTo>
                      <a:pt x="12" y="1547"/>
                      <a:pt x="116" y="1643"/>
                      <a:pt x="126" y="1717"/>
                    </a:cubicBezTo>
                    <a:cubicBezTo>
                      <a:pt x="136" y="1791"/>
                      <a:pt x="81" y="1864"/>
                      <a:pt x="71" y="1893"/>
                    </a:cubicBezTo>
                  </a:path>
                </a:pathLst>
              </a:custGeom>
              <a:noFill/>
              <a:ln w="936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351" name="Freeform 33"/>
              <p:cNvSpPr>
                <a:spLocks/>
              </p:cNvSpPr>
              <p:nvPr/>
            </p:nvSpPr>
            <p:spPr bwMode="auto">
              <a:xfrm>
                <a:off x="4603" y="2714"/>
                <a:ext cx="113" cy="1114"/>
              </a:xfrm>
              <a:custGeom>
                <a:avLst/>
                <a:gdLst>
                  <a:gd name="T0" fmla="*/ 0 w 152"/>
                  <a:gd name="T1" fmla="*/ 0 h 1893"/>
                  <a:gd name="T2" fmla="*/ 61 w 152"/>
                  <a:gd name="T3" fmla="*/ 73 h 1893"/>
                  <a:gd name="T4" fmla="*/ 9 w 152"/>
                  <a:gd name="T5" fmla="*/ 145 h 1893"/>
                  <a:gd name="T6" fmla="*/ 49 w 152"/>
                  <a:gd name="T7" fmla="*/ 230 h 1893"/>
                  <a:gd name="T8" fmla="*/ 4 w 152"/>
                  <a:gd name="T9" fmla="*/ 295 h 1893"/>
                  <a:gd name="T10" fmla="*/ 52 w 152"/>
                  <a:gd name="T11" fmla="*/ 350 h 1893"/>
                  <a:gd name="T12" fmla="*/ 29 w 152"/>
                  <a:gd name="T13" fmla="*/ 386 h 18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2" h="1893">
                    <a:moveTo>
                      <a:pt x="0" y="0"/>
                    </a:moveTo>
                    <a:cubicBezTo>
                      <a:pt x="72" y="119"/>
                      <a:pt x="144" y="238"/>
                      <a:pt x="148" y="357"/>
                    </a:cubicBezTo>
                    <a:cubicBezTo>
                      <a:pt x="152" y="476"/>
                      <a:pt x="27" y="585"/>
                      <a:pt x="22" y="713"/>
                    </a:cubicBezTo>
                    <a:cubicBezTo>
                      <a:pt x="17" y="841"/>
                      <a:pt x="122" y="1003"/>
                      <a:pt x="120" y="1125"/>
                    </a:cubicBezTo>
                    <a:cubicBezTo>
                      <a:pt x="118" y="1247"/>
                      <a:pt x="10" y="1349"/>
                      <a:pt x="11" y="1448"/>
                    </a:cubicBezTo>
                    <a:cubicBezTo>
                      <a:pt x="12" y="1547"/>
                      <a:pt x="116" y="1643"/>
                      <a:pt x="126" y="1717"/>
                    </a:cubicBezTo>
                    <a:cubicBezTo>
                      <a:pt x="136" y="1791"/>
                      <a:pt x="81" y="1864"/>
                      <a:pt x="71" y="1893"/>
                    </a:cubicBezTo>
                  </a:path>
                </a:pathLst>
              </a:custGeom>
              <a:noFill/>
              <a:ln w="936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352" name="Freeform 34"/>
              <p:cNvSpPr>
                <a:spLocks/>
              </p:cNvSpPr>
              <p:nvPr/>
            </p:nvSpPr>
            <p:spPr bwMode="auto">
              <a:xfrm>
                <a:off x="5021" y="2710"/>
                <a:ext cx="113" cy="1114"/>
              </a:xfrm>
              <a:custGeom>
                <a:avLst/>
                <a:gdLst>
                  <a:gd name="T0" fmla="*/ 0 w 152"/>
                  <a:gd name="T1" fmla="*/ 0 h 1893"/>
                  <a:gd name="T2" fmla="*/ 61 w 152"/>
                  <a:gd name="T3" fmla="*/ 73 h 1893"/>
                  <a:gd name="T4" fmla="*/ 9 w 152"/>
                  <a:gd name="T5" fmla="*/ 145 h 1893"/>
                  <a:gd name="T6" fmla="*/ 49 w 152"/>
                  <a:gd name="T7" fmla="*/ 230 h 1893"/>
                  <a:gd name="T8" fmla="*/ 4 w 152"/>
                  <a:gd name="T9" fmla="*/ 295 h 1893"/>
                  <a:gd name="T10" fmla="*/ 52 w 152"/>
                  <a:gd name="T11" fmla="*/ 350 h 1893"/>
                  <a:gd name="T12" fmla="*/ 29 w 152"/>
                  <a:gd name="T13" fmla="*/ 386 h 18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2" h="1893">
                    <a:moveTo>
                      <a:pt x="0" y="0"/>
                    </a:moveTo>
                    <a:cubicBezTo>
                      <a:pt x="72" y="119"/>
                      <a:pt x="144" y="238"/>
                      <a:pt x="148" y="357"/>
                    </a:cubicBezTo>
                    <a:cubicBezTo>
                      <a:pt x="152" y="476"/>
                      <a:pt x="27" y="585"/>
                      <a:pt x="22" y="713"/>
                    </a:cubicBezTo>
                    <a:cubicBezTo>
                      <a:pt x="17" y="841"/>
                      <a:pt x="122" y="1003"/>
                      <a:pt x="120" y="1125"/>
                    </a:cubicBezTo>
                    <a:cubicBezTo>
                      <a:pt x="118" y="1247"/>
                      <a:pt x="10" y="1349"/>
                      <a:pt x="11" y="1448"/>
                    </a:cubicBezTo>
                    <a:cubicBezTo>
                      <a:pt x="12" y="1547"/>
                      <a:pt x="116" y="1643"/>
                      <a:pt x="126" y="1717"/>
                    </a:cubicBezTo>
                    <a:cubicBezTo>
                      <a:pt x="136" y="1791"/>
                      <a:pt x="81" y="1864"/>
                      <a:pt x="71" y="1893"/>
                    </a:cubicBezTo>
                  </a:path>
                </a:pathLst>
              </a:custGeom>
              <a:noFill/>
              <a:ln w="936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353" name="Freeform 35"/>
              <p:cNvSpPr>
                <a:spLocks/>
              </p:cNvSpPr>
              <p:nvPr/>
            </p:nvSpPr>
            <p:spPr bwMode="auto">
              <a:xfrm>
                <a:off x="4693" y="2718"/>
                <a:ext cx="113" cy="1113"/>
              </a:xfrm>
              <a:custGeom>
                <a:avLst/>
                <a:gdLst>
                  <a:gd name="T0" fmla="*/ 0 w 152"/>
                  <a:gd name="T1" fmla="*/ 0 h 1893"/>
                  <a:gd name="T2" fmla="*/ 61 w 152"/>
                  <a:gd name="T3" fmla="*/ 72 h 1893"/>
                  <a:gd name="T4" fmla="*/ 9 w 152"/>
                  <a:gd name="T5" fmla="*/ 145 h 1893"/>
                  <a:gd name="T6" fmla="*/ 49 w 152"/>
                  <a:gd name="T7" fmla="*/ 229 h 1893"/>
                  <a:gd name="T8" fmla="*/ 4 w 152"/>
                  <a:gd name="T9" fmla="*/ 294 h 1893"/>
                  <a:gd name="T10" fmla="*/ 52 w 152"/>
                  <a:gd name="T11" fmla="*/ 349 h 1893"/>
                  <a:gd name="T12" fmla="*/ 29 w 152"/>
                  <a:gd name="T13" fmla="*/ 385 h 18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2" h="1893">
                    <a:moveTo>
                      <a:pt x="0" y="0"/>
                    </a:moveTo>
                    <a:cubicBezTo>
                      <a:pt x="72" y="119"/>
                      <a:pt x="144" y="238"/>
                      <a:pt x="148" y="357"/>
                    </a:cubicBezTo>
                    <a:cubicBezTo>
                      <a:pt x="152" y="476"/>
                      <a:pt x="27" y="585"/>
                      <a:pt x="22" y="713"/>
                    </a:cubicBezTo>
                    <a:cubicBezTo>
                      <a:pt x="17" y="841"/>
                      <a:pt x="122" y="1003"/>
                      <a:pt x="120" y="1125"/>
                    </a:cubicBezTo>
                    <a:cubicBezTo>
                      <a:pt x="118" y="1247"/>
                      <a:pt x="10" y="1349"/>
                      <a:pt x="11" y="1448"/>
                    </a:cubicBezTo>
                    <a:cubicBezTo>
                      <a:pt x="12" y="1547"/>
                      <a:pt x="116" y="1643"/>
                      <a:pt x="126" y="1717"/>
                    </a:cubicBezTo>
                    <a:cubicBezTo>
                      <a:pt x="136" y="1791"/>
                      <a:pt x="81" y="1864"/>
                      <a:pt x="71" y="1893"/>
                    </a:cubicBezTo>
                  </a:path>
                </a:pathLst>
              </a:custGeom>
              <a:noFill/>
              <a:ln w="936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354" name="Freeform 36"/>
              <p:cNvSpPr>
                <a:spLocks/>
              </p:cNvSpPr>
              <p:nvPr/>
            </p:nvSpPr>
            <p:spPr bwMode="auto">
              <a:xfrm>
                <a:off x="4803" y="2719"/>
                <a:ext cx="113" cy="1113"/>
              </a:xfrm>
              <a:custGeom>
                <a:avLst/>
                <a:gdLst>
                  <a:gd name="T0" fmla="*/ 0 w 152"/>
                  <a:gd name="T1" fmla="*/ 0 h 1893"/>
                  <a:gd name="T2" fmla="*/ 61 w 152"/>
                  <a:gd name="T3" fmla="*/ 72 h 1893"/>
                  <a:gd name="T4" fmla="*/ 9 w 152"/>
                  <a:gd name="T5" fmla="*/ 145 h 1893"/>
                  <a:gd name="T6" fmla="*/ 49 w 152"/>
                  <a:gd name="T7" fmla="*/ 229 h 1893"/>
                  <a:gd name="T8" fmla="*/ 4 w 152"/>
                  <a:gd name="T9" fmla="*/ 294 h 1893"/>
                  <a:gd name="T10" fmla="*/ 52 w 152"/>
                  <a:gd name="T11" fmla="*/ 349 h 1893"/>
                  <a:gd name="T12" fmla="*/ 29 w 152"/>
                  <a:gd name="T13" fmla="*/ 385 h 18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2" h="1893">
                    <a:moveTo>
                      <a:pt x="0" y="0"/>
                    </a:moveTo>
                    <a:cubicBezTo>
                      <a:pt x="72" y="119"/>
                      <a:pt x="144" y="238"/>
                      <a:pt x="148" y="357"/>
                    </a:cubicBezTo>
                    <a:cubicBezTo>
                      <a:pt x="152" y="476"/>
                      <a:pt x="27" y="585"/>
                      <a:pt x="22" y="713"/>
                    </a:cubicBezTo>
                    <a:cubicBezTo>
                      <a:pt x="17" y="841"/>
                      <a:pt x="122" y="1003"/>
                      <a:pt x="120" y="1125"/>
                    </a:cubicBezTo>
                    <a:cubicBezTo>
                      <a:pt x="118" y="1247"/>
                      <a:pt x="10" y="1349"/>
                      <a:pt x="11" y="1448"/>
                    </a:cubicBezTo>
                    <a:cubicBezTo>
                      <a:pt x="12" y="1547"/>
                      <a:pt x="116" y="1643"/>
                      <a:pt x="126" y="1717"/>
                    </a:cubicBezTo>
                    <a:cubicBezTo>
                      <a:pt x="136" y="1791"/>
                      <a:pt x="81" y="1864"/>
                      <a:pt x="71" y="1893"/>
                    </a:cubicBezTo>
                  </a:path>
                </a:pathLst>
              </a:custGeom>
              <a:noFill/>
              <a:ln w="936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355" name="Freeform 37"/>
              <p:cNvSpPr>
                <a:spLocks/>
              </p:cNvSpPr>
              <p:nvPr/>
            </p:nvSpPr>
            <p:spPr bwMode="auto">
              <a:xfrm>
                <a:off x="4917" y="2710"/>
                <a:ext cx="113" cy="1114"/>
              </a:xfrm>
              <a:custGeom>
                <a:avLst/>
                <a:gdLst>
                  <a:gd name="T0" fmla="*/ 0 w 152"/>
                  <a:gd name="T1" fmla="*/ 0 h 1893"/>
                  <a:gd name="T2" fmla="*/ 61 w 152"/>
                  <a:gd name="T3" fmla="*/ 73 h 1893"/>
                  <a:gd name="T4" fmla="*/ 9 w 152"/>
                  <a:gd name="T5" fmla="*/ 145 h 1893"/>
                  <a:gd name="T6" fmla="*/ 49 w 152"/>
                  <a:gd name="T7" fmla="*/ 230 h 1893"/>
                  <a:gd name="T8" fmla="*/ 4 w 152"/>
                  <a:gd name="T9" fmla="*/ 295 h 1893"/>
                  <a:gd name="T10" fmla="*/ 52 w 152"/>
                  <a:gd name="T11" fmla="*/ 350 h 1893"/>
                  <a:gd name="T12" fmla="*/ 29 w 152"/>
                  <a:gd name="T13" fmla="*/ 386 h 189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2" h="1893">
                    <a:moveTo>
                      <a:pt x="0" y="0"/>
                    </a:moveTo>
                    <a:cubicBezTo>
                      <a:pt x="72" y="119"/>
                      <a:pt x="144" y="238"/>
                      <a:pt x="148" y="357"/>
                    </a:cubicBezTo>
                    <a:cubicBezTo>
                      <a:pt x="152" y="476"/>
                      <a:pt x="27" y="585"/>
                      <a:pt x="22" y="713"/>
                    </a:cubicBezTo>
                    <a:cubicBezTo>
                      <a:pt x="17" y="841"/>
                      <a:pt x="122" y="1003"/>
                      <a:pt x="120" y="1125"/>
                    </a:cubicBezTo>
                    <a:cubicBezTo>
                      <a:pt x="118" y="1247"/>
                      <a:pt x="10" y="1349"/>
                      <a:pt x="11" y="1448"/>
                    </a:cubicBezTo>
                    <a:cubicBezTo>
                      <a:pt x="12" y="1547"/>
                      <a:pt x="116" y="1643"/>
                      <a:pt x="126" y="1717"/>
                    </a:cubicBezTo>
                    <a:cubicBezTo>
                      <a:pt x="136" y="1791"/>
                      <a:pt x="81" y="1864"/>
                      <a:pt x="71" y="1893"/>
                    </a:cubicBezTo>
                  </a:path>
                </a:pathLst>
              </a:custGeom>
              <a:noFill/>
              <a:ln w="9360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4347" name="Text Box 38"/>
            <p:cNvSpPr txBox="1">
              <a:spLocks noChangeArrowheads="1"/>
            </p:cNvSpPr>
            <p:nvPr/>
          </p:nvSpPr>
          <p:spPr bwMode="auto">
            <a:xfrm>
              <a:off x="4101" y="2996"/>
              <a:ext cx="1222" cy="491"/>
            </a:xfrm>
            <a:prstGeom prst="rect">
              <a:avLst/>
            </a:prstGeom>
            <a:solidFill>
              <a:srgbClr val="000000"/>
            </a:solidFill>
            <a:ln w="2556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 defTabSz="449263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ＭＳ Ｐゴシック" charset="0"/>
                </a:defRPr>
              </a:lvl1pPr>
              <a:lvl2pPr marL="742950" indent="-285750" defTabSz="449263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ＭＳ Ｐゴシック" charset="0"/>
                </a:defRPr>
              </a:lvl2pPr>
              <a:lvl3pPr marL="1143000" indent="-228600" defTabSz="449263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ＭＳ Ｐゴシック" charset="0"/>
                </a:defRPr>
              </a:lvl3pPr>
              <a:lvl4pPr marL="1600200" indent="-228600" defTabSz="449263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ＭＳ Ｐゴシック" charset="0"/>
                </a:defRPr>
              </a:lvl4pPr>
              <a:lvl5pPr marL="2057400" indent="-228600" defTabSz="449263" eaLnBrk="0" hangingPunct="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ＭＳ Ｐゴシック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ＭＳ Ｐゴシック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ＭＳ Ｐゴシック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ＭＳ Ｐゴシック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Palatino" charset="0"/>
                  <a:ea typeface="ＭＳ Ｐゴシック" charset="0"/>
                </a:defRPr>
              </a:lvl9pPr>
            </a:lstStyle>
            <a:p>
              <a:pPr eaLnBrk="1" hangingPunct="1">
                <a:buClr>
                  <a:srgbClr val="FFFFFF"/>
                </a:buClr>
                <a:buSzPct val="100000"/>
                <a:buFont typeface="Courier New" charset="0"/>
                <a:buNone/>
              </a:pPr>
              <a:r>
                <a:rPr lang="en-US" sz="900" b="1">
                  <a:solidFill>
                    <a:srgbClr val="FFFFFF"/>
                  </a:solidFill>
                  <a:latin typeface="Courier New" charset="0"/>
                </a:rPr>
                <a:t>…</a:t>
              </a:r>
            </a:p>
            <a:p>
              <a:pPr eaLnBrk="1" hangingPunct="1">
                <a:buClr>
                  <a:srgbClr val="FFFFFF"/>
                </a:buClr>
                <a:buSzPct val="100000"/>
                <a:buFont typeface="Courier New" charset="0"/>
                <a:buNone/>
              </a:pPr>
              <a:r>
                <a:rPr lang="en-US" sz="900" b="1">
                  <a:solidFill>
                    <a:srgbClr val="FFFFFF"/>
                  </a:solidFill>
                  <a:latin typeface="Courier New" charset="0"/>
                </a:rPr>
                <a:t>float x = input[threadID];</a:t>
              </a:r>
            </a:p>
            <a:p>
              <a:pPr eaLnBrk="1" hangingPunct="1">
                <a:buClr>
                  <a:srgbClr val="FFFFFF"/>
                </a:buClr>
                <a:buSzPct val="100000"/>
                <a:buFont typeface="Courier New" charset="0"/>
                <a:buNone/>
              </a:pPr>
              <a:r>
                <a:rPr lang="en-US" sz="900" b="1">
                  <a:solidFill>
                    <a:srgbClr val="FFFFFF"/>
                  </a:solidFill>
                  <a:latin typeface="Courier New" charset="0"/>
                </a:rPr>
                <a:t>float y = func(x);</a:t>
              </a:r>
            </a:p>
            <a:p>
              <a:pPr eaLnBrk="1" hangingPunct="1">
                <a:buClr>
                  <a:srgbClr val="FFFFFF"/>
                </a:buClr>
                <a:buSzPct val="100000"/>
                <a:buFont typeface="Courier New" charset="0"/>
                <a:buNone/>
              </a:pPr>
              <a:r>
                <a:rPr lang="en-US" sz="900" b="1">
                  <a:solidFill>
                    <a:srgbClr val="FFFFFF"/>
                  </a:solidFill>
                  <a:latin typeface="Courier New" charset="0"/>
                </a:rPr>
                <a:t>output[threadID] = y;</a:t>
              </a:r>
            </a:p>
            <a:p>
              <a:pPr eaLnBrk="1" hangingPunct="1">
                <a:buClr>
                  <a:srgbClr val="FFFFFF"/>
                </a:buClr>
                <a:buSzPct val="100000"/>
                <a:buFont typeface="Courier New" charset="0"/>
                <a:buNone/>
              </a:pPr>
              <a:r>
                <a:rPr lang="en-US" sz="900" b="1">
                  <a:solidFill>
                    <a:srgbClr val="FFFFFF"/>
                  </a:solidFill>
                  <a:latin typeface="Courier New" charset="0"/>
                </a:rPr>
                <a:t>…</a:t>
              </a:r>
            </a:p>
          </p:txBody>
        </p:sp>
      </p:grpSp>
      <p:sp>
        <p:nvSpPr>
          <p:cNvPr id="54282" name="Text Box 39"/>
          <p:cNvSpPr txBox="1">
            <a:spLocks noChangeArrowheads="1"/>
          </p:cNvSpPr>
          <p:nvPr/>
        </p:nvSpPr>
        <p:spPr bwMode="auto">
          <a:xfrm>
            <a:off x="6488113" y="3735388"/>
            <a:ext cx="1638300" cy="306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1pPr>
            <a:lvl2pPr marL="742950" indent="-28575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2pPr>
            <a:lvl3pPr marL="11430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3pPr>
            <a:lvl4pPr marL="16002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4pPr>
            <a:lvl5pPr marL="20574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Arial" charset="0"/>
              <a:buNone/>
            </a:pPr>
            <a:r>
              <a:rPr lang="en-US" sz="1400">
                <a:solidFill>
                  <a:srgbClr val="000000"/>
                </a:solidFill>
                <a:latin typeface="Arial" charset="0"/>
              </a:rPr>
              <a:t>Thread Block N - 1</a:t>
            </a:r>
          </a:p>
        </p:txBody>
      </p:sp>
      <p:sp>
        <p:nvSpPr>
          <p:cNvPr id="54283" name="Rectangle 40"/>
          <p:cNvSpPr>
            <a:spLocks noChangeArrowheads="1"/>
          </p:cNvSpPr>
          <p:nvPr/>
        </p:nvSpPr>
        <p:spPr bwMode="auto">
          <a:xfrm>
            <a:off x="7724775" y="274638"/>
            <a:ext cx="1419225" cy="5794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284" name="Rectangle 41"/>
          <p:cNvSpPr>
            <a:spLocks noGrp="1" noChangeArrowheads="1"/>
          </p:cNvSpPr>
          <p:nvPr>
            <p:ph type="title"/>
          </p:nvPr>
        </p:nvSpPr>
        <p:spPr>
          <a:xfrm>
            <a:off x="381000" y="212725"/>
            <a:ext cx="8610600" cy="703263"/>
          </a:xfrm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/>
          <a:p>
            <a:pPr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latin typeface="Times New Roman" charset="0"/>
              </a:rPr>
              <a:t>Thread Blocks: Scalable Cooperation</a:t>
            </a:r>
          </a:p>
        </p:txBody>
      </p:sp>
      <p:sp>
        <p:nvSpPr>
          <p:cNvPr id="54285" name="Rectangle 42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7989886" cy="1893888"/>
          </a:xfrm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/>
          <a:p>
            <a:pPr marL="973138" lvl="1" indent="-401638" defTabSz="449263"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sz="2000" dirty="0">
                <a:latin typeface="Times New Roman" charset="0"/>
              </a:rPr>
              <a:t>Thread-urile </a:t>
            </a:r>
            <a:r>
              <a:rPr lang="en-US" sz="2000" dirty="0" err="1">
                <a:latin typeface="Times New Roman" charset="0"/>
              </a:rPr>
              <a:t>dintr</a:t>
            </a:r>
            <a:r>
              <a:rPr lang="en-US" sz="2000" dirty="0">
                <a:latin typeface="Times New Roman" charset="0"/>
              </a:rPr>
              <a:t>-un bloc pot </a:t>
            </a:r>
            <a:r>
              <a:rPr lang="en-US" sz="2000" dirty="0" err="1">
                <a:latin typeface="Times New Roman" charset="0"/>
              </a:rPr>
              <a:t>coopera</a:t>
            </a:r>
            <a:r>
              <a:rPr lang="en-US" sz="2000" dirty="0">
                <a:latin typeface="Times New Roman" charset="0"/>
              </a:rPr>
              <a:t> via </a:t>
            </a:r>
          </a:p>
          <a:p>
            <a:pPr marL="1373188" lvl="2" indent="-401638" defTabSz="449263"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sz="2000" b="1" dirty="0">
                <a:solidFill>
                  <a:srgbClr val="3333CC"/>
                </a:solidFill>
                <a:latin typeface="Times New Roman" charset="0"/>
              </a:rPr>
              <a:t>shared memory</a:t>
            </a:r>
          </a:p>
          <a:p>
            <a:pPr marL="1373188" lvl="2" indent="-401638" defTabSz="449263"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sz="2000" b="1" dirty="0">
                <a:solidFill>
                  <a:srgbClr val="3333CC"/>
                </a:solidFill>
                <a:latin typeface="Times New Roman" charset="0"/>
              </a:rPr>
              <a:t>atomic operations</a:t>
            </a:r>
            <a:endParaRPr lang="en-US" sz="2000" dirty="0">
              <a:latin typeface="Times New Roman" charset="0"/>
            </a:endParaRPr>
          </a:p>
          <a:p>
            <a:pPr marL="1373188" lvl="2" indent="-401638" defTabSz="449263"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</a:pPr>
            <a:r>
              <a:rPr lang="en-US" sz="2000" b="1" dirty="0">
                <a:solidFill>
                  <a:srgbClr val="3333CC"/>
                </a:solidFill>
                <a:latin typeface="Times New Roman" charset="0"/>
              </a:rPr>
              <a:t>synchronization barrier</a:t>
            </a:r>
          </a:p>
        </p:txBody>
      </p:sp>
      <p:grpSp>
        <p:nvGrpSpPr>
          <p:cNvPr id="54286" name="Group 43"/>
          <p:cNvGrpSpPr>
            <a:grpSpLocks/>
          </p:cNvGrpSpPr>
          <p:nvPr/>
        </p:nvGrpSpPr>
        <p:grpSpPr bwMode="auto">
          <a:xfrm>
            <a:off x="1639888" y="4038600"/>
            <a:ext cx="1558925" cy="211138"/>
            <a:chOff x="1033" y="2544"/>
            <a:chExt cx="982" cy="133"/>
          </a:xfrm>
        </p:grpSpPr>
        <p:sp>
          <p:nvSpPr>
            <p:cNvPr id="54327" name="Rectangle 44"/>
            <p:cNvSpPr>
              <a:spLocks noChangeArrowheads="1"/>
            </p:cNvSpPr>
            <p:nvPr/>
          </p:nvSpPr>
          <p:spPr bwMode="auto">
            <a:xfrm>
              <a:off x="1893" y="2544"/>
              <a:ext cx="123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defTabSz="449263">
                <a:spcBef>
                  <a:spcPts val="200"/>
                </a:spcBef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7</a:t>
              </a:r>
            </a:p>
          </p:txBody>
        </p:sp>
        <p:sp>
          <p:nvSpPr>
            <p:cNvPr id="54328" name="Rectangle 45"/>
            <p:cNvSpPr>
              <a:spLocks noChangeArrowheads="1"/>
            </p:cNvSpPr>
            <p:nvPr/>
          </p:nvSpPr>
          <p:spPr bwMode="auto">
            <a:xfrm>
              <a:off x="1771" y="2544"/>
              <a:ext cx="122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defTabSz="449263">
                <a:spcBef>
                  <a:spcPts val="200"/>
                </a:spcBef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6</a:t>
              </a:r>
            </a:p>
          </p:txBody>
        </p:sp>
        <p:sp>
          <p:nvSpPr>
            <p:cNvPr id="54329" name="Rectangle 46"/>
            <p:cNvSpPr>
              <a:spLocks noChangeArrowheads="1"/>
            </p:cNvSpPr>
            <p:nvPr/>
          </p:nvSpPr>
          <p:spPr bwMode="auto">
            <a:xfrm>
              <a:off x="1648" y="2544"/>
              <a:ext cx="123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defTabSz="449263">
                <a:spcBef>
                  <a:spcPts val="200"/>
                </a:spcBef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5</a:t>
              </a:r>
            </a:p>
          </p:txBody>
        </p:sp>
        <p:sp>
          <p:nvSpPr>
            <p:cNvPr id="54330" name="Rectangle 47"/>
            <p:cNvSpPr>
              <a:spLocks noChangeArrowheads="1"/>
            </p:cNvSpPr>
            <p:nvPr/>
          </p:nvSpPr>
          <p:spPr bwMode="auto">
            <a:xfrm>
              <a:off x="1525" y="2544"/>
              <a:ext cx="123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defTabSz="449263">
                <a:spcBef>
                  <a:spcPts val="200"/>
                </a:spcBef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4</a:t>
              </a:r>
            </a:p>
          </p:txBody>
        </p:sp>
        <p:sp>
          <p:nvSpPr>
            <p:cNvPr id="54331" name="Rectangle 48"/>
            <p:cNvSpPr>
              <a:spLocks noChangeArrowheads="1"/>
            </p:cNvSpPr>
            <p:nvPr/>
          </p:nvSpPr>
          <p:spPr bwMode="auto">
            <a:xfrm>
              <a:off x="1401" y="2544"/>
              <a:ext cx="124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defTabSz="449263">
                <a:spcBef>
                  <a:spcPts val="200"/>
                </a:spcBef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3</a:t>
              </a:r>
            </a:p>
          </p:txBody>
        </p:sp>
        <p:sp>
          <p:nvSpPr>
            <p:cNvPr id="54332" name="Rectangle 49"/>
            <p:cNvSpPr>
              <a:spLocks noChangeArrowheads="1"/>
            </p:cNvSpPr>
            <p:nvPr/>
          </p:nvSpPr>
          <p:spPr bwMode="auto">
            <a:xfrm>
              <a:off x="1279" y="2544"/>
              <a:ext cx="122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defTabSz="449263">
                <a:spcBef>
                  <a:spcPts val="200"/>
                </a:spcBef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2</a:t>
              </a:r>
            </a:p>
          </p:txBody>
        </p:sp>
        <p:sp>
          <p:nvSpPr>
            <p:cNvPr id="54333" name="Rectangle 50"/>
            <p:cNvSpPr>
              <a:spLocks noChangeArrowheads="1"/>
            </p:cNvSpPr>
            <p:nvPr/>
          </p:nvSpPr>
          <p:spPr bwMode="auto">
            <a:xfrm>
              <a:off x="1156" y="2544"/>
              <a:ext cx="123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defTabSz="449263">
                <a:spcBef>
                  <a:spcPts val="200"/>
                </a:spcBef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1</a:t>
              </a:r>
            </a:p>
          </p:txBody>
        </p:sp>
        <p:sp>
          <p:nvSpPr>
            <p:cNvPr id="54334" name="Rectangle 51"/>
            <p:cNvSpPr>
              <a:spLocks noChangeArrowheads="1"/>
            </p:cNvSpPr>
            <p:nvPr/>
          </p:nvSpPr>
          <p:spPr bwMode="auto">
            <a:xfrm>
              <a:off x="1033" y="2544"/>
              <a:ext cx="123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defTabSz="449263">
                <a:spcBef>
                  <a:spcPts val="200"/>
                </a:spcBef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0</a:t>
              </a:r>
            </a:p>
          </p:txBody>
        </p:sp>
        <p:sp>
          <p:nvSpPr>
            <p:cNvPr id="54335" name="Line 52"/>
            <p:cNvSpPr>
              <a:spLocks noChangeShapeType="1"/>
            </p:cNvSpPr>
            <p:nvPr/>
          </p:nvSpPr>
          <p:spPr bwMode="auto">
            <a:xfrm>
              <a:off x="1033" y="2544"/>
              <a:ext cx="983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36" name="Line 53"/>
            <p:cNvSpPr>
              <a:spLocks noChangeShapeType="1"/>
            </p:cNvSpPr>
            <p:nvPr/>
          </p:nvSpPr>
          <p:spPr bwMode="auto">
            <a:xfrm>
              <a:off x="1033" y="2678"/>
              <a:ext cx="983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37" name="Line 54"/>
            <p:cNvSpPr>
              <a:spLocks noChangeShapeType="1"/>
            </p:cNvSpPr>
            <p:nvPr/>
          </p:nvSpPr>
          <p:spPr bwMode="auto">
            <a:xfrm>
              <a:off x="1033" y="2544"/>
              <a:ext cx="1" cy="134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38" name="Line 55"/>
            <p:cNvSpPr>
              <a:spLocks noChangeShapeType="1"/>
            </p:cNvSpPr>
            <p:nvPr/>
          </p:nvSpPr>
          <p:spPr bwMode="auto">
            <a:xfrm>
              <a:off x="1156" y="2544"/>
              <a:ext cx="1" cy="134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39" name="Line 56"/>
            <p:cNvSpPr>
              <a:spLocks noChangeShapeType="1"/>
            </p:cNvSpPr>
            <p:nvPr/>
          </p:nvSpPr>
          <p:spPr bwMode="auto">
            <a:xfrm>
              <a:off x="1279" y="2544"/>
              <a:ext cx="1" cy="134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40" name="Line 57"/>
            <p:cNvSpPr>
              <a:spLocks noChangeShapeType="1"/>
            </p:cNvSpPr>
            <p:nvPr/>
          </p:nvSpPr>
          <p:spPr bwMode="auto">
            <a:xfrm>
              <a:off x="1401" y="2544"/>
              <a:ext cx="1" cy="134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41" name="Line 58"/>
            <p:cNvSpPr>
              <a:spLocks noChangeShapeType="1"/>
            </p:cNvSpPr>
            <p:nvPr/>
          </p:nvSpPr>
          <p:spPr bwMode="auto">
            <a:xfrm>
              <a:off x="1525" y="2544"/>
              <a:ext cx="1" cy="134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42" name="Line 59"/>
            <p:cNvSpPr>
              <a:spLocks noChangeShapeType="1"/>
            </p:cNvSpPr>
            <p:nvPr/>
          </p:nvSpPr>
          <p:spPr bwMode="auto">
            <a:xfrm>
              <a:off x="1648" y="2544"/>
              <a:ext cx="1" cy="134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43" name="Line 60"/>
            <p:cNvSpPr>
              <a:spLocks noChangeShapeType="1"/>
            </p:cNvSpPr>
            <p:nvPr/>
          </p:nvSpPr>
          <p:spPr bwMode="auto">
            <a:xfrm>
              <a:off x="1771" y="2544"/>
              <a:ext cx="1" cy="134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44" name="Line 61"/>
            <p:cNvSpPr>
              <a:spLocks noChangeShapeType="1"/>
            </p:cNvSpPr>
            <p:nvPr/>
          </p:nvSpPr>
          <p:spPr bwMode="auto">
            <a:xfrm>
              <a:off x="1893" y="2544"/>
              <a:ext cx="1" cy="134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45" name="Line 62"/>
            <p:cNvSpPr>
              <a:spLocks noChangeShapeType="1"/>
            </p:cNvSpPr>
            <p:nvPr/>
          </p:nvSpPr>
          <p:spPr bwMode="auto">
            <a:xfrm>
              <a:off x="2016" y="2544"/>
              <a:ext cx="1" cy="134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4287" name="Group 63"/>
          <p:cNvGrpSpPr>
            <a:grpSpLocks/>
          </p:cNvGrpSpPr>
          <p:nvPr/>
        </p:nvGrpSpPr>
        <p:grpSpPr bwMode="auto">
          <a:xfrm>
            <a:off x="3798888" y="4038600"/>
            <a:ext cx="1558925" cy="211138"/>
            <a:chOff x="2393" y="2544"/>
            <a:chExt cx="982" cy="133"/>
          </a:xfrm>
        </p:grpSpPr>
        <p:sp>
          <p:nvSpPr>
            <p:cNvPr id="54308" name="Rectangle 64"/>
            <p:cNvSpPr>
              <a:spLocks noChangeArrowheads="1"/>
            </p:cNvSpPr>
            <p:nvPr/>
          </p:nvSpPr>
          <p:spPr bwMode="auto">
            <a:xfrm>
              <a:off x="3253" y="2544"/>
              <a:ext cx="123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defTabSz="449263">
                <a:spcBef>
                  <a:spcPts val="200"/>
                </a:spcBef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7</a:t>
              </a:r>
            </a:p>
          </p:txBody>
        </p:sp>
        <p:sp>
          <p:nvSpPr>
            <p:cNvPr id="54309" name="Rectangle 65"/>
            <p:cNvSpPr>
              <a:spLocks noChangeArrowheads="1"/>
            </p:cNvSpPr>
            <p:nvPr/>
          </p:nvSpPr>
          <p:spPr bwMode="auto">
            <a:xfrm>
              <a:off x="3131" y="2544"/>
              <a:ext cx="122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defTabSz="449263">
                <a:spcBef>
                  <a:spcPts val="200"/>
                </a:spcBef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6</a:t>
              </a:r>
            </a:p>
          </p:txBody>
        </p:sp>
        <p:sp>
          <p:nvSpPr>
            <p:cNvPr id="54310" name="Rectangle 66"/>
            <p:cNvSpPr>
              <a:spLocks noChangeArrowheads="1"/>
            </p:cNvSpPr>
            <p:nvPr/>
          </p:nvSpPr>
          <p:spPr bwMode="auto">
            <a:xfrm>
              <a:off x="3008" y="2544"/>
              <a:ext cx="123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defTabSz="449263">
                <a:spcBef>
                  <a:spcPts val="200"/>
                </a:spcBef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5</a:t>
              </a:r>
            </a:p>
          </p:txBody>
        </p:sp>
        <p:sp>
          <p:nvSpPr>
            <p:cNvPr id="54311" name="Rectangle 67"/>
            <p:cNvSpPr>
              <a:spLocks noChangeArrowheads="1"/>
            </p:cNvSpPr>
            <p:nvPr/>
          </p:nvSpPr>
          <p:spPr bwMode="auto">
            <a:xfrm>
              <a:off x="2885" y="2544"/>
              <a:ext cx="123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defTabSz="449263">
                <a:spcBef>
                  <a:spcPts val="200"/>
                </a:spcBef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4</a:t>
              </a:r>
            </a:p>
          </p:txBody>
        </p:sp>
        <p:sp>
          <p:nvSpPr>
            <p:cNvPr id="54312" name="Rectangle 68"/>
            <p:cNvSpPr>
              <a:spLocks noChangeArrowheads="1"/>
            </p:cNvSpPr>
            <p:nvPr/>
          </p:nvSpPr>
          <p:spPr bwMode="auto">
            <a:xfrm>
              <a:off x="2761" y="2544"/>
              <a:ext cx="124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defTabSz="449263">
                <a:spcBef>
                  <a:spcPts val="200"/>
                </a:spcBef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3</a:t>
              </a:r>
            </a:p>
          </p:txBody>
        </p:sp>
        <p:sp>
          <p:nvSpPr>
            <p:cNvPr id="54313" name="Rectangle 69"/>
            <p:cNvSpPr>
              <a:spLocks noChangeArrowheads="1"/>
            </p:cNvSpPr>
            <p:nvPr/>
          </p:nvSpPr>
          <p:spPr bwMode="auto">
            <a:xfrm>
              <a:off x="2639" y="2544"/>
              <a:ext cx="122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defTabSz="449263">
                <a:spcBef>
                  <a:spcPts val="200"/>
                </a:spcBef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2</a:t>
              </a:r>
            </a:p>
          </p:txBody>
        </p:sp>
        <p:sp>
          <p:nvSpPr>
            <p:cNvPr id="54314" name="Rectangle 70"/>
            <p:cNvSpPr>
              <a:spLocks noChangeArrowheads="1"/>
            </p:cNvSpPr>
            <p:nvPr/>
          </p:nvSpPr>
          <p:spPr bwMode="auto">
            <a:xfrm>
              <a:off x="2516" y="2544"/>
              <a:ext cx="123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defTabSz="449263">
                <a:spcBef>
                  <a:spcPts val="200"/>
                </a:spcBef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1</a:t>
              </a:r>
            </a:p>
          </p:txBody>
        </p:sp>
        <p:sp>
          <p:nvSpPr>
            <p:cNvPr id="54315" name="Rectangle 71"/>
            <p:cNvSpPr>
              <a:spLocks noChangeArrowheads="1"/>
            </p:cNvSpPr>
            <p:nvPr/>
          </p:nvSpPr>
          <p:spPr bwMode="auto">
            <a:xfrm>
              <a:off x="2393" y="2544"/>
              <a:ext cx="123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defTabSz="449263">
                <a:spcBef>
                  <a:spcPts val="200"/>
                </a:spcBef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0</a:t>
              </a:r>
            </a:p>
          </p:txBody>
        </p:sp>
        <p:sp>
          <p:nvSpPr>
            <p:cNvPr id="54316" name="Line 72"/>
            <p:cNvSpPr>
              <a:spLocks noChangeShapeType="1"/>
            </p:cNvSpPr>
            <p:nvPr/>
          </p:nvSpPr>
          <p:spPr bwMode="auto">
            <a:xfrm>
              <a:off x="2393" y="2544"/>
              <a:ext cx="983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17" name="Line 73"/>
            <p:cNvSpPr>
              <a:spLocks noChangeShapeType="1"/>
            </p:cNvSpPr>
            <p:nvPr/>
          </p:nvSpPr>
          <p:spPr bwMode="auto">
            <a:xfrm>
              <a:off x="2393" y="2678"/>
              <a:ext cx="983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18" name="Line 74"/>
            <p:cNvSpPr>
              <a:spLocks noChangeShapeType="1"/>
            </p:cNvSpPr>
            <p:nvPr/>
          </p:nvSpPr>
          <p:spPr bwMode="auto">
            <a:xfrm>
              <a:off x="2393" y="2544"/>
              <a:ext cx="1" cy="134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19" name="Line 75"/>
            <p:cNvSpPr>
              <a:spLocks noChangeShapeType="1"/>
            </p:cNvSpPr>
            <p:nvPr/>
          </p:nvSpPr>
          <p:spPr bwMode="auto">
            <a:xfrm>
              <a:off x="2516" y="2544"/>
              <a:ext cx="1" cy="134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20" name="Line 76"/>
            <p:cNvSpPr>
              <a:spLocks noChangeShapeType="1"/>
            </p:cNvSpPr>
            <p:nvPr/>
          </p:nvSpPr>
          <p:spPr bwMode="auto">
            <a:xfrm>
              <a:off x="2639" y="2544"/>
              <a:ext cx="1" cy="134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21" name="Line 77"/>
            <p:cNvSpPr>
              <a:spLocks noChangeShapeType="1"/>
            </p:cNvSpPr>
            <p:nvPr/>
          </p:nvSpPr>
          <p:spPr bwMode="auto">
            <a:xfrm>
              <a:off x="2761" y="2544"/>
              <a:ext cx="1" cy="134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22" name="Line 78"/>
            <p:cNvSpPr>
              <a:spLocks noChangeShapeType="1"/>
            </p:cNvSpPr>
            <p:nvPr/>
          </p:nvSpPr>
          <p:spPr bwMode="auto">
            <a:xfrm>
              <a:off x="2885" y="2544"/>
              <a:ext cx="1" cy="134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23" name="Line 79"/>
            <p:cNvSpPr>
              <a:spLocks noChangeShapeType="1"/>
            </p:cNvSpPr>
            <p:nvPr/>
          </p:nvSpPr>
          <p:spPr bwMode="auto">
            <a:xfrm>
              <a:off x="3008" y="2544"/>
              <a:ext cx="1" cy="134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24" name="Line 80"/>
            <p:cNvSpPr>
              <a:spLocks noChangeShapeType="1"/>
            </p:cNvSpPr>
            <p:nvPr/>
          </p:nvSpPr>
          <p:spPr bwMode="auto">
            <a:xfrm>
              <a:off x="3131" y="2544"/>
              <a:ext cx="1" cy="134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25" name="Line 81"/>
            <p:cNvSpPr>
              <a:spLocks noChangeShapeType="1"/>
            </p:cNvSpPr>
            <p:nvPr/>
          </p:nvSpPr>
          <p:spPr bwMode="auto">
            <a:xfrm>
              <a:off x="3253" y="2544"/>
              <a:ext cx="1" cy="134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26" name="Line 82"/>
            <p:cNvSpPr>
              <a:spLocks noChangeShapeType="1"/>
            </p:cNvSpPr>
            <p:nvPr/>
          </p:nvSpPr>
          <p:spPr bwMode="auto">
            <a:xfrm>
              <a:off x="3376" y="2544"/>
              <a:ext cx="1" cy="134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4288" name="Group 83"/>
          <p:cNvGrpSpPr>
            <a:grpSpLocks/>
          </p:cNvGrpSpPr>
          <p:nvPr/>
        </p:nvGrpSpPr>
        <p:grpSpPr bwMode="auto">
          <a:xfrm>
            <a:off x="6534150" y="4040188"/>
            <a:ext cx="1558925" cy="211137"/>
            <a:chOff x="4116" y="2545"/>
            <a:chExt cx="982" cy="133"/>
          </a:xfrm>
        </p:grpSpPr>
        <p:sp>
          <p:nvSpPr>
            <p:cNvPr id="54289" name="Rectangle 84"/>
            <p:cNvSpPr>
              <a:spLocks noChangeArrowheads="1"/>
            </p:cNvSpPr>
            <p:nvPr/>
          </p:nvSpPr>
          <p:spPr bwMode="auto">
            <a:xfrm>
              <a:off x="4976" y="2545"/>
              <a:ext cx="123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defTabSz="449263">
                <a:spcBef>
                  <a:spcPts val="200"/>
                </a:spcBef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7</a:t>
              </a:r>
            </a:p>
          </p:txBody>
        </p:sp>
        <p:sp>
          <p:nvSpPr>
            <p:cNvPr id="54290" name="Rectangle 85"/>
            <p:cNvSpPr>
              <a:spLocks noChangeArrowheads="1"/>
            </p:cNvSpPr>
            <p:nvPr/>
          </p:nvSpPr>
          <p:spPr bwMode="auto">
            <a:xfrm>
              <a:off x="4854" y="2545"/>
              <a:ext cx="122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defTabSz="449263">
                <a:spcBef>
                  <a:spcPts val="200"/>
                </a:spcBef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6</a:t>
              </a:r>
            </a:p>
          </p:txBody>
        </p:sp>
        <p:sp>
          <p:nvSpPr>
            <p:cNvPr id="54291" name="Rectangle 86"/>
            <p:cNvSpPr>
              <a:spLocks noChangeArrowheads="1"/>
            </p:cNvSpPr>
            <p:nvPr/>
          </p:nvSpPr>
          <p:spPr bwMode="auto">
            <a:xfrm>
              <a:off x="4731" y="2545"/>
              <a:ext cx="123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defTabSz="449263">
                <a:spcBef>
                  <a:spcPts val="200"/>
                </a:spcBef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5</a:t>
              </a:r>
            </a:p>
          </p:txBody>
        </p:sp>
        <p:sp>
          <p:nvSpPr>
            <p:cNvPr id="54292" name="Rectangle 87"/>
            <p:cNvSpPr>
              <a:spLocks noChangeArrowheads="1"/>
            </p:cNvSpPr>
            <p:nvPr/>
          </p:nvSpPr>
          <p:spPr bwMode="auto">
            <a:xfrm>
              <a:off x="4608" y="2545"/>
              <a:ext cx="123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defTabSz="449263">
                <a:spcBef>
                  <a:spcPts val="200"/>
                </a:spcBef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4</a:t>
              </a:r>
            </a:p>
          </p:txBody>
        </p:sp>
        <p:sp>
          <p:nvSpPr>
            <p:cNvPr id="54293" name="Rectangle 88"/>
            <p:cNvSpPr>
              <a:spLocks noChangeArrowheads="1"/>
            </p:cNvSpPr>
            <p:nvPr/>
          </p:nvSpPr>
          <p:spPr bwMode="auto">
            <a:xfrm>
              <a:off x="4484" y="2545"/>
              <a:ext cx="124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defTabSz="449263">
                <a:spcBef>
                  <a:spcPts val="200"/>
                </a:spcBef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3</a:t>
              </a:r>
            </a:p>
          </p:txBody>
        </p:sp>
        <p:sp>
          <p:nvSpPr>
            <p:cNvPr id="54294" name="Rectangle 89"/>
            <p:cNvSpPr>
              <a:spLocks noChangeArrowheads="1"/>
            </p:cNvSpPr>
            <p:nvPr/>
          </p:nvSpPr>
          <p:spPr bwMode="auto">
            <a:xfrm>
              <a:off x="4362" y="2545"/>
              <a:ext cx="122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defTabSz="449263">
                <a:spcBef>
                  <a:spcPts val="200"/>
                </a:spcBef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2</a:t>
              </a:r>
            </a:p>
          </p:txBody>
        </p:sp>
        <p:sp>
          <p:nvSpPr>
            <p:cNvPr id="54295" name="Rectangle 90"/>
            <p:cNvSpPr>
              <a:spLocks noChangeArrowheads="1"/>
            </p:cNvSpPr>
            <p:nvPr/>
          </p:nvSpPr>
          <p:spPr bwMode="auto">
            <a:xfrm>
              <a:off x="4239" y="2545"/>
              <a:ext cx="123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defTabSz="449263">
                <a:spcBef>
                  <a:spcPts val="200"/>
                </a:spcBef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1</a:t>
              </a:r>
            </a:p>
          </p:txBody>
        </p:sp>
        <p:sp>
          <p:nvSpPr>
            <p:cNvPr id="54296" name="Rectangle 91"/>
            <p:cNvSpPr>
              <a:spLocks noChangeArrowheads="1"/>
            </p:cNvSpPr>
            <p:nvPr/>
          </p:nvSpPr>
          <p:spPr bwMode="auto">
            <a:xfrm>
              <a:off x="4116" y="2545"/>
              <a:ext cx="123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defTabSz="449263">
                <a:spcBef>
                  <a:spcPts val="200"/>
                </a:spcBef>
                <a:buClr>
                  <a:srgbClr val="000000"/>
                </a:buClr>
                <a:buSzPct val="100000"/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US" sz="800">
                  <a:solidFill>
                    <a:srgbClr val="000000"/>
                  </a:solidFill>
                  <a:latin typeface="Arial" charset="0"/>
                </a:rPr>
                <a:t>0</a:t>
              </a:r>
            </a:p>
          </p:txBody>
        </p:sp>
        <p:sp>
          <p:nvSpPr>
            <p:cNvPr id="54297" name="Line 92"/>
            <p:cNvSpPr>
              <a:spLocks noChangeShapeType="1"/>
            </p:cNvSpPr>
            <p:nvPr/>
          </p:nvSpPr>
          <p:spPr bwMode="auto">
            <a:xfrm>
              <a:off x="4116" y="2545"/>
              <a:ext cx="983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98" name="Line 93"/>
            <p:cNvSpPr>
              <a:spLocks noChangeShapeType="1"/>
            </p:cNvSpPr>
            <p:nvPr/>
          </p:nvSpPr>
          <p:spPr bwMode="auto">
            <a:xfrm>
              <a:off x="4116" y="2679"/>
              <a:ext cx="983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99" name="Line 94"/>
            <p:cNvSpPr>
              <a:spLocks noChangeShapeType="1"/>
            </p:cNvSpPr>
            <p:nvPr/>
          </p:nvSpPr>
          <p:spPr bwMode="auto">
            <a:xfrm>
              <a:off x="4116" y="2545"/>
              <a:ext cx="1" cy="134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00" name="Line 95"/>
            <p:cNvSpPr>
              <a:spLocks noChangeShapeType="1"/>
            </p:cNvSpPr>
            <p:nvPr/>
          </p:nvSpPr>
          <p:spPr bwMode="auto">
            <a:xfrm>
              <a:off x="4239" y="2545"/>
              <a:ext cx="1" cy="134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01" name="Line 96"/>
            <p:cNvSpPr>
              <a:spLocks noChangeShapeType="1"/>
            </p:cNvSpPr>
            <p:nvPr/>
          </p:nvSpPr>
          <p:spPr bwMode="auto">
            <a:xfrm>
              <a:off x="4362" y="2545"/>
              <a:ext cx="1" cy="134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02" name="Line 97"/>
            <p:cNvSpPr>
              <a:spLocks noChangeShapeType="1"/>
            </p:cNvSpPr>
            <p:nvPr/>
          </p:nvSpPr>
          <p:spPr bwMode="auto">
            <a:xfrm>
              <a:off x="4484" y="2545"/>
              <a:ext cx="1" cy="134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03" name="Line 98"/>
            <p:cNvSpPr>
              <a:spLocks noChangeShapeType="1"/>
            </p:cNvSpPr>
            <p:nvPr/>
          </p:nvSpPr>
          <p:spPr bwMode="auto">
            <a:xfrm>
              <a:off x="4608" y="2545"/>
              <a:ext cx="1" cy="134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04" name="Line 99"/>
            <p:cNvSpPr>
              <a:spLocks noChangeShapeType="1"/>
            </p:cNvSpPr>
            <p:nvPr/>
          </p:nvSpPr>
          <p:spPr bwMode="auto">
            <a:xfrm>
              <a:off x="4731" y="2545"/>
              <a:ext cx="1" cy="134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05" name="Line 100"/>
            <p:cNvSpPr>
              <a:spLocks noChangeShapeType="1"/>
            </p:cNvSpPr>
            <p:nvPr/>
          </p:nvSpPr>
          <p:spPr bwMode="auto">
            <a:xfrm>
              <a:off x="4854" y="2545"/>
              <a:ext cx="1" cy="134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06" name="Line 101"/>
            <p:cNvSpPr>
              <a:spLocks noChangeShapeType="1"/>
            </p:cNvSpPr>
            <p:nvPr/>
          </p:nvSpPr>
          <p:spPr bwMode="auto">
            <a:xfrm>
              <a:off x="4976" y="2545"/>
              <a:ext cx="1" cy="134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07" name="Line 102"/>
            <p:cNvSpPr>
              <a:spLocks noChangeShapeType="1"/>
            </p:cNvSpPr>
            <p:nvPr/>
          </p:nvSpPr>
          <p:spPr bwMode="auto">
            <a:xfrm>
              <a:off x="5099" y="2545"/>
              <a:ext cx="1" cy="134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8010AF-1BD6-C14A-BC85-21D3301DC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1938A-F885-4B46-8A40-FFBC51268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21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41453093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Exemplu</a:t>
            </a:r>
            <a:r>
              <a:rPr lang="en-US" dirty="0"/>
              <a:t>: </a:t>
            </a:r>
            <a:r>
              <a:rPr lang="en-US" dirty="0" err="1"/>
              <a:t>Adunare</a:t>
            </a:r>
            <a:r>
              <a:rPr lang="en-US" dirty="0"/>
              <a:t> </a:t>
            </a:r>
            <a:r>
              <a:rPr lang="en-US" dirty="0" err="1"/>
              <a:t>vectori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2420888"/>
            <a:ext cx="8229600" cy="2980928"/>
          </a:xfrm>
          <a:solidFill>
            <a:schemeClr val="accent1">
              <a:lumMod val="90000"/>
              <a:alpha val="24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3366FF"/>
                </a:solidFill>
              </a:rPr>
              <a:t>__global__ void </a:t>
            </a:r>
            <a:r>
              <a:rPr lang="en-US" b="1" dirty="0" err="1">
                <a:solidFill>
                  <a:srgbClr val="3366FF"/>
                </a:solidFill>
              </a:rPr>
              <a:t>vectorAdd</a:t>
            </a:r>
            <a:r>
              <a:rPr lang="en-US" b="1" dirty="0">
                <a:solidFill>
                  <a:srgbClr val="3366FF"/>
                </a:solidFill>
              </a:rPr>
              <a:t>(double *a, double *b, double *c, </a:t>
            </a:r>
            <a:r>
              <a:rPr lang="en-US" b="1" dirty="0" err="1">
                <a:solidFill>
                  <a:srgbClr val="3366FF"/>
                </a:solidFill>
              </a:rPr>
              <a:t>int</a:t>
            </a:r>
            <a:r>
              <a:rPr lang="en-US" b="1" dirty="0">
                <a:solidFill>
                  <a:srgbClr val="3366FF"/>
                </a:solidFill>
              </a:rPr>
              <a:t> n)</a:t>
            </a:r>
          </a:p>
          <a:p>
            <a:pPr marL="0" indent="0">
              <a:buNone/>
            </a:pPr>
            <a:r>
              <a:rPr lang="en-US" dirty="0">
                <a:solidFill>
                  <a:srgbClr val="3366FF"/>
                </a:solidFill>
              </a:rPr>
              <a:t>{</a:t>
            </a:r>
          </a:p>
          <a:p>
            <a:pPr marL="0" indent="0">
              <a:buNone/>
            </a:pPr>
            <a:r>
              <a:rPr lang="en-US" dirty="0">
                <a:solidFill>
                  <a:srgbClr val="3366FF"/>
                </a:solidFill>
              </a:rPr>
              <a:t>   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// Get our global thread ID</a:t>
            </a:r>
          </a:p>
          <a:p>
            <a:pPr marL="0" indent="0">
              <a:buNone/>
            </a:pPr>
            <a:r>
              <a:rPr lang="en-US" dirty="0">
                <a:solidFill>
                  <a:srgbClr val="3366FF"/>
                </a:solidFill>
              </a:rPr>
              <a:t>    </a:t>
            </a:r>
            <a:r>
              <a:rPr lang="en-US" b="1" dirty="0">
                <a:solidFill>
                  <a:srgbClr val="3366FF"/>
                </a:solidFill>
              </a:rPr>
              <a:t>int id = </a:t>
            </a:r>
            <a:r>
              <a:rPr lang="en-US" b="1" dirty="0" err="1">
                <a:solidFill>
                  <a:srgbClr val="3366FF"/>
                </a:solidFill>
              </a:rPr>
              <a:t>blockIdx.x</a:t>
            </a:r>
            <a:r>
              <a:rPr lang="en-US" b="1" dirty="0">
                <a:solidFill>
                  <a:srgbClr val="3366FF"/>
                </a:solidFill>
              </a:rPr>
              <a:t>  *   </a:t>
            </a:r>
            <a:r>
              <a:rPr lang="en-US" b="1" dirty="0" err="1">
                <a:solidFill>
                  <a:srgbClr val="3366FF"/>
                </a:solidFill>
              </a:rPr>
              <a:t>blockDim.x</a:t>
            </a:r>
            <a:r>
              <a:rPr lang="en-US" b="1" dirty="0">
                <a:solidFill>
                  <a:srgbClr val="3366FF"/>
                </a:solidFill>
              </a:rPr>
              <a:t>   +   </a:t>
            </a:r>
            <a:r>
              <a:rPr lang="en-US" b="1" dirty="0" err="1">
                <a:solidFill>
                  <a:srgbClr val="3366FF"/>
                </a:solidFill>
              </a:rPr>
              <a:t>threadIdx.x</a:t>
            </a:r>
            <a:r>
              <a:rPr lang="en-US" b="1" dirty="0">
                <a:solidFill>
                  <a:srgbClr val="3366FF"/>
                </a:solidFill>
              </a:rPr>
              <a:t>;</a:t>
            </a:r>
          </a:p>
          <a:p>
            <a:pPr marL="0" indent="0">
              <a:buNone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// Make sure not to go out of bounds</a:t>
            </a:r>
          </a:p>
          <a:p>
            <a:pPr marL="0" indent="0">
              <a:buNone/>
            </a:pPr>
            <a:r>
              <a:rPr lang="mr-IN" dirty="0">
                <a:solidFill>
                  <a:srgbClr val="3366FF"/>
                </a:solidFill>
              </a:rPr>
              <a:t>    </a:t>
            </a:r>
            <a:r>
              <a:rPr lang="mr-IN" b="1" dirty="0">
                <a:solidFill>
                  <a:srgbClr val="3366FF"/>
                </a:solidFill>
              </a:rPr>
              <a:t>if (id &lt; n)</a:t>
            </a:r>
          </a:p>
          <a:p>
            <a:pPr marL="0" indent="0">
              <a:buNone/>
            </a:pPr>
            <a:r>
              <a:rPr lang="mr-IN" dirty="0">
                <a:solidFill>
                  <a:srgbClr val="3366FF"/>
                </a:solidFill>
              </a:rPr>
              <a:t>        c[id] = a[id] + b[id];</a:t>
            </a:r>
          </a:p>
          <a:p>
            <a:pPr marL="0" indent="0">
              <a:buNone/>
            </a:pPr>
            <a:r>
              <a:rPr lang="en-US" dirty="0">
                <a:solidFill>
                  <a:srgbClr val="3366FF"/>
                </a:solidFill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7544" y="1916832"/>
            <a:ext cx="4248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Parallel code: kernel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E8E3D0-2DD6-8445-894F-5F6B904C7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D35F203-6BAF-1741-A217-D4282DC4A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22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3204013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31740" y="241484"/>
            <a:ext cx="4248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Cod: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3528" y="764704"/>
            <a:ext cx="8064896" cy="5755422"/>
          </a:xfrm>
          <a:prstGeom prst="rect">
            <a:avLst/>
          </a:prstGeom>
          <a:solidFill>
            <a:schemeClr val="accent1">
              <a:alpha val="41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rgbClr val="0000FF"/>
                </a:solidFill>
              </a:rPr>
              <a:t>int</a:t>
            </a:r>
            <a:r>
              <a:rPr lang="en-US" sz="1600" b="1" dirty="0">
                <a:solidFill>
                  <a:srgbClr val="0000FF"/>
                </a:solidFill>
              </a:rPr>
              <a:t> main( </a:t>
            </a:r>
            <a:r>
              <a:rPr lang="en-US" sz="1600" b="1" dirty="0" err="1">
                <a:solidFill>
                  <a:srgbClr val="0000FF"/>
                </a:solidFill>
              </a:rPr>
              <a:t>int</a:t>
            </a:r>
            <a:r>
              <a:rPr lang="en-US" sz="1600" b="1" dirty="0">
                <a:solidFill>
                  <a:srgbClr val="0000FF"/>
                </a:solidFill>
              </a:rPr>
              <a:t> </a:t>
            </a:r>
            <a:r>
              <a:rPr lang="en-US" sz="1600" b="1" dirty="0" err="1">
                <a:solidFill>
                  <a:srgbClr val="0000FF"/>
                </a:solidFill>
              </a:rPr>
              <a:t>argc</a:t>
            </a:r>
            <a:r>
              <a:rPr lang="en-US" sz="1600" b="1" dirty="0">
                <a:solidFill>
                  <a:srgbClr val="0000FF"/>
                </a:solidFill>
              </a:rPr>
              <a:t>, char* </a:t>
            </a:r>
            <a:r>
              <a:rPr lang="en-US" sz="1600" b="1" dirty="0" err="1">
                <a:solidFill>
                  <a:srgbClr val="0000FF"/>
                </a:solidFill>
              </a:rPr>
              <a:t>argv</a:t>
            </a:r>
            <a:r>
              <a:rPr lang="en-US" sz="1600" b="1" dirty="0">
                <a:solidFill>
                  <a:srgbClr val="0000FF"/>
                </a:solidFill>
              </a:rPr>
              <a:t>[] )</a:t>
            </a:r>
          </a:p>
          <a:p>
            <a:r>
              <a:rPr lang="en-US" sz="1600" dirty="0">
                <a:solidFill>
                  <a:srgbClr val="0000FF"/>
                </a:solidFill>
              </a:rPr>
              <a:t>{   </a:t>
            </a:r>
          </a:p>
          <a:p>
            <a:r>
              <a:rPr lang="en-US" sz="1600" dirty="0">
                <a:solidFill>
                  <a:srgbClr val="0000FF"/>
                </a:solidFill>
              </a:rPr>
              <a:t> /</a:t>
            </a:r>
            <a:r>
              <a:rPr lang="en-US" sz="1600" dirty="0">
                <a:solidFill>
                  <a:srgbClr val="000000"/>
                </a:solidFill>
              </a:rPr>
              <a:t>/ Size of vectors</a:t>
            </a:r>
          </a:p>
          <a:p>
            <a:r>
              <a:rPr lang="mr-IN" sz="1600" dirty="0">
                <a:solidFill>
                  <a:srgbClr val="0000FF"/>
                </a:solidFill>
              </a:rPr>
              <a:t>    </a:t>
            </a:r>
            <a:r>
              <a:rPr lang="mr-IN" sz="1600" b="1" dirty="0">
                <a:solidFill>
                  <a:srgbClr val="0000FF"/>
                </a:solidFill>
              </a:rPr>
              <a:t>int n = 1&lt;&lt;20;</a:t>
            </a:r>
            <a:endParaRPr lang="en-US" sz="1600" b="1" dirty="0">
              <a:solidFill>
                <a:srgbClr val="0000FF"/>
              </a:solidFill>
            </a:endParaRPr>
          </a:p>
          <a:p>
            <a:r>
              <a:rPr lang="en-US" sz="1600" b="1" dirty="0">
                <a:solidFill>
                  <a:srgbClr val="0000FF"/>
                </a:solidFill>
              </a:rPr>
              <a:t>    </a:t>
            </a:r>
            <a:r>
              <a:rPr lang="en-US" sz="1600" b="1" dirty="0" err="1">
                <a:solidFill>
                  <a:srgbClr val="0000FF"/>
                </a:solidFill>
              </a:rPr>
              <a:t>size_t</a:t>
            </a:r>
            <a:r>
              <a:rPr lang="en-US" sz="1600" b="1" dirty="0">
                <a:solidFill>
                  <a:srgbClr val="0000FF"/>
                </a:solidFill>
              </a:rPr>
              <a:t> </a:t>
            </a:r>
            <a:r>
              <a:rPr lang="mr-IN" sz="1600" b="1" dirty="0">
                <a:solidFill>
                  <a:srgbClr val="0000FF"/>
                </a:solidFill>
              </a:rPr>
              <a:t>no_bytes</a:t>
            </a:r>
            <a:r>
              <a:rPr lang="en-US" sz="1600" b="1" dirty="0">
                <a:solidFill>
                  <a:srgbClr val="0000FF"/>
                </a:solidFill>
              </a:rPr>
              <a:t>= n*</a:t>
            </a:r>
            <a:r>
              <a:rPr lang="en-US" sz="1600" b="1" dirty="0" err="1">
                <a:solidFill>
                  <a:srgbClr val="0000FF"/>
                </a:solidFill>
              </a:rPr>
              <a:t>sizeof</a:t>
            </a:r>
            <a:r>
              <a:rPr lang="en-US" sz="1600" b="1" dirty="0">
                <a:solidFill>
                  <a:srgbClr val="0000FF"/>
                </a:solidFill>
              </a:rPr>
              <a:t>(double);</a:t>
            </a:r>
            <a:endParaRPr lang="en-US" sz="1600" dirty="0">
              <a:solidFill>
                <a:srgbClr val="0000FF"/>
              </a:solidFill>
            </a:endParaRPr>
          </a:p>
          <a:p>
            <a:r>
              <a:rPr lang="mr-IN" sz="1600" dirty="0">
                <a:solidFill>
                  <a:srgbClr val="000000"/>
                </a:solidFill>
              </a:rPr>
              <a:t>    // Host input vectors</a:t>
            </a:r>
          </a:p>
          <a:p>
            <a:r>
              <a:rPr lang="mr-IN" sz="1600" dirty="0">
                <a:solidFill>
                  <a:srgbClr val="0000FF"/>
                </a:solidFill>
              </a:rPr>
              <a:t>    </a:t>
            </a:r>
            <a:r>
              <a:rPr lang="mr-IN" sz="1600" b="1" dirty="0">
                <a:solidFill>
                  <a:srgbClr val="0000FF"/>
                </a:solidFill>
              </a:rPr>
              <a:t>double *h_a;</a:t>
            </a:r>
            <a:r>
              <a:rPr lang="mr-IN" sz="1600" dirty="0">
                <a:solidFill>
                  <a:srgbClr val="0000FF"/>
                </a:solidFill>
              </a:rPr>
              <a:t>    </a:t>
            </a:r>
            <a:r>
              <a:rPr lang="mr-IN" sz="1600" b="1" dirty="0">
                <a:solidFill>
                  <a:srgbClr val="0000FF"/>
                </a:solidFill>
              </a:rPr>
              <a:t>double *</a:t>
            </a:r>
            <a:r>
              <a:rPr lang="mr-IN" sz="1600" b="1" dirty="0" err="1">
                <a:solidFill>
                  <a:srgbClr val="0000FF"/>
                </a:solidFill>
              </a:rPr>
              <a:t>h_b</a:t>
            </a:r>
            <a:r>
              <a:rPr lang="mr-IN" sz="1600" b="1" dirty="0">
                <a:solidFill>
                  <a:srgbClr val="0000FF"/>
                </a:solidFill>
              </a:rPr>
              <a:t>;</a:t>
            </a:r>
            <a:endParaRPr lang="en-US" sz="1600" b="1" dirty="0">
              <a:solidFill>
                <a:srgbClr val="0000FF"/>
              </a:solidFill>
            </a:endParaRPr>
          </a:p>
          <a:p>
            <a:r>
              <a:rPr lang="en-US" sz="1600" dirty="0">
                <a:solidFill>
                  <a:srgbClr val="000000"/>
                </a:solidFill>
              </a:rPr>
              <a:t>    //Host output vector</a:t>
            </a:r>
          </a:p>
          <a:p>
            <a:r>
              <a:rPr lang="mr-IN" sz="1600" dirty="0">
                <a:solidFill>
                  <a:srgbClr val="0000FF"/>
                </a:solidFill>
              </a:rPr>
              <a:t>    </a:t>
            </a:r>
            <a:r>
              <a:rPr lang="mr-IN" sz="1600" b="1" dirty="0">
                <a:solidFill>
                  <a:srgbClr val="0000FF"/>
                </a:solidFill>
              </a:rPr>
              <a:t>double *h_c;</a:t>
            </a:r>
            <a:endParaRPr lang="en-US" sz="1600" b="1" dirty="0">
              <a:solidFill>
                <a:srgbClr val="0000FF"/>
              </a:solidFill>
            </a:endParaRPr>
          </a:p>
          <a:p>
            <a:r>
              <a:rPr lang="en-US" sz="1600" b="1" dirty="0">
                <a:solidFill>
                  <a:srgbClr val="0000FF"/>
                </a:solidFill>
              </a:rPr>
              <a:t>//  </a:t>
            </a:r>
            <a:r>
              <a:rPr lang="en-US" sz="1600" b="1" dirty="0" err="1"/>
              <a:t>h_a</a:t>
            </a:r>
            <a:r>
              <a:rPr lang="en-US" sz="1600" b="1" dirty="0"/>
              <a:t> and </a:t>
            </a:r>
            <a:r>
              <a:rPr lang="en-US" sz="1600" b="1" dirty="0" err="1"/>
              <a:t>h_b</a:t>
            </a:r>
            <a:r>
              <a:rPr lang="en-US" sz="1600" b="1" dirty="0"/>
              <a:t>...[...] … allocation and </a:t>
            </a:r>
            <a:r>
              <a:rPr lang="en-US" sz="1600" b="1" dirty="0" err="1"/>
              <a:t>init</a:t>
            </a:r>
            <a:endParaRPr lang="en-US" sz="1600" dirty="0"/>
          </a:p>
          <a:p>
            <a:r>
              <a:rPr lang="mr-IN" sz="1600" dirty="0">
                <a:solidFill>
                  <a:srgbClr val="000000"/>
                </a:solidFill>
              </a:rPr>
              <a:t>    // Device input vectors</a:t>
            </a:r>
          </a:p>
          <a:p>
            <a:r>
              <a:rPr lang="mr-IN" sz="1600" dirty="0">
                <a:solidFill>
                  <a:srgbClr val="0000FF"/>
                </a:solidFill>
              </a:rPr>
              <a:t>    </a:t>
            </a:r>
            <a:r>
              <a:rPr lang="mr-IN" sz="1600" b="1" dirty="0">
                <a:solidFill>
                  <a:srgbClr val="0000FF"/>
                </a:solidFill>
              </a:rPr>
              <a:t>double *d_a;</a:t>
            </a:r>
            <a:r>
              <a:rPr lang="mr-IN" sz="1600" dirty="0">
                <a:solidFill>
                  <a:srgbClr val="0000FF"/>
                </a:solidFill>
              </a:rPr>
              <a:t>    </a:t>
            </a:r>
            <a:r>
              <a:rPr lang="mr-IN" sz="1600" b="1" dirty="0">
                <a:solidFill>
                  <a:srgbClr val="0000FF"/>
                </a:solidFill>
              </a:rPr>
              <a:t>double *d_b;</a:t>
            </a:r>
          </a:p>
          <a:p>
            <a:r>
              <a:rPr lang="mr-IN" sz="1600" dirty="0">
                <a:solidFill>
                  <a:srgbClr val="000000"/>
                </a:solidFill>
              </a:rPr>
              <a:t>    //Device output vector</a:t>
            </a:r>
          </a:p>
          <a:p>
            <a:r>
              <a:rPr lang="mr-IN" sz="1600" dirty="0">
                <a:solidFill>
                  <a:srgbClr val="0000FF"/>
                </a:solidFill>
              </a:rPr>
              <a:t>    </a:t>
            </a:r>
            <a:r>
              <a:rPr lang="mr-IN" sz="1600" b="1" dirty="0">
                <a:solidFill>
                  <a:srgbClr val="0000FF"/>
                </a:solidFill>
              </a:rPr>
              <a:t>double *d_c;</a:t>
            </a:r>
            <a:r>
              <a:rPr lang="mr-IN" sz="1600" dirty="0">
                <a:solidFill>
                  <a:srgbClr val="0000FF"/>
                </a:solidFill>
              </a:rPr>
              <a:t> </a:t>
            </a:r>
            <a:endParaRPr lang="en-US" sz="1600" dirty="0">
              <a:solidFill>
                <a:srgbClr val="0000FF"/>
              </a:solidFill>
            </a:endParaRPr>
          </a:p>
          <a:p>
            <a:r>
              <a:rPr lang="en-US" sz="1600" dirty="0">
                <a:solidFill>
                  <a:srgbClr val="000000"/>
                </a:solidFill>
              </a:rPr>
              <a:t>// Allocate memory for each vector on GPU</a:t>
            </a:r>
          </a:p>
          <a:p>
            <a:r>
              <a:rPr lang="mr-IN" sz="1600" dirty="0">
                <a:solidFill>
                  <a:srgbClr val="0000FF"/>
                </a:solidFill>
              </a:rPr>
              <a:t>    cudaMalloc(&amp;d_a, no_bytes);</a:t>
            </a:r>
          </a:p>
          <a:p>
            <a:r>
              <a:rPr lang="mr-IN" sz="1600" dirty="0">
                <a:solidFill>
                  <a:srgbClr val="0000FF"/>
                </a:solidFill>
              </a:rPr>
              <a:t>    cudaMalloc(&amp;d_b, no_bytes);</a:t>
            </a:r>
          </a:p>
          <a:p>
            <a:r>
              <a:rPr lang="mr-IN" sz="1600" dirty="0">
                <a:solidFill>
                  <a:srgbClr val="0000FF"/>
                </a:solidFill>
              </a:rPr>
              <a:t>    cudaMalloc(&amp;d_c, no_bytes);</a:t>
            </a:r>
            <a:endParaRPr lang="en-US" sz="1600" dirty="0">
              <a:solidFill>
                <a:srgbClr val="0000FF"/>
              </a:solidFill>
            </a:endParaRPr>
          </a:p>
          <a:p>
            <a:endParaRPr lang="en-US" sz="1600" dirty="0">
              <a:solidFill>
                <a:srgbClr val="0000FF"/>
              </a:solidFill>
            </a:endParaRPr>
          </a:p>
          <a:p>
            <a:r>
              <a:rPr lang="en-US" sz="1600" dirty="0"/>
              <a:t>    // Copy host vectors to device</a:t>
            </a:r>
          </a:p>
          <a:p>
            <a:r>
              <a:rPr lang="ro-RO" sz="1600" dirty="0">
                <a:solidFill>
                  <a:srgbClr val="0000FF"/>
                </a:solidFill>
              </a:rPr>
              <a:t>    cudaMemcpy( d_a, h_a, no_bytes, cudaMemcpyHostToDevice);</a:t>
            </a:r>
          </a:p>
          <a:p>
            <a:r>
              <a:rPr lang="ro-RO" sz="1600" dirty="0">
                <a:solidFill>
                  <a:srgbClr val="0000FF"/>
                </a:solidFill>
              </a:rPr>
              <a:t>    cudaMemcpy( d_b, h_b, no_bytes, cudaMemcpyHostToDevice);</a:t>
            </a:r>
            <a:endParaRPr lang="en-US" sz="1600" dirty="0">
              <a:solidFill>
                <a:srgbClr val="0000FF"/>
              </a:solidFill>
            </a:endParaRPr>
          </a:p>
          <a:p>
            <a:r>
              <a:rPr lang="mr-IN" sz="1600" dirty="0">
                <a:solidFill>
                  <a:srgbClr val="0000FF"/>
                </a:solidFill>
              </a:rPr>
              <a:t>  </a:t>
            </a:r>
            <a:endParaRPr lang="en-US" sz="1600" dirty="0">
              <a:solidFill>
                <a:srgbClr val="0000FF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838036-5F22-F848-97E3-B1F4F1AAC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E132E2-3292-CD4C-A32C-090193966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23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9008742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3568" y="404664"/>
            <a:ext cx="7776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Cod: </a:t>
            </a:r>
            <a:r>
              <a:rPr lang="en-US" sz="2800" dirty="0" err="1"/>
              <a:t>apelare</a:t>
            </a:r>
            <a:r>
              <a:rPr lang="en-US" sz="2800" dirty="0"/>
              <a:t> kernel, </a:t>
            </a:r>
            <a:r>
              <a:rPr lang="en-US" sz="2800" dirty="0" err="1"/>
              <a:t>colectare</a:t>
            </a:r>
            <a:r>
              <a:rPr lang="en-US" sz="2800" dirty="0"/>
              <a:t> </a:t>
            </a:r>
            <a:r>
              <a:rPr lang="en-US" sz="2800" dirty="0" err="1"/>
              <a:t>rezultate</a:t>
            </a:r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467544" y="980728"/>
            <a:ext cx="7992888" cy="5539978"/>
          </a:xfrm>
          <a:prstGeom prst="rect">
            <a:avLst/>
          </a:prstGeom>
          <a:solidFill>
            <a:schemeClr val="accent1">
              <a:alpha val="33000"/>
            </a:schemeClr>
          </a:solidFill>
        </p:spPr>
        <p:txBody>
          <a:bodyPr wrap="square" rtlCol="0">
            <a:spAutoFit/>
          </a:bodyPr>
          <a:lstStyle/>
          <a:p>
            <a:r>
              <a:rPr lang="mr-IN" dirty="0"/>
              <a:t> </a:t>
            </a:r>
            <a:r>
              <a:rPr lang="mr-IN" sz="1600" b="1" dirty="0">
                <a:solidFill>
                  <a:srgbClr val="0000FF"/>
                </a:solidFill>
              </a:rPr>
              <a:t>int blockSize, gridSize;</a:t>
            </a:r>
            <a:endParaRPr lang="en-US" sz="1600" dirty="0">
              <a:solidFill>
                <a:srgbClr val="0000FF"/>
              </a:solidFill>
            </a:endParaRPr>
          </a:p>
          <a:p>
            <a:r>
              <a:rPr lang="en-US" sz="1600" dirty="0">
                <a:solidFill>
                  <a:srgbClr val="0000FF"/>
                </a:solidFill>
              </a:rPr>
              <a:t>    </a:t>
            </a:r>
            <a:r>
              <a:rPr lang="en-US" sz="1600" dirty="0">
                <a:solidFill>
                  <a:srgbClr val="000000"/>
                </a:solidFill>
              </a:rPr>
              <a:t>// Number of threads in each thread block</a:t>
            </a:r>
          </a:p>
          <a:p>
            <a:r>
              <a:rPr lang="mr-IN" sz="1600" dirty="0">
                <a:solidFill>
                  <a:srgbClr val="0000FF"/>
                </a:solidFill>
              </a:rPr>
              <a:t>    blockSize = 1024;</a:t>
            </a:r>
            <a:endParaRPr lang="en-US" sz="1600" dirty="0">
              <a:solidFill>
                <a:srgbClr val="0000FF"/>
              </a:solidFill>
            </a:endParaRPr>
          </a:p>
          <a:p>
            <a:r>
              <a:rPr lang="en-US" sz="1600" dirty="0">
                <a:solidFill>
                  <a:srgbClr val="0000FF"/>
                </a:solidFill>
              </a:rPr>
              <a:t>  </a:t>
            </a:r>
            <a:r>
              <a:rPr lang="en-US" sz="1600" dirty="0">
                <a:solidFill>
                  <a:srgbClr val="000000"/>
                </a:solidFill>
              </a:rPr>
              <a:t>  // Number of thread blocks in grid</a:t>
            </a:r>
          </a:p>
          <a:p>
            <a:r>
              <a:rPr lang="mr-IN" sz="1600" dirty="0">
                <a:solidFill>
                  <a:srgbClr val="0000FF"/>
                </a:solidFill>
              </a:rPr>
              <a:t>    gridSize = (</a:t>
            </a:r>
            <a:r>
              <a:rPr lang="mr-IN" sz="1600" b="1" dirty="0">
                <a:solidFill>
                  <a:srgbClr val="0000FF"/>
                </a:solidFill>
              </a:rPr>
              <a:t>int)ceil((</a:t>
            </a:r>
            <a:r>
              <a:rPr lang="mr-IN" sz="1600" b="1" dirty="0" err="1">
                <a:solidFill>
                  <a:srgbClr val="0000FF"/>
                </a:solidFill>
              </a:rPr>
              <a:t>float</a:t>
            </a:r>
            <a:r>
              <a:rPr lang="mr-IN" sz="1600" b="1" dirty="0">
                <a:solidFill>
                  <a:srgbClr val="0000FF"/>
                </a:solidFill>
              </a:rPr>
              <a:t>)</a:t>
            </a:r>
            <a:r>
              <a:rPr lang="en-US" sz="1600" b="1" dirty="0">
                <a:solidFill>
                  <a:srgbClr val="0000FF"/>
                </a:solidFill>
              </a:rPr>
              <a:t>   </a:t>
            </a:r>
            <a:r>
              <a:rPr lang="mr-IN" sz="1600" b="1" dirty="0" err="1">
                <a:solidFill>
                  <a:srgbClr val="0000FF"/>
                </a:solidFill>
              </a:rPr>
              <a:t>n</a:t>
            </a:r>
            <a:r>
              <a:rPr lang="en-US" sz="1600" b="1" dirty="0">
                <a:solidFill>
                  <a:srgbClr val="0000FF"/>
                </a:solidFill>
              </a:rPr>
              <a:t> </a:t>
            </a:r>
            <a:r>
              <a:rPr lang="mr-IN" sz="1600" b="1" dirty="0">
                <a:solidFill>
                  <a:srgbClr val="0000FF"/>
                </a:solidFill>
              </a:rPr>
              <a:t>/</a:t>
            </a:r>
            <a:r>
              <a:rPr lang="en-US" sz="1600" b="1" dirty="0">
                <a:solidFill>
                  <a:srgbClr val="0000FF"/>
                </a:solidFill>
              </a:rPr>
              <a:t> </a:t>
            </a:r>
            <a:r>
              <a:rPr lang="mr-IN" sz="1600" b="1" dirty="0" err="1">
                <a:solidFill>
                  <a:srgbClr val="0000FF"/>
                </a:solidFill>
              </a:rPr>
              <a:t>blockSize</a:t>
            </a:r>
            <a:r>
              <a:rPr lang="en-US" sz="1600" b="1" dirty="0">
                <a:solidFill>
                  <a:srgbClr val="0000FF"/>
                </a:solidFill>
              </a:rPr>
              <a:t>    </a:t>
            </a:r>
            <a:r>
              <a:rPr lang="mr-IN" sz="1600" b="1" dirty="0">
                <a:solidFill>
                  <a:srgbClr val="0000FF"/>
                </a:solidFill>
              </a:rPr>
              <a:t>);</a:t>
            </a:r>
            <a:endParaRPr lang="en-US" sz="1600" dirty="0">
              <a:solidFill>
                <a:srgbClr val="0000FF"/>
              </a:solidFill>
            </a:endParaRPr>
          </a:p>
          <a:p>
            <a:r>
              <a:rPr lang="en-US" sz="1600" dirty="0">
                <a:solidFill>
                  <a:srgbClr val="0000FF"/>
                </a:solidFill>
              </a:rPr>
              <a:t>   </a:t>
            </a:r>
            <a:r>
              <a:rPr lang="en-US" sz="1600" dirty="0">
                <a:solidFill>
                  <a:srgbClr val="000000"/>
                </a:solidFill>
              </a:rPr>
              <a:t> // Execute the kernel</a:t>
            </a:r>
          </a:p>
          <a:p>
            <a:r>
              <a:rPr lang="mr-IN" sz="1600" dirty="0">
                <a:solidFill>
                  <a:srgbClr val="0000FF"/>
                </a:solidFill>
              </a:rPr>
              <a:t>    </a:t>
            </a:r>
            <a:r>
              <a:rPr lang="mr-IN" sz="1600" b="1" dirty="0">
                <a:solidFill>
                  <a:srgbClr val="0000FF"/>
                </a:solidFill>
                <a:highlight>
                  <a:srgbClr val="FFFF00"/>
                </a:highlight>
              </a:rPr>
              <a:t>vec</a:t>
            </a:r>
            <a:r>
              <a:rPr lang="en-US" sz="1600" b="1" dirty="0">
                <a:solidFill>
                  <a:srgbClr val="0000FF"/>
                </a:solidFill>
                <a:highlight>
                  <a:srgbClr val="FFFF00"/>
                </a:highlight>
              </a:rPr>
              <a:t>tor</a:t>
            </a:r>
            <a:r>
              <a:rPr lang="mr-IN" sz="1600" b="1" dirty="0">
                <a:solidFill>
                  <a:srgbClr val="0000FF"/>
                </a:solidFill>
                <a:highlight>
                  <a:srgbClr val="FFFF00"/>
                </a:highlight>
              </a:rPr>
              <a:t>Add&lt;&lt;&lt;gridSize, blockSize&gt;&gt;&gt;(d_a, d_b, d_c, n);</a:t>
            </a:r>
            <a:endParaRPr lang="en-US" sz="1600" b="1" dirty="0">
              <a:solidFill>
                <a:srgbClr val="0000FF"/>
              </a:solidFill>
              <a:highlight>
                <a:srgbClr val="FFFF00"/>
              </a:highlight>
            </a:endParaRPr>
          </a:p>
          <a:p>
            <a:endParaRPr lang="en-US" sz="1600" dirty="0">
              <a:solidFill>
                <a:srgbClr val="0000FF"/>
              </a:solidFill>
            </a:endParaRPr>
          </a:p>
          <a:p>
            <a:r>
              <a:rPr lang="en-US" sz="1600" dirty="0">
                <a:solidFill>
                  <a:srgbClr val="0000FF"/>
                </a:solidFill>
              </a:rPr>
              <a:t>  </a:t>
            </a:r>
            <a:r>
              <a:rPr lang="en-US" sz="1600" dirty="0">
                <a:solidFill>
                  <a:srgbClr val="000000"/>
                </a:solidFill>
              </a:rPr>
              <a:t>  // Copy array back to host</a:t>
            </a:r>
          </a:p>
          <a:p>
            <a:r>
              <a:rPr lang="en-US" sz="1600" dirty="0">
                <a:solidFill>
                  <a:srgbClr val="0000FF"/>
                </a:solidFill>
              </a:rPr>
              <a:t>    </a:t>
            </a:r>
            <a:r>
              <a:rPr lang="en-US" sz="1600" dirty="0" err="1">
                <a:solidFill>
                  <a:srgbClr val="0000FF"/>
                </a:solidFill>
              </a:rPr>
              <a:t>cudaMemcpy</a:t>
            </a:r>
            <a:r>
              <a:rPr lang="en-US" sz="1600" dirty="0">
                <a:solidFill>
                  <a:srgbClr val="0000FF"/>
                </a:solidFill>
              </a:rPr>
              <a:t>( </a:t>
            </a:r>
            <a:r>
              <a:rPr lang="en-US" sz="1600" dirty="0" err="1">
                <a:solidFill>
                  <a:srgbClr val="0000FF"/>
                </a:solidFill>
              </a:rPr>
              <a:t>h_c</a:t>
            </a:r>
            <a:r>
              <a:rPr lang="en-US" sz="1600" dirty="0">
                <a:solidFill>
                  <a:srgbClr val="0000FF"/>
                </a:solidFill>
              </a:rPr>
              <a:t>, </a:t>
            </a:r>
            <a:r>
              <a:rPr lang="en-US" sz="1600" dirty="0" err="1">
                <a:solidFill>
                  <a:srgbClr val="0000FF"/>
                </a:solidFill>
              </a:rPr>
              <a:t>d_c</a:t>
            </a:r>
            <a:r>
              <a:rPr lang="en-US" sz="1600" dirty="0">
                <a:solidFill>
                  <a:srgbClr val="0000FF"/>
                </a:solidFill>
              </a:rPr>
              <a:t>, </a:t>
            </a:r>
            <a:r>
              <a:rPr lang="en-US" sz="1600" dirty="0" err="1">
                <a:solidFill>
                  <a:srgbClr val="0000FF"/>
                </a:solidFill>
              </a:rPr>
              <a:t>no_bytes</a:t>
            </a:r>
            <a:r>
              <a:rPr lang="en-US" sz="1600" dirty="0">
                <a:solidFill>
                  <a:srgbClr val="0000FF"/>
                </a:solidFill>
              </a:rPr>
              <a:t>, </a:t>
            </a:r>
            <a:r>
              <a:rPr lang="en-US" sz="1600" dirty="0" err="1">
                <a:solidFill>
                  <a:srgbClr val="0000FF"/>
                </a:solidFill>
              </a:rPr>
              <a:t>cudaMemcpyDeviceToHost</a:t>
            </a:r>
            <a:r>
              <a:rPr lang="en-US" sz="1600" dirty="0">
                <a:solidFill>
                  <a:srgbClr val="0000FF"/>
                </a:solidFill>
              </a:rPr>
              <a:t> );</a:t>
            </a:r>
          </a:p>
          <a:p>
            <a:endParaRPr lang="en-US" sz="1600" dirty="0">
              <a:solidFill>
                <a:srgbClr val="0000FF"/>
              </a:solidFill>
            </a:endParaRPr>
          </a:p>
          <a:p>
            <a:r>
              <a:rPr lang="en-US" sz="1600" dirty="0">
                <a:solidFill>
                  <a:srgbClr val="000000"/>
                </a:solidFill>
              </a:rPr>
              <a:t>    // Release device memory</a:t>
            </a:r>
          </a:p>
          <a:p>
            <a:r>
              <a:rPr lang="mr-IN" sz="1600" dirty="0">
                <a:solidFill>
                  <a:srgbClr val="0000FF"/>
                </a:solidFill>
              </a:rPr>
              <a:t>    cudaFree(d_a);</a:t>
            </a:r>
          </a:p>
          <a:p>
            <a:r>
              <a:rPr lang="mr-IN" sz="1600" dirty="0">
                <a:solidFill>
                  <a:srgbClr val="0000FF"/>
                </a:solidFill>
              </a:rPr>
              <a:t>    cudaFree(d_b);</a:t>
            </a:r>
          </a:p>
          <a:p>
            <a:r>
              <a:rPr lang="mr-IN" sz="1600" dirty="0">
                <a:solidFill>
                  <a:srgbClr val="0000FF"/>
                </a:solidFill>
              </a:rPr>
              <a:t>    cudaFree(</a:t>
            </a:r>
            <a:r>
              <a:rPr lang="mr-IN" sz="1600" dirty="0" err="1">
                <a:solidFill>
                  <a:srgbClr val="0000FF"/>
                </a:solidFill>
              </a:rPr>
              <a:t>d_c</a:t>
            </a:r>
            <a:r>
              <a:rPr lang="mr-IN" sz="1600" dirty="0">
                <a:solidFill>
                  <a:srgbClr val="0000FF"/>
                </a:solidFill>
              </a:rPr>
              <a:t>);</a:t>
            </a:r>
            <a:endParaRPr lang="en-US" sz="1600" dirty="0">
              <a:solidFill>
                <a:srgbClr val="0000FF"/>
              </a:solidFill>
            </a:endParaRPr>
          </a:p>
          <a:p>
            <a:r>
              <a:rPr lang="en-US" sz="1600" dirty="0">
                <a:solidFill>
                  <a:srgbClr val="0000FF"/>
                </a:solidFill>
              </a:rPr>
              <a:t>//use </a:t>
            </a:r>
            <a:r>
              <a:rPr lang="mr-IN" sz="1600" b="1" dirty="0" err="1">
                <a:solidFill>
                  <a:srgbClr val="0000FF"/>
                </a:solidFill>
              </a:rPr>
              <a:t>h_c</a:t>
            </a:r>
            <a:r>
              <a:rPr lang="en-US" sz="1600" b="1" dirty="0">
                <a:solidFill>
                  <a:srgbClr val="0000FF"/>
                </a:solidFill>
              </a:rPr>
              <a:t> [...]</a:t>
            </a:r>
            <a:endParaRPr lang="en-US" sz="1600" dirty="0">
              <a:solidFill>
                <a:srgbClr val="0000FF"/>
              </a:solidFill>
            </a:endParaRPr>
          </a:p>
          <a:p>
            <a:r>
              <a:rPr lang="en-US" sz="1600" dirty="0">
                <a:solidFill>
                  <a:srgbClr val="0000FF"/>
                </a:solidFill>
              </a:rPr>
              <a:t>  </a:t>
            </a:r>
            <a:r>
              <a:rPr lang="en-US" sz="1600" dirty="0">
                <a:solidFill>
                  <a:srgbClr val="000000"/>
                </a:solidFill>
              </a:rPr>
              <a:t>  // Release host memory</a:t>
            </a:r>
          </a:p>
          <a:p>
            <a:r>
              <a:rPr lang="mr-IN" sz="1600" dirty="0">
                <a:solidFill>
                  <a:srgbClr val="0000FF"/>
                </a:solidFill>
              </a:rPr>
              <a:t>    </a:t>
            </a:r>
            <a:r>
              <a:rPr lang="mr-IN" sz="1600" b="1" dirty="0">
                <a:solidFill>
                  <a:srgbClr val="0000FF"/>
                </a:solidFill>
              </a:rPr>
              <a:t>free(h_a);</a:t>
            </a:r>
          </a:p>
          <a:p>
            <a:r>
              <a:rPr lang="mr-IN" sz="1600" dirty="0">
                <a:solidFill>
                  <a:srgbClr val="0000FF"/>
                </a:solidFill>
              </a:rPr>
              <a:t>    </a:t>
            </a:r>
            <a:r>
              <a:rPr lang="mr-IN" sz="1600" b="1" dirty="0">
                <a:solidFill>
                  <a:srgbClr val="0000FF"/>
                </a:solidFill>
              </a:rPr>
              <a:t>free(h_b);</a:t>
            </a:r>
          </a:p>
          <a:p>
            <a:r>
              <a:rPr lang="mr-IN" sz="1600" dirty="0">
                <a:solidFill>
                  <a:srgbClr val="0000FF"/>
                </a:solidFill>
              </a:rPr>
              <a:t>    </a:t>
            </a:r>
            <a:r>
              <a:rPr lang="mr-IN" sz="1600" b="1" dirty="0">
                <a:solidFill>
                  <a:srgbClr val="0000FF"/>
                </a:solidFill>
              </a:rPr>
              <a:t>free(h_c);</a:t>
            </a:r>
            <a:endParaRPr lang="en-US" sz="1600" dirty="0">
              <a:solidFill>
                <a:srgbClr val="0000FF"/>
              </a:solidFill>
            </a:endParaRPr>
          </a:p>
          <a:p>
            <a:r>
              <a:rPr lang="mr-IN" sz="1600" dirty="0">
                <a:solidFill>
                  <a:srgbClr val="0000FF"/>
                </a:solidFill>
              </a:rPr>
              <a:t>    </a:t>
            </a:r>
            <a:r>
              <a:rPr lang="mr-IN" sz="1600" b="1" dirty="0">
                <a:solidFill>
                  <a:srgbClr val="0000FF"/>
                </a:solidFill>
              </a:rPr>
              <a:t>return 0;</a:t>
            </a:r>
          </a:p>
          <a:p>
            <a:r>
              <a:rPr lang="en-US" sz="1600" dirty="0">
                <a:solidFill>
                  <a:srgbClr val="0000FF"/>
                </a:solidFill>
              </a:rPr>
              <a:t>}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584274-49A0-7849-A26C-3BDA30B55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C70860-9475-7749-A0AA-4F6A3B5B0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24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6371727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&gt;&lt;&gt;&lt;&gt;&lt;&gt;&lt;&gt;&lt;&gt;&lt;&gt;&lt;&gt;&lt;&gt;&lt;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Lansare</a:t>
            </a:r>
            <a:r>
              <a:rPr lang="en-US" dirty="0"/>
              <a:t> kernel =&gt; </a:t>
            </a:r>
            <a:r>
              <a:rPr lang="en-US" dirty="0" err="1"/>
              <a:t>executie</a:t>
            </a:r>
            <a:r>
              <a:rPr lang="en-US" dirty="0"/>
              <a:t>    __global__ function</a:t>
            </a:r>
          </a:p>
          <a:p>
            <a:pPr marL="0" indent="0">
              <a:buNone/>
            </a:pPr>
            <a:r>
              <a:rPr lang="en-US" dirty="0"/>
              <a:t>function &lt;&lt;&lt;  &gt;&gt;&gt;</a:t>
            </a:r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mr-IN" sz="2800" dirty="0">
                <a:solidFill>
                  <a:srgbClr val="000000"/>
                </a:solidFill>
              </a:rPr>
              <a:t>vec</a:t>
            </a:r>
            <a:r>
              <a:rPr lang="en-US" sz="2800" dirty="0">
                <a:solidFill>
                  <a:srgbClr val="000000"/>
                </a:solidFill>
              </a:rPr>
              <a:t>tor</a:t>
            </a:r>
            <a:r>
              <a:rPr lang="mr-IN" sz="2800" dirty="0">
                <a:solidFill>
                  <a:srgbClr val="000000"/>
                </a:solidFill>
              </a:rPr>
              <a:t>Add</a:t>
            </a:r>
            <a:r>
              <a:rPr lang="en-US" sz="2800" dirty="0"/>
              <a:t>&lt;&lt;&lt;3, 4&gt;&gt;&gt;(</a:t>
            </a:r>
            <a:r>
              <a:rPr lang="en-US" sz="2800" dirty="0" err="1"/>
              <a:t>d_a</a:t>
            </a:r>
            <a:r>
              <a:rPr lang="en-US" sz="2800" dirty="0"/>
              <a:t>, </a:t>
            </a:r>
            <a:r>
              <a:rPr lang="en-US" sz="2800" dirty="0" err="1"/>
              <a:t>d_b</a:t>
            </a:r>
            <a:r>
              <a:rPr lang="en-US" sz="2800" dirty="0"/>
              <a:t>, </a:t>
            </a:r>
            <a:r>
              <a:rPr lang="en-US" sz="2800" dirty="0" err="1"/>
              <a:t>d_c</a:t>
            </a:r>
            <a:r>
              <a:rPr lang="en-US" sz="2800" dirty="0"/>
              <a:t>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43808" y="4869160"/>
            <a:ext cx="2304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Cate </a:t>
            </a:r>
            <a:r>
              <a:rPr lang="en-US" dirty="0" err="1"/>
              <a:t>blocuri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cate</a:t>
            </a:r>
            <a:r>
              <a:rPr lang="en-US" dirty="0"/>
              <a:t> </a:t>
            </a:r>
            <a:r>
              <a:rPr lang="en-US" dirty="0" err="1"/>
              <a:t>threaduri</a:t>
            </a:r>
            <a:r>
              <a:rPr lang="en-US" dirty="0"/>
              <a:t> per bloc</a:t>
            </a:r>
          </a:p>
        </p:txBody>
      </p:sp>
      <p:cxnSp>
        <p:nvCxnSpPr>
          <p:cNvPr id="6" name="Straight Arrow Connector 5"/>
          <p:cNvCxnSpPr>
            <a:cxnSpLocks/>
            <a:stCxn id="4" idx="0"/>
          </p:cNvCxnSpPr>
          <p:nvPr/>
        </p:nvCxnSpPr>
        <p:spPr bwMode="auto">
          <a:xfrm flipH="1" flipV="1">
            <a:off x="3707904" y="3429000"/>
            <a:ext cx="288032" cy="14401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TextBox 7"/>
          <p:cNvSpPr txBox="1"/>
          <p:nvPr/>
        </p:nvSpPr>
        <p:spPr>
          <a:xfrm>
            <a:off x="683568" y="4930777"/>
            <a:ext cx="1673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Functia</a:t>
            </a:r>
            <a:r>
              <a:rPr lang="en-US" dirty="0"/>
              <a:t> Kernel</a:t>
            </a:r>
          </a:p>
        </p:txBody>
      </p:sp>
      <p:cxnSp>
        <p:nvCxnSpPr>
          <p:cNvPr id="10" name="Straight Arrow Connector 9"/>
          <p:cNvCxnSpPr>
            <a:stCxn id="8" idx="0"/>
          </p:cNvCxnSpPr>
          <p:nvPr/>
        </p:nvCxnSpPr>
        <p:spPr bwMode="auto">
          <a:xfrm flipV="1">
            <a:off x="1520077" y="3501009"/>
            <a:ext cx="243614" cy="142976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TextBox 10"/>
          <p:cNvSpPr txBox="1"/>
          <p:nvPr/>
        </p:nvSpPr>
        <p:spPr>
          <a:xfrm>
            <a:off x="6156176" y="4869160"/>
            <a:ext cx="1210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parametrii</a:t>
            </a:r>
            <a:endParaRPr lang="en-US" dirty="0"/>
          </a:p>
        </p:txBody>
      </p:sp>
      <p:cxnSp>
        <p:nvCxnSpPr>
          <p:cNvPr id="13" name="Straight Arrow Connector 12"/>
          <p:cNvCxnSpPr>
            <a:stCxn id="11" idx="0"/>
          </p:cNvCxnSpPr>
          <p:nvPr/>
        </p:nvCxnSpPr>
        <p:spPr bwMode="auto">
          <a:xfrm flipH="1" flipV="1">
            <a:off x="6300192" y="3356992"/>
            <a:ext cx="461435" cy="151216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77DA2E4-895E-AE49-BAB5-FEBE236F0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4473CB4-E7F9-9B47-872E-6D57B6F2A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25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7606827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Thread, Block, Grid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CUDA </a:t>
            </a:r>
            <a:r>
              <a:rPr lang="en-US" dirty="0" err="1"/>
              <a:t>foloseste</a:t>
            </a:r>
            <a:r>
              <a:rPr lang="en-US" dirty="0"/>
              <a:t> o </a:t>
            </a:r>
            <a:r>
              <a:rPr lang="en-US" dirty="0" err="1"/>
              <a:t>structura</a:t>
            </a:r>
            <a:r>
              <a:rPr lang="en-US" dirty="0"/>
              <a:t> </a:t>
            </a:r>
            <a:r>
              <a:rPr lang="en-US" dirty="0" err="1"/>
              <a:t>ierahica</a:t>
            </a:r>
            <a:r>
              <a:rPr lang="en-US" dirty="0"/>
              <a:t> : </a:t>
            </a:r>
          </a:p>
          <a:p>
            <a:pPr lvl="1"/>
            <a:r>
              <a:rPr lang="en-US" dirty="0"/>
              <a:t>grid </a:t>
            </a:r>
          </a:p>
          <a:p>
            <a:pPr lvl="2"/>
            <a:r>
              <a:rPr lang="en-US" dirty="0"/>
              <a:t>block </a:t>
            </a:r>
          </a:p>
          <a:p>
            <a:pPr lvl="3"/>
            <a:r>
              <a:rPr lang="en-US" dirty="0"/>
              <a:t>thread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9308E8-5318-684A-886D-14D290549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CB8408-865D-7B48-85AB-638612803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26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10556400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34776" y="0"/>
            <a:ext cx="8208912" cy="3168352"/>
            <a:chOff x="467544" y="476672"/>
            <a:chExt cx="8208912" cy="3168352"/>
          </a:xfrm>
        </p:grpSpPr>
        <p:sp>
          <p:nvSpPr>
            <p:cNvPr id="4" name="Rectangle 3"/>
            <p:cNvSpPr/>
            <p:nvPr/>
          </p:nvSpPr>
          <p:spPr bwMode="auto">
            <a:xfrm>
              <a:off x="467544" y="476672"/>
              <a:ext cx="8208912" cy="3168352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Grid</a:t>
              </a:r>
            </a:p>
          </p:txBody>
        </p:sp>
        <p:sp>
          <p:nvSpPr>
            <p:cNvPr id="5" name="Rectangle 4"/>
            <p:cNvSpPr/>
            <p:nvPr/>
          </p:nvSpPr>
          <p:spPr bwMode="auto">
            <a:xfrm>
              <a:off x="755576" y="1427656"/>
              <a:ext cx="2304256" cy="1584176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Block</a:t>
              </a:r>
              <a:r>
                <a:rPr lang="en-US" sz="3200" dirty="0"/>
                <a:t> 0</a:t>
              </a:r>
              <a:endParaRPr kumimoji="0" 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3419872" y="1427656"/>
              <a:ext cx="2304256" cy="1584176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Block</a:t>
              </a:r>
              <a:r>
                <a:rPr lang="en-US" sz="3200" dirty="0"/>
                <a:t> 1</a:t>
              </a:r>
              <a:endParaRPr kumimoji="0" 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6101656" y="1427656"/>
              <a:ext cx="2304256" cy="1584176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3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Block</a:t>
              </a:r>
              <a:r>
                <a:rPr lang="en-US" sz="3200" dirty="0"/>
                <a:t> 2</a:t>
              </a:r>
              <a:endParaRPr kumimoji="0" 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28" name="Straight Connector 27"/>
          <p:cNvCxnSpPr/>
          <p:nvPr/>
        </p:nvCxnSpPr>
        <p:spPr bwMode="auto">
          <a:xfrm>
            <a:off x="5221808" y="2535160"/>
            <a:ext cx="1296144" cy="38735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Straight Connector 25"/>
          <p:cNvCxnSpPr/>
          <p:nvPr/>
        </p:nvCxnSpPr>
        <p:spPr bwMode="auto">
          <a:xfrm flipH="1">
            <a:off x="-34776" y="2535160"/>
            <a:ext cx="2952328" cy="38735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Rectangle 7"/>
          <p:cNvSpPr/>
          <p:nvPr/>
        </p:nvSpPr>
        <p:spPr bwMode="auto">
          <a:xfrm>
            <a:off x="-34776" y="3486144"/>
            <a:ext cx="6552728" cy="2922568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Block</a:t>
            </a:r>
          </a:p>
        </p:txBody>
      </p:sp>
      <p:cxnSp>
        <p:nvCxnSpPr>
          <p:cNvPr id="14" name="Straight Arrow Connector 13"/>
          <p:cNvCxnSpPr/>
          <p:nvPr/>
        </p:nvCxnSpPr>
        <p:spPr bwMode="auto">
          <a:xfrm>
            <a:off x="757312" y="4176464"/>
            <a:ext cx="0" cy="1476000"/>
          </a:xfrm>
          <a:prstGeom prst="straightConnector1">
            <a:avLst/>
          </a:prstGeom>
          <a:solidFill>
            <a:schemeClr val="accent1"/>
          </a:solidFill>
          <a:ln w="476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Straight Arrow Connector 14"/>
          <p:cNvCxnSpPr/>
          <p:nvPr/>
        </p:nvCxnSpPr>
        <p:spPr bwMode="auto">
          <a:xfrm>
            <a:off x="2053456" y="4176464"/>
            <a:ext cx="0" cy="1476000"/>
          </a:xfrm>
          <a:prstGeom prst="straightConnector1">
            <a:avLst/>
          </a:prstGeom>
          <a:solidFill>
            <a:schemeClr val="accent1"/>
          </a:solidFill>
          <a:ln w="476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Straight Arrow Connector 15"/>
          <p:cNvCxnSpPr/>
          <p:nvPr/>
        </p:nvCxnSpPr>
        <p:spPr bwMode="auto">
          <a:xfrm>
            <a:off x="3349600" y="4176464"/>
            <a:ext cx="0" cy="1476000"/>
          </a:xfrm>
          <a:prstGeom prst="straightConnector1">
            <a:avLst/>
          </a:prstGeom>
          <a:solidFill>
            <a:schemeClr val="accent1"/>
          </a:solidFill>
          <a:ln w="476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TextBox 16"/>
          <p:cNvSpPr txBox="1"/>
          <p:nvPr/>
        </p:nvSpPr>
        <p:spPr>
          <a:xfrm>
            <a:off x="241786" y="5845922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6461" y="5834522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64343" y="5834522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thread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680" y="4685818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s-IS" sz="2800" dirty="0"/>
              <a:t>…</a:t>
            </a:r>
            <a:endParaRPr lang="en-US" sz="2800" dirty="0"/>
          </a:p>
        </p:txBody>
      </p:sp>
      <p:cxnSp>
        <p:nvCxnSpPr>
          <p:cNvPr id="22" name="Straight Connector 21"/>
          <p:cNvCxnSpPr/>
          <p:nvPr/>
        </p:nvCxnSpPr>
        <p:spPr bwMode="auto">
          <a:xfrm flipH="1">
            <a:off x="-34776" y="950984"/>
            <a:ext cx="2952328" cy="253516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Straight Connector 23"/>
          <p:cNvCxnSpPr/>
          <p:nvPr/>
        </p:nvCxnSpPr>
        <p:spPr bwMode="auto">
          <a:xfrm>
            <a:off x="5221808" y="950984"/>
            <a:ext cx="1296144" cy="253516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C538CFE-6648-1440-8DBB-4D50B59FD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51403" y="6378786"/>
            <a:ext cx="2895600" cy="476250"/>
          </a:xfrm>
        </p:spPr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4D80323-870B-8D4B-A2A2-5DA9B0E29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27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16270514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"/>
            <a:ext cx="9144000" cy="836712"/>
          </a:xfrm>
        </p:spPr>
        <p:txBody>
          <a:bodyPr/>
          <a:lstStyle/>
          <a:p>
            <a:r>
              <a:rPr lang="en-US" dirty="0"/>
              <a:t>Grid-</a:t>
            </a:r>
            <a:r>
              <a:rPr lang="en-US" dirty="0" err="1"/>
              <a:t>ul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fie </a:t>
            </a:r>
            <a:r>
              <a:rPr lang="en-US" dirty="0" err="1"/>
              <a:t>compus</a:t>
            </a:r>
            <a:r>
              <a:rPr lang="en-US" dirty="0"/>
              <a:t> din </a:t>
            </a:r>
            <a:r>
              <a:rPr lang="en-US" dirty="0" err="1"/>
              <a:t>blocuri</a:t>
            </a:r>
            <a:r>
              <a:rPr lang="en-US" dirty="0"/>
              <a:t> </a:t>
            </a:r>
            <a:r>
              <a:rPr lang="en-US" dirty="0" err="1"/>
              <a:t>organizate</a:t>
            </a:r>
            <a:r>
              <a:rPr lang="en-US" dirty="0"/>
              <a:t> 1D, 2D </a:t>
            </a:r>
            <a:r>
              <a:rPr lang="en-US" dirty="0" err="1"/>
              <a:t>sau</a:t>
            </a:r>
            <a:r>
              <a:rPr lang="en-US" dirty="0"/>
              <a:t> 3D </a:t>
            </a:r>
          </a:p>
          <a:p>
            <a:r>
              <a:rPr lang="en-US" dirty="0" err="1"/>
              <a:t>Blocurile</a:t>
            </a:r>
            <a:r>
              <a:rPr lang="en-US" dirty="0"/>
              <a:t> pot fi </a:t>
            </a:r>
            <a:r>
              <a:rPr lang="en-US" dirty="0" err="1"/>
              <a:t>compuse</a:t>
            </a:r>
            <a:r>
              <a:rPr lang="en-US" dirty="0"/>
              <a:t> din </a:t>
            </a:r>
            <a:r>
              <a:rPr lang="en-US" dirty="0" err="1"/>
              <a:t>threaduri</a:t>
            </a:r>
            <a:r>
              <a:rPr lang="en-US" dirty="0"/>
              <a:t> </a:t>
            </a:r>
            <a:r>
              <a:rPr lang="en-US" dirty="0" err="1"/>
              <a:t>organizate</a:t>
            </a:r>
            <a:r>
              <a:rPr lang="en-US" dirty="0"/>
              <a:t> 1D, 2D </a:t>
            </a:r>
            <a:r>
              <a:rPr lang="en-US" dirty="0" err="1"/>
              <a:t>sau</a:t>
            </a:r>
            <a:r>
              <a:rPr lang="en-US" dirty="0"/>
              <a:t> 3D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83" y="1169368"/>
            <a:ext cx="4373718" cy="568863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8759" y="1177854"/>
            <a:ext cx="4771569" cy="5544616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4F2B04-B585-CE4D-9228-A27E2AC3D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555EE-92E1-284B-805C-4B699049D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28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10503100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4525963"/>
          </a:xfrm>
        </p:spPr>
        <p:txBody>
          <a:bodyPr/>
          <a:lstStyle/>
          <a:p>
            <a:r>
              <a:rPr lang="en-US" dirty="0"/>
              <a:t>&lt;&lt;&lt;blocks per grid, threads per block&gt;&gt;&gt;</a:t>
            </a:r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&lt;&lt;&lt;1, 1&gt;&gt;&gt; : a grid with 1 block inside, and one block is consisted of 1 thread.</a:t>
            </a:r>
            <a:br>
              <a:rPr lang="en-US" dirty="0"/>
            </a:br>
            <a:r>
              <a:rPr lang="en-US" dirty="0"/>
              <a:t>Total threads: 1</a:t>
            </a:r>
          </a:p>
          <a:p>
            <a:endParaRPr lang="en-US" dirty="0"/>
          </a:p>
          <a:p>
            <a:pPr lvl="1"/>
            <a:r>
              <a:rPr lang="en-US" dirty="0"/>
              <a:t>&lt;&lt;&lt;2, 3&gt;&gt;&gt;: a grid with 2 blocks inside, and one block is consisted of 3 threads.</a:t>
            </a:r>
            <a:br>
              <a:rPr lang="en-US" dirty="0"/>
            </a:br>
            <a:r>
              <a:rPr lang="en-US" dirty="0"/>
              <a:t>Total threads: 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6C36D-F5C8-264A-B686-A708E21A0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6F1E1-7D8C-8849-8157-3579B4A1D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29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8219857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dim3  </a:t>
            </a:r>
            <a:r>
              <a:rPr lang="en-US" dirty="0" err="1"/>
              <a:t>struct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400" dirty="0" err="1">
                <a:solidFill>
                  <a:srgbClr val="3366FF"/>
                </a:solidFill>
              </a:rPr>
              <a:t>struct</a:t>
            </a:r>
            <a:r>
              <a:rPr lang="en-US" sz="1400" dirty="0">
                <a:solidFill>
                  <a:srgbClr val="3366FF"/>
                </a:solidFill>
              </a:rPr>
              <a:t> __</a:t>
            </a:r>
            <a:r>
              <a:rPr lang="en-US" sz="1400" dirty="0" err="1">
                <a:solidFill>
                  <a:srgbClr val="3366FF"/>
                </a:solidFill>
              </a:rPr>
              <a:t>device_builtin</a:t>
            </a:r>
            <a:r>
              <a:rPr lang="en-US" sz="1400" dirty="0">
                <a:solidFill>
                  <a:srgbClr val="3366FF"/>
                </a:solidFill>
              </a:rPr>
              <a:t>__ dim3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3366FF"/>
                </a:solidFill>
              </a:rPr>
              <a:t>{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3366FF"/>
                </a:solidFill>
              </a:rPr>
              <a:t>    unsigned </a:t>
            </a:r>
            <a:r>
              <a:rPr lang="en-US" sz="1400" dirty="0" err="1">
                <a:solidFill>
                  <a:srgbClr val="3366FF"/>
                </a:solidFill>
              </a:rPr>
              <a:t>int</a:t>
            </a:r>
            <a:r>
              <a:rPr lang="en-US" sz="1400" dirty="0">
                <a:solidFill>
                  <a:srgbClr val="3366FF"/>
                </a:solidFill>
              </a:rPr>
              <a:t> x, y, z;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3366FF"/>
                </a:solidFill>
              </a:rPr>
              <a:t>#if defined(__</a:t>
            </a:r>
            <a:r>
              <a:rPr lang="en-US" sz="1400" dirty="0" err="1">
                <a:solidFill>
                  <a:srgbClr val="3366FF"/>
                </a:solidFill>
              </a:rPr>
              <a:t>cplusplus</a:t>
            </a:r>
            <a:r>
              <a:rPr lang="en-US" sz="1400" dirty="0">
                <a:solidFill>
                  <a:srgbClr val="3366FF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3366FF"/>
                </a:solidFill>
              </a:rPr>
              <a:t>    __host__ __device__ dim3(unsigned </a:t>
            </a:r>
            <a:r>
              <a:rPr lang="en-US" sz="1400" dirty="0" err="1">
                <a:solidFill>
                  <a:srgbClr val="3366FF"/>
                </a:solidFill>
              </a:rPr>
              <a:t>int</a:t>
            </a:r>
            <a:r>
              <a:rPr lang="en-US" sz="1400" dirty="0">
                <a:solidFill>
                  <a:srgbClr val="3366FF"/>
                </a:solidFill>
              </a:rPr>
              <a:t> </a:t>
            </a:r>
            <a:r>
              <a:rPr lang="en-US" sz="1400" dirty="0" err="1">
                <a:solidFill>
                  <a:srgbClr val="3366FF"/>
                </a:solidFill>
              </a:rPr>
              <a:t>vx</a:t>
            </a:r>
            <a:r>
              <a:rPr lang="en-US" sz="1400" dirty="0">
                <a:solidFill>
                  <a:srgbClr val="3366FF"/>
                </a:solidFill>
              </a:rPr>
              <a:t> = 1, unsigned </a:t>
            </a:r>
            <a:r>
              <a:rPr lang="en-US" sz="1400" dirty="0" err="1">
                <a:solidFill>
                  <a:srgbClr val="3366FF"/>
                </a:solidFill>
              </a:rPr>
              <a:t>int</a:t>
            </a:r>
            <a:r>
              <a:rPr lang="en-US" sz="1400" dirty="0">
                <a:solidFill>
                  <a:srgbClr val="3366FF"/>
                </a:solidFill>
              </a:rPr>
              <a:t> </a:t>
            </a:r>
            <a:r>
              <a:rPr lang="en-US" sz="1400" dirty="0" err="1">
                <a:solidFill>
                  <a:srgbClr val="3366FF"/>
                </a:solidFill>
              </a:rPr>
              <a:t>vy</a:t>
            </a:r>
            <a:r>
              <a:rPr lang="en-US" sz="1400" dirty="0">
                <a:solidFill>
                  <a:srgbClr val="3366FF"/>
                </a:solidFill>
              </a:rPr>
              <a:t> = 1, unsigned </a:t>
            </a:r>
            <a:r>
              <a:rPr lang="en-US" sz="1400" dirty="0" err="1">
                <a:solidFill>
                  <a:srgbClr val="3366FF"/>
                </a:solidFill>
              </a:rPr>
              <a:t>int</a:t>
            </a:r>
            <a:r>
              <a:rPr lang="en-US" sz="1400" dirty="0">
                <a:solidFill>
                  <a:srgbClr val="3366FF"/>
                </a:solidFill>
              </a:rPr>
              <a:t> </a:t>
            </a:r>
            <a:r>
              <a:rPr lang="en-US" sz="1400" dirty="0" err="1">
                <a:solidFill>
                  <a:srgbClr val="3366FF"/>
                </a:solidFill>
              </a:rPr>
              <a:t>vz</a:t>
            </a:r>
            <a:r>
              <a:rPr lang="en-US" sz="1400" dirty="0">
                <a:solidFill>
                  <a:srgbClr val="3366FF"/>
                </a:solidFill>
              </a:rPr>
              <a:t> = 1) : x(</a:t>
            </a:r>
            <a:r>
              <a:rPr lang="en-US" sz="1400" dirty="0" err="1">
                <a:solidFill>
                  <a:srgbClr val="3366FF"/>
                </a:solidFill>
              </a:rPr>
              <a:t>vx</a:t>
            </a:r>
            <a:r>
              <a:rPr lang="en-US" sz="1400" dirty="0">
                <a:solidFill>
                  <a:srgbClr val="3366FF"/>
                </a:solidFill>
              </a:rPr>
              <a:t>), y(</a:t>
            </a:r>
            <a:r>
              <a:rPr lang="en-US" sz="1400" dirty="0" err="1">
                <a:solidFill>
                  <a:srgbClr val="3366FF"/>
                </a:solidFill>
              </a:rPr>
              <a:t>vy</a:t>
            </a:r>
            <a:r>
              <a:rPr lang="en-US" sz="1400" dirty="0">
                <a:solidFill>
                  <a:srgbClr val="3366FF"/>
                </a:solidFill>
              </a:rPr>
              <a:t>), z(</a:t>
            </a:r>
            <a:r>
              <a:rPr lang="en-US" sz="1400" dirty="0" err="1">
                <a:solidFill>
                  <a:srgbClr val="3366FF"/>
                </a:solidFill>
              </a:rPr>
              <a:t>vz</a:t>
            </a:r>
            <a:r>
              <a:rPr lang="en-US" sz="1400" dirty="0">
                <a:solidFill>
                  <a:srgbClr val="3366FF"/>
                </a:solidFill>
              </a:rPr>
              <a:t>) {}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3366FF"/>
                </a:solidFill>
              </a:rPr>
              <a:t>    __host__ __device__ dim3(uint3 v) : x(</a:t>
            </a:r>
            <a:r>
              <a:rPr lang="en-US" sz="1400" dirty="0" err="1">
                <a:solidFill>
                  <a:srgbClr val="3366FF"/>
                </a:solidFill>
              </a:rPr>
              <a:t>v.x</a:t>
            </a:r>
            <a:r>
              <a:rPr lang="en-US" sz="1400" dirty="0">
                <a:solidFill>
                  <a:srgbClr val="3366FF"/>
                </a:solidFill>
              </a:rPr>
              <a:t>), y(</a:t>
            </a:r>
            <a:r>
              <a:rPr lang="en-US" sz="1400" dirty="0" err="1">
                <a:solidFill>
                  <a:srgbClr val="3366FF"/>
                </a:solidFill>
              </a:rPr>
              <a:t>v.y</a:t>
            </a:r>
            <a:r>
              <a:rPr lang="en-US" sz="1400" dirty="0">
                <a:solidFill>
                  <a:srgbClr val="3366FF"/>
                </a:solidFill>
              </a:rPr>
              <a:t>), z(</a:t>
            </a:r>
            <a:r>
              <a:rPr lang="en-US" sz="1400" dirty="0" err="1">
                <a:solidFill>
                  <a:srgbClr val="3366FF"/>
                </a:solidFill>
              </a:rPr>
              <a:t>v.z</a:t>
            </a:r>
            <a:r>
              <a:rPr lang="en-US" sz="1400" dirty="0">
                <a:solidFill>
                  <a:srgbClr val="3366FF"/>
                </a:solidFill>
              </a:rPr>
              <a:t>) {}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3366FF"/>
                </a:solidFill>
              </a:rPr>
              <a:t>    __host__ __device__ operator uint3(void) { uint3 t; </a:t>
            </a:r>
            <a:r>
              <a:rPr lang="en-US" sz="1400" dirty="0" err="1">
                <a:solidFill>
                  <a:srgbClr val="3366FF"/>
                </a:solidFill>
              </a:rPr>
              <a:t>t.x</a:t>
            </a:r>
            <a:r>
              <a:rPr lang="en-US" sz="1400" dirty="0">
                <a:solidFill>
                  <a:srgbClr val="3366FF"/>
                </a:solidFill>
              </a:rPr>
              <a:t> = x; </a:t>
            </a:r>
            <a:r>
              <a:rPr lang="en-US" sz="1400" dirty="0" err="1">
                <a:solidFill>
                  <a:srgbClr val="3366FF"/>
                </a:solidFill>
              </a:rPr>
              <a:t>t.y</a:t>
            </a:r>
            <a:r>
              <a:rPr lang="en-US" sz="1400" dirty="0">
                <a:solidFill>
                  <a:srgbClr val="3366FF"/>
                </a:solidFill>
              </a:rPr>
              <a:t> = y; </a:t>
            </a:r>
            <a:r>
              <a:rPr lang="en-US" sz="1400" dirty="0" err="1">
                <a:solidFill>
                  <a:srgbClr val="3366FF"/>
                </a:solidFill>
              </a:rPr>
              <a:t>t.z</a:t>
            </a:r>
            <a:r>
              <a:rPr lang="en-US" sz="1400" dirty="0">
                <a:solidFill>
                  <a:srgbClr val="3366FF"/>
                </a:solidFill>
              </a:rPr>
              <a:t> = z; return t; }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3366FF"/>
                </a:solidFill>
              </a:rPr>
              <a:t>#</a:t>
            </a:r>
            <a:r>
              <a:rPr lang="en-US" sz="1400" dirty="0" err="1">
                <a:solidFill>
                  <a:srgbClr val="3366FF"/>
                </a:solidFill>
              </a:rPr>
              <a:t>endif</a:t>
            </a:r>
            <a:r>
              <a:rPr lang="en-US" sz="1400" dirty="0">
                <a:solidFill>
                  <a:srgbClr val="3366FF"/>
                </a:solidFill>
              </a:rPr>
              <a:t> /* __</a:t>
            </a:r>
            <a:r>
              <a:rPr lang="en-US" sz="1400" dirty="0" err="1">
                <a:solidFill>
                  <a:srgbClr val="3366FF"/>
                </a:solidFill>
              </a:rPr>
              <a:t>cplusplus</a:t>
            </a:r>
            <a:r>
              <a:rPr lang="en-US" sz="1400" dirty="0">
                <a:solidFill>
                  <a:srgbClr val="3366FF"/>
                </a:solidFill>
              </a:rPr>
              <a:t> */</a:t>
            </a:r>
          </a:p>
          <a:p>
            <a:pPr marL="0" indent="0">
              <a:buNone/>
            </a:pPr>
            <a:r>
              <a:rPr lang="en-US" dirty="0">
                <a:solidFill>
                  <a:srgbClr val="3366FF"/>
                </a:solidFill>
              </a:rPr>
              <a:t>};</a:t>
            </a:r>
          </a:p>
          <a:p>
            <a:pPr marL="0" indent="0">
              <a:buNone/>
            </a:pPr>
            <a:r>
              <a:rPr lang="en-US" dirty="0">
                <a:solidFill>
                  <a:srgbClr val="3366FF"/>
                </a:solidFill>
              </a:rPr>
              <a:t>Ex.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3366FF"/>
                </a:solidFill>
              </a:rPr>
              <a:t>    </a:t>
            </a:r>
            <a:r>
              <a:rPr lang="en-US" sz="1600" dirty="0">
                <a:solidFill>
                  <a:srgbClr val="3366FF"/>
                </a:solidFill>
                <a:latin typeface="Consolas"/>
                <a:ea typeface="Consolas"/>
                <a:cs typeface="Consolas"/>
              </a:rPr>
              <a:t>dim3 grid(256);            </a:t>
            </a:r>
            <a:r>
              <a:rPr lang="en-US" sz="1600" dirty="0">
                <a:latin typeface="Consolas"/>
                <a:ea typeface="Consolas"/>
                <a:cs typeface="Consolas"/>
              </a:rPr>
              <a:t>// defines a grid of 256 x 1 x 1 blocks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3366FF"/>
                </a:solidFill>
                <a:latin typeface="Consolas"/>
                <a:ea typeface="Consolas"/>
                <a:cs typeface="Consolas"/>
              </a:rPr>
              <a:t>  dim3 block(512,512);       </a:t>
            </a:r>
            <a:r>
              <a:rPr lang="en-US" sz="1600" dirty="0">
                <a:latin typeface="Consolas"/>
                <a:ea typeface="Consolas"/>
                <a:cs typeface="Consolas"/>
              </a:rPr>
              <a:t>// defines a block of 512 x 512 x 1 threads</a:t>
            </a:r>
          </a:p>
          <a:p>
            <a:pPr marL="0" indent="0">
              <a:buNone/>
            </a:pPr>
            <a:endParaRPr lang="en-US" dirty="0">
              <a:solidFill>
                <a:srgbClr val="3366FF"/>
              </a:solidFill>
              <a:latin typeface="Consolas"/>
              <a:ea typeface="Consolas"/>
              <a:cs typeface="Consolas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3366FF"/>
                </a:solidFill>
                <a:latin typeface="Consolas"/>
                <a:ea typeface="Consolas"/>
                <a:cs typeface="Consolas"/>
              </a:rPr>
              <a:t>foo&lt;&lt;&lt;</a:t>
            </a:r>
            <a:r>
              <a:rPr lang="en-US" sz="1600" dirty="0" err="1">
                <a:solidFill>
                  <a:srgbClr val="3366FF"/>
                </a:solidFill>
                <a:latin typeface="Consolas"/>
                <a:ea typeface="Consolas"/>
                <a:cs typeface="Consolas"/>
              </a:rPr>
              <a:t>grid,block</a:t>
            </a:r>
            <a:r>
              <a:rPr lang="en-US" sz="1600" dirty="0">
                <a:solidFill>
                  <a:srgbClr val="3366FF"/>
                </a:solidFill>
                <a:latin typeface="Consolas"/>
                <a:ea typeface="Consolas"/>
                <a:cs typeface="Consolas"/>
              </a:rPr>
              <a:t>&gt;&gt;&gt;(...)</a:t>
            </a:r>
            <a:r>
              <a:rPr lang="en-US" sz="1600" dirty="0">
                <a:solidFill>
                  <a:srgbClr val="3366FF"/>
                </a:solidFill>
              </a:rPr>
              <a:t>;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058789-C6F8-B944-B24F-5B9D0D13C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EB52E5-9D9D-EA47-B67E-E2FCCAB62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30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21093341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CUDA Built-In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 err="1">
                <a:solidFill>
                  <a:srgbClr val="0000FF"/>
                </a:solidFill>
                <a:latin typeface="Helvetica"/>
                <a:ea typeface="Helvetica"/>
                <a:cs typeface="Helvetica"/>
              </a:rPr>
              <a:t>blockIdx.x</a:t>
            </a:r>
            <a:r>
              <a:rPr lang="en-US" sz="1600" dirty="0">
                <a:solidFill>
                  <a:srgbClr val="0000FF"/>
                </a:solidFill>
                <a:latin typeface="Helvetica"/>
                <a:ea typeface="Helvetica"/>
                <a:cs typeface="Helvetica"/>
              </a:rPr>
              <a:t>, </a:t>
            </a:r>
            <a:r>
              <a:rPr lang="en-US" sz="1600" dirty="0" err="1">
                <a:solidFill>
                  <a:srgbClr val="0000FF"/>
                </a:solidFill>
                <a:latin typeface="Helvetica"/>
                <a:ea typeface="Helvetica"/>
                <a:cs typeface="Helvetica"/>
              </a:rPr>
              <a:t>blockIdx.y</a:t>
            </a:r>
            <a:r>
              <a:rPr lang="en-US" sz="1600" dirty="0">
                <a:solidFill>
                  <a:srgbClr val="0000FF"/>
                </a:solidFill>
                <a:latin typeface="Helvetica"/>
                <a:ea typeface="Helvetica"/>
                <a:cs typeface="Helvetica"/>
              </a:rPr>
              <a:t>, </a:t>
            </a:r>
            <a:r>
              <a:rPr lang="en-US" sz="1600" dirty="0" err="1">
                <a:solidFill>
                  <a:srgbClr val="0000FF"/>
                </a:solidFill>
                <a:latin typeface="Helvetica"/>
                <a:ea typeface="Helvetica"/>
                <a:cs typeface="Helvetica"/>
              </a:rPr>
              <a:t>blockIdx.z</a:t>
            </a:r>
            <a:r>
              <a:rPr lang="en-US" sz="1600" dirty="0">
                <a:solidFill>
                  <a:srgbClr val="0000FF"/>
                </a:solidFill>
                <a:latin typeface="Helvetica"/>
                <a:ea typeface="Helvetica"/>
                <a:cs typeface="Helvetica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are built-in variables that returns the block ID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in the x-axis, y-axis, and z-axis of the block that is executing the given block of code.</a:t>
            </a:r>
          </a:p>
          <a:p>
            <a:pPr marL="0" indent="0">
              <a:buNone/>
            </a:pPr>
            <a:endParaRPr lang="en-US" sz="1600" dirty="0">
              <a:solidFill>
                <a:srgbClr val="0000FF"/>
              </a:solidFill>
              <a:latin typeface="Helvetica"/>
              <a:ea typeface="Helvetica"/>
              <a:cs typeface="Helvetica"/>
            </a:endParaRPr>
          </a:p>
          <a:p>
            <a:r>
              <a:rPr lang="en-US" sz="1600" dirty="0" err="1">
                <a:solidFill>
                  <a:srgbClr val="0000FF"/>
                </a:solidFill>
                <a:latin typeface="Helvetica"/>
                <a:ea typeface="Helvetica"/>
                <a:cs typeface="Helvetica"/>
              </a:rPr>
              <a:t>threadIdx.x</a:t>
            </a:r>
            <a:r>
              <a:rPr lang="en-US" sz="1600" dirty="0">
                <a:solidFill>
                  <a:srgbClr val="0000FF"/>
                </a:solidFill>
                <a:latin typeface="Helvetica"/>
                <a:ea typeface="Helvetica"/>
                <a:cs typeface="Helvetica"/>
              </a:rPr>
              <a:t>, </a:t>
            </a:r>
            <a:r>
              <a:rPr lang="en-US" sz="1600" dirty="0" err="1">
                <a:solidFill>
                  <a:srgbClr val="0000FF"/>
                </a:solidFill>
                <a:latin typeface="Helvetica"/>
                <a:ea typeface="Helvetica"/>
                <a:cs typeface="Helvetica"/>
              </a:rPr>
              <a:t>threadIdx.y</a:t>
            </a:r>
            <a:r>
              <a:rPr lang="en-US" sz="1600" dirty="0">
                <a:solidFill>
                  <a:srgbClr val="0000FF"/>
                </a:solidFill>
                <a:latin typeface="Helvetica"/>
                <a:ea typeface="Helvetica"/>
                <a:cs typeface="Helvetica"/>
              </a:rPr>
              <a:t>, </a:t>
            </a:r>
            <a:r>
              <a:rPr lang="en-US" sz="1600" dirty="0" err="1">
                <a:solidFill>
                  <a:srgbClr val="0000FF"/>
                </a:solidFill>
                <a:latin typeface="Helvetica"/>
                <a:ea typeface="Helvetica"/>
                <a:cs typeface="Helvetica"/>
              </a:rPr>
              <a:t>threadIdx.z</a:t>
            </a:r>
            <a:r>
              <a:rPr lang="en-US" sz="1600" dirty="0">
                <a:solidFill>
                  <a:srgbClr val="0000FF"/>
                </a:solidFill>
                <a:latin typeface="Helvetica"/>
                <a:ea typeface="Helvetica"/>
                <a:cs typeface="Helvetica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are built-in variables that return the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thread ID in the x-axis, y-axis, and z-axis of the thread that is being executed by </a:t>
            </a:r>
            <a:r>
              <a:rPr lang="en-US" sz="1600" i="1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this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stream processor in </a:t>
            </a:r>
            <a:r>
              <a:rPr lang="en-US" sz="1600" i="1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this </a:t>
            </a:r>
            <a:r>
              <a:rPr lang="en-US" sz="160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(where is called) particular block.</a:t>
            </a:r>
          </a:p>
          <a:p>
            <a:pPr marL="0" indent="0">
              <a:buNone/>
            </a:pPr>
            <a:endParaRPr lang="en-US" sz="1600" dirty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r>
              <a:rPr lang="en-US" sz="1600" dirty="0" err="1">
                <a:solidFill>
                  <a:srgbClr val="0000FF"/>
                </a:solidFill>
                <a:latin typeface="Helvetica"/>
                <a:ea typeface="Helvetica"/>
                <a:cs typeface="Helvetica"/>
              </a:rPr>
              <a:t>blockDim.x</a:t>
            </a:r>
            <a:r>
              <a:rPr lang="en-US" sz="1600" dirty="0">
                <a:solidFill>
                  <a:srgbClr val="0000FF"/>
                </a:solidFill>
                <a:latin typeface="Helvetica"/>
                <a:ea typeface="Helvetica"/>
                <a:cs typeface="Helvetica"/>
              </a:rPr>
              <a:t>, </a:t>
            </a:r>
            <a:r>
              <a:rPr lang="en-US" sz="1600" dirty="0" err="1">
                <a:solidFill>
                  <a:srgbClr val="0000FF"/>
                </a:solidFill>
                <a:latin typeface="Helvetica"/>
                <a:ea typeface="Helvetica"/>
                <a:cs typeface="Helvetica"/>
              </a:rPr>
              <a:t>blockDim.y</a:t>
            </a:r>
            <a:r>
              <a:rPr lang="en-US" sz="1600" dirty="0">
                <a:solidFill>
                  <a:srgbClr val="0000FF"/>
                </a:solidFill>
                <a:latin typeface="Helvetica"/>
                <a:ea typeface="Helvetica"/>
                <a:cs typeface="Helvetica"/>
              </a:rPr>
              <a:t>, </a:t>
            </a:r>
            <a:r>
              <a:rPr lang="en-US" sz="1600" dirty="0" err="1">
                <a:solidFill>
                  <a:srgbClr val="0000FF"/>
                </a:solidFill>
                <a:latin typeface="Helvetica"/>
                <a:ea typeface="Helvetica"/>
                <a:cs typeface="Helvetica"/>
              </a:rPr>
              <a:t>blockDim.z</a:t>
            </a:r>
            <a:r>
              <a:rPr lang="en-US" sz="1600" dirty="0">
                <a:solidFill>
                  <a:srgbClr val="0000FF"/>
                </a:solidFill>
                <a:latin typeface="Helvetica"/>
                <a:ea typeface="Helvetica"/>
                <a:cs typeface="Helvetica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are built-in variables that return the “block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dimension” (i.e., the number of threads in a block in the x-axis, y-axis, and z-axis).</a:t>
            </a:r>
          </a:p>
          <a:p>
            <a:pPr marL="0" indent="0">
              <a:buNone/>
            </a:pPr>
            <a:endParaRPr lang="en-US" sz="1600" dirty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The full global thread ID in x dimension can be computed by: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latin typeface="Helvetica"/>
                <a:ea typeface="Helvetica"/>
                <a:cs typeface="Helvetica"/>
              </a:rPr>
              <a:t> x = </a:t>
            </a:r>
            <a:r>
              <a:rPr lang="en-US" sz="1600" dirty="0" err="1">
                <a:solidFill>
                  <a:srgbClr val="0000FF"/>
                </a:solidFill>
                <a:latin typeface="Helvetica"/>
                <a:ea typeface="Helvetica"/>
                <a:cs typeface="Helvetica"/>
              </a:rPr>
              <a:t>blockIdx.x</a:t>
            </a:r>
            <a:r>
              <a:rPr lang="en-US" sz="1600" dirty="0">
                <a:solidFill>
                  <a:srgbClr val="0000FF"/>
                </a:solidFill>
                <a:latin typeface="Helvetica"/>
                <a:ea typeface="Helvetica"/>
                <a:cs typeface="Helvetica"/>
              </a:rPr>
              <a:t> * </a:t>
            </a:r>
            <a:r>
              <a:rPr lang="en-US" sz="1600" dirty="0" err="1">
                <a:solidFill>
                  <a:srgbClr val="0000FF"/>
                </a:solidFill>
                <a:latin typeface="Helvetica"/>
                <a:ea typeface="Helvetica"/>
                <a:cs typeface="Helvetica"/>
              </a:rPr>
              <a:t>blockDim.x</a:t>
            </a:r>
            <a:r>
              <a:rPr lang="en-US" sz="1600" dirty="0">
                <a:solidFill>
                  <a:srgbClr val="0000FF"/>
                </a:solidFill>
                <a:latin typeface="Helvetica"/>
                <a:ea typeface="Helvetica"/>
                <a:cs typeface="Helvetica"/>
              </a:rPr>
              <a:t> + </a:t>
            </a:r>
            <a:r>
              <a:rPr lang="en-US" sz="1600" dirty="0" err="1">
                <a:solidFill>
                  <a:srgbClr val="0000FF"/>
                </a:solidFill>
                <a:latin typeface="Helvetica"/>
                <a:ea typeface="Helvetica"/>
                <a:cs typeface="Helvetica"/>
              </a:rPr>
              <a:t>threadIdx.x</a:t>
            </a:r>
            <a:r>
              <a:rPr lang="en-US" sz="1600" dirty="0">
                <a:solidFill>
                  <a:srgbClr val="0000FF"/>
                </a:solidFill>
                <a:latin typeface="Helvetica"/>
                <a:ea typeface="Helvetica"/>
                <a:cs typeface="Helvetica"/>
              </a:rPr>
              <a:t>;</a:t>
            </a:r>
            <a:endParaRPr lang="en-US" sz="1600" dirty="0">
              <a:solidFill>
                <a:srgbClr val="0000FF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BE2E04-0F2A-9542-9CC8-87EBC353B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FCC50-2531-3B47-9E48-C9F8ED412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31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14027649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45435"/>
          </a:xfrm>
        </p:spPr>
        <p:txBody>
          <a:bodyPr/>
          <a:lstStyle/>
          <a:p>
            <a:r>
              <a:rPr lang="en-US" dirty="0" err="1">
                <a:solidFill>
                  <a:srgbClr val="3366FF"/>
                </a:solidFill>
              </a:rPr>
              <a:t>BlockIdx.x</a:t>
            </a:r>
            <a:r>
              <a:rPr lang="en-US" dirty="0">
                <a:solidFill>
                  <a:srgbClr val="3366FF"/>
                </a:solidFill>
              </a:rPr>
              <a:t> </a:t>
            </a:r>
            <a:r>
              <a:rPr lang="en-US" dirty="0"/>
              <a:t>is the x number of the block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dirty="0" err="1">
                <a:solidFill>
                  <a:srgbClr val="3366FF"/>
                </a:solidFill>
              </a:rPr>
              <a:t>BlockDim.x</a:t>
            </a:r>
            <a:r>
              <a:rPr lang="en-US" dirty="0">
                <a:solidFill>
                  <a:srgbClr val="3366FF"/>
                </a:solidFill>
              </a:rPr>
              <a:t> </a:t>
            </a:r>
            <a:r>
              <a:rPr lang="en-US" dirty="0"/>
              <a:t>is the total threads in x dimension (width)</a:t>
            </a:r>
          </a:p>
          <a:p>
            <a:endParaRPr lang="en-US" dirty="0"/>
          </a:p>
          <a:p>
            <a:r>
              <a:rPr lang="en-US" dirty="0"/>
              <a:t>If we launch </a:t>
            </a:r>
            <a:r>
              <a:rPr lang="en-US" dirty="0" err="1">
                <a:solidFill>
                  <a:srgbClr val="3366FF"/>
                </a:solidFill>
              </a:rPr>
              <a:t>vector_add</a:t>
            </a:r>
            <a:r>
              <a:rPr lang="en-US" dirty="0">
                <a:solidFill>
                  <a:srgbClr val="3366FF"/>
                </a:solidFill>
              </a:rPr>
              <a:t>&lt;&lt;&lt;2, 4&gt;&gt;&gt;</a:t>
            </a:r>
          </a:p>
          <a:p>
            <a:pPr lvl="1"/>
            <a:r>
              <a:rPr lang="en-US" dirty="0" err="1"/>
              <a:t>Primul</a:t>
            </a:r>
            <a:r>
              <a:rPr lang="en-US" dirty="0"/>
              <a:t> thread (block(0), thread(0)):</a:t>
            </a:r>
            <a:br>
              <a:rPr lang="en-US" dirty="0"/>
            </a:br>
            <a:r>
              <a:rPr lang="en-US" dirty="0" err="1"/>
              <a:t>idx</a:t>
            </a:r>
            <a:r>
              <a:rPr lang="en-US" dirty="0"/>
              <a:t> = 0 + 0 * 4 = 0</a:t>
            </a:r>
          </a:p>
          <a:p>
            <a:pPr lvl="1"/>
            <a:r>
              <a:rPr lang="en-US" dirty="0" err="1"/>
              <a:t>Threadul</a:t>
            </a:r>
            <a:r>
              <a:rPr lang="en-US" dirty="0"/>
              <a:t> al 5-lea (block(1), thread(0)):</a:t>
            </a:r>
            <a:br>
              <a:rPr lang="en-US" dirty="0"/>
            </a:br>
            <a:r>
              <a:rPr lang="en-US" dirty="0" err="1"/>
              <a:t>idx</a:t>
            </a:r>
            <a:r>
              <a:rPr lang="en-US" dirty="0"/>
              <a:t> = 0 + 1 * 4 = 4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4293096"/>
            <a:ext cx="2489200" cy="1524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4365104"/>
            <a:ext cx="4011431" cy="9542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15816" y="404664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Exemplul</a:t>
            </a:r>
            <a:r>
              <a:rPr lang="en-US" dirty="0"/>
              <a:t> 1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B7191-8630-0148-8BCE-D9A91A0DD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6CE2E6-4ADE-614A-AA37-E53B40BD4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32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27011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/>
          <a:lstStyle/>
          <a:p>
            <a:r>
              <a:rPr lang="en-US" dirty="0" err="1"/>
              <a:t>Exemplul</a:t>
            </a:r>
            <a:r>
              <a:rPr lang="en-US" dirty="0"/>
              <a:t> 2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131176"/>
            <a:ext cx="7272808" cy="5034128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868946-B8CD-4945-A502-5D9C5A7AA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F052D-FB57-5548-8D85-436ED1C3D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33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15588973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2C205-FCB6-E741-FA37-110B7B1E2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sizes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4C2BCA6-0887-90A6-8126-4CCABB79D3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1706387"/>
              </p:ext>
            </p:extLst>
          </p:nvPr>
        </p:nvGraphicFramePr>
        <p:xfrm>
          <a:off x="2043702" y="1600200"/>
          <a:ext cx="5768660" cy="4525964"/>
        </p:xfrm>
        <a:graphic>
          <a:graphicData uri="http://schemas.openxmlformats.org/drawingml/2006/table">
            <a:tbl>
              <a:tblPr/>
              <a:tblGrid>
                <a:gridCol w="1153732">
                  <a:extLst>
                    <a:ext uri="{9D8B030D-6E8A-4147-A177-3AD203B41FA5}">
                      <a16:colId xmlns:a16="http://schemas.microsoft.com/office/drawing/2014/main" val="171353898"/>
                    </a:ext>
                  </a:extLst>
                </a:gridCol>
                <a:gridCol w="1153732">
                  <a:extLst>
                    <a:ext uri="{9D8B030D-6E8A-4147-A177-3AD203B41FA5}">
                      <a16:colId xmlns:a16="http://schemas.microsoft.com/office/drawing/2014/main" val="3896649534"/>
                    </a:ext>
                  </a:extLst>
                </a:gridCol>
                <a:gridCol w="1153732">
                  <a:extLst>
                    <a:ext uri="{9D8B030D-6E8A-4147-A177-3AD203B41FA5}">
                      <a16:colId xmlns:a16="http://schemas.microsoft.com/office/drawing/2014/main" val="3390605033"/>
                    </a:ext>
                  </a:extLst>
                </a:gridCol>
                <a:gridCol w="1153732">
                  <a:extLst>
                    <a:ext uri="{9D8B030D-6E8A-4147-A177-3AD203B41FA5}">
                      <a16:colId xmlns:a16="http://schemas.microsoft.com/office/drawing/2014/main" val="1655116521"/>
                    </a:ext>
                  </a:extLst>
                </a:gridCol>
                <a:gridCol w="1153732">
                  <a:extLst>
                    <a:ext uri="{9D8B030D-6E8A-4147-A177-3AD203B41FA5}">
                      <a16:colId xmlns:a16="http://schemas.microsoft.com/office/drawing/2014/main" val="127069728"/>
                    </a:ext>
                  </a:extLst>
                </a:gridCol>
              </a:tblGrid>
              <a:tr h="56808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Architecture (Generation)</a:t>
                      </a:r>
                      <a:endParaRPr lang="en-US" sz="11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820" marR="46820" marT="31214" marB="31214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Code Name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820" marR="46820" marT="31214" marB="31214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SM Limit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820" marR="46820" marT="31214" marB="31214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Typical Recommended Block Size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820" marR="46820" marT="31214" marB="31214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Key Consideration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820" marR="46820" marT="31214" marB="31214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794188"/>
                  </a:ext>
                </a:extLst>
              </a:tr>
              <a:tr h="107374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Volta, Turing, Ampere, Ada Lovelace</a:t>
                      </a: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(7.x, 7.5, 8.x, 8.9)</a:t>
                      </a:r>
                    </a:p>
                  </a:txBody>
                  <a:tcPr marL="46820" marR="46820" marT="31214" marB="31214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V100, RTX 20/30/40 Series</a:t>
                      </a:r>
                    </a:p>
                  </a:txBody>
                  <a:tcPr marL="46820" marR="46820" marT="31214" marB="31214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1024 threads/SM</a:t>
                      </a:r>
                    </a:p>
                  </a:txBody>
                  <a:tcPr marL="46820" marR="46820" marT="31214" marB="31214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128, 256, 512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820" marR="46820" marT="31214" marB="31214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Optimized for latency hiding; prioritize shared memory and register usage.</a:t>
                      </a:r>
                    </a:p>
                  </a:txBody>
                  <a:tcPr marL="46820" marR="46820" marT="31214" marB="31214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7814227"/>
                  </a:ext>
                </a:extLst>
              </a:tr>
              <a:tr h="107374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Pascal</a:t>
                      </a: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(6.x)</a:t>
                      </a:r>
                    </a:p>
                  </a:txBody>
                  <a:tcPr marL="46820" marR="46820" marT="31214" marB="31214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GTX 10 Series, P100</a:t>
                      </a:r>
                    </a:p>
                  </a:txBody>
                  <a:tcPr marL="46820" marR="46820" marT="31214" marB="31214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1024 threads/SM</a:t>
                      </a:r>
                    </a:p>
                  </a:txBody>
                  <a:tcPr marL="46820" marR="46820" marT="31214" marB="31214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128, 256, 512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820" marR="46820" marT="31214" marB="31214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Similar to newer architectures, focus on resource balance.</a:t>
                      </a:r>
                    </a:p>
                  </a:txBody>
                  <a:tcPr marL="46820" marR="46820" marT="31214" marB="31214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8772101"/>
                  </a:ext>
                </a:extLst>
              </a:tr>
              <a:tr h="90519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nb-NO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Kepler, Maxwell</a:t>
                      </a:r>
                      <a:r>
                        <a:rPr lang="nb-NO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(3.x, 5.x)</a:t>
                      </a:r>
                    </a:p>
                  </a:txBody>
                  <a:tcPr marL="46820" marR="46820" marT="31214" marB="31214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K40, GTX 7/9 Series</a:t>
                      </a:r>
                    </a:p>
                  </a:txBody>
                  <a:tcPr marL="46820" marR="46820" marT="31214" marB="31214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1024 threads/SM</a:t>
                      </a:r>
                    </a:p>
                  </a:txBody>
                  <a:tcPr marL="46820" marR="46820" marT="31214" marB="31214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256, 512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820" marR="46820" marT="31214" marB="31214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Slightly higher preference for larger blocks to ensure full utilization.</a:t>
                      </a:r>
                    </a:p>
                  </a:txBody>
                  <a:tcPr marL="46820" marR="46820" marT="31214" marB="31214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390359"/>
                  </a:ext>
                </a:extLst>
              </a:tr>
              <a:tr h="90519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Fermi</a:t>
                      </a: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(2.x)</a:t>
                      </a:r>
                    </a:p>
                  </a:txBody>
                  <a:tcPr marL="46820" marR="46820" marT="31214" marB="31214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GTX 4/5 Series</a:t>
                      </a:r>
                    </a:p>
                  </a:txBody>
                  <a:tcPr marL="46820" marR="46820" marT="31214" marB="31214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1024 threads/SM</a:t>
                      </a:r>
                    </a:p>
                  </a:txBody>
                  <a:tcPr marL="46820" marR="46820" marT="31214" marB="31214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128, 256</a:t>
                      </a:r>
                      <a:endParaRPr lang="en-US" sz="11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6820" marR="46820" marT="31214" marB="31214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Less flexible with resources; moderate size often best balance.</a:t>
                      </a:r>
                    </a:p>
                  </a:txBody>
                  <a:tcPr marL="46820" marR="46820" marT="31214" marB="31214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0788276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209CE6-D1FD-CF4C-3D9E-FE3A883BC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6F2C11-8B59-3F59-BC77-1505DF4C2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34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31857758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CUDA </a:t>
            </a:r>
            <a:r>
              <a:rPr lang="en-US" dirty="0" err="1"/>
              <a:t>foloseste</a:t>
            </a:r>
            <a:r>
              <a:rPr lang="en-US" dirty="0"/>
              <a:t> 5 </a:t>
            </a:r>
            <a:r>
              <a:rPr lang="en-US" dirty="0" err="1"/>
              <a:t>tipuri</a:t>
            </a:r>
            <a:r>
              <a:rPr lang="en-US" dirty="0"/>
              <a:t> de </a:t>
            </a:r>
            <a:r>
              <a:rPr lang="en-US" dirty="0" err="1"/>
              <a:t>memorie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cu </a:t>
            </a:r>
            <a:r>
              <a:rPr lang="en-US" dirty="0" err="1"/>
              <a:t>proprietati</a:t>
            </a:r>
            <a:r>
              <a:rPr lang="en-US" dirty="0"/>
              <a:t> </a:t>
            </a:r>
            <a:r>
              <a:rPr lang="en-US" dirty="0" err="1"/>
              <a:t>diferite</a:t>
            </a:r>
            <a:endParaRPr lang="en-US" dirty="0"/>
          </a:p>
          <a:p>
            <a:r>
              <a:rPr lang="en-US" dirty="0" err="1"/>
              <a:t>Proprietati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Size</a:t>
            </a:r>
          </a:p>
          <a:p>
            <a:pPr lvl="1"/>
            <a:r>
              <a:rPr lang="en-US" dirty="0"/>
              <a:t>Access speed</a:t>
            </a:r>
          </a:p>
          <a:p>
            <a:pPr lvl="1"/>
            <a:r>
              <a:rPr lang="en-US" dirty="0"/>
              <a:t>Read/write, read only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939D9E-8A7E-2C41-B3F2-48B7E4AFD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417DBE-7B11-874D-B289-F6F8C507D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35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15855845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343322"/>
            <a:ext cx="5331048" cy="5901903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AE1CB-20F6-5146-BBF8-EF72E00F0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36B84-E113-944F-B47D-727A98DDD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36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957379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750" y="1196752"/>
            <a:ext cx="8229600" cy="4525963"/>
          </a:xfrm>
        </p:spPr>
        <p:txBody>
          <a:bodyPr/>
          <a:lstStyle/>
          <a:p>
            <a:r>
              <a:rPr lang="en-US" sz="2000" dirty="0"/>
              <a:t>Global memory: </a:t>
            </a:r>
            <a:r>
              <a:rPr lang="en-US" sz="2000" dirty="0" err="1">
                <a:solidFill>
                  <a:srgbClr val="3366FF"/>
                </a:solidFill>
              </a:rPr>
              <a:t>cudaMalloc</a:t>
            </a:r>
            <a:r>
              <a:rPr lang="en-US" sz="2000" dirty="0"/>
              <a:t> memory, the size is large, but slow </a:t>
            </a:r>
          </a:p>
          <a:p>
            <a:r>
              <a:rPr lang="en-US" sz="2000" dirty="0"/>
              <a:t>Texture memory: read only, cache optimized for 2D access pattern</a:t>
            </a:r>
          </a:p>
          <a:p>
            <a:r>
              <a:rPr lang="en-US" sz="2000" dirty="0"/>
              <a:t>Constant memory: slow but with cache (small)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996952"/>
            <a:ext cx="7017324" cy="2702073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DE1B11D-6C1F-B644-B8A6-5BD9E59A8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47F0540-5ED8-0D4D-A924-A6DD48C26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37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12090267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Local memory:</a:t>
            </a:r>
            <a:br>
              <a:rPr lang="en-US" dirty="0"/>
            </a:br>
            <a:r>
              <a:rPr lang="en-US" dirty="0"/>
              <a:t>local to thread, but it is as</a:t>
            </a:r>
            <a:br>
              <a:rPr lang="en-US" dirty="0"/>
            </a:br>
            <a:r>
              <a:rPr lang="en-US" dirty="0"/>
              <a:t>slow as global memory</a:t>
            </a:r>
          </a:p>
          <a:p>
            <a:endParaRPr lang="en-US" dirty="0"/>
          </a:p>
          <a:p>
            <a:r>
              <a:rPr lang="en-US" b="1" u="sng" dirty="0"/>
              <a:t>Shared memory:</a:t>
            </a:r>
            <a:br>
              <a:rPr lang="en-US" dirty="0"/>
            </a:br>
            <a:r>
              <a:rPr lang="en-US" dirty="0"/>
              <a:t>100x fast to global</a:t>
            </a:r>
            <a:br>
              <a:rPr lang="en-US" dirty="0"/>
            </a:br>
            <a:r>
              <a:rPr lang="en-US" dirty="0"/>
              <a:t>memory, it is accessible to </a:t>
            </a:r>
            <a:br>
              <a:rPr lang="en-US" dirty="0"/>
            </a:br>
            <a:r>
              <a:rPr lang="en-US" b="1" i="1" dirty="0"/>
              <a:t>all threads in one block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1484784"/>
            <a:ext cx="2952328" cy="4688992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E029EF3-3CA3-E846-87DA-64E57EDB7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AF980DD-A9D8-BF4F-86D9-E46EBF8A5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38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1768023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25963"/>
          </a:xfrm>
        </p:spPr>
        <p:txBody>
          <a:bodyPr/>
          <a:lstStyle/>
          <a:p>
            <a:r>
              <a:rPr lang="en-US" dirty="0"/>
              <a:t>Shared memory is very fast, but usually only 64KB.</a:t>
            </a:r>
          </a:p>
          <a:p>
            <a:endParaRPr lang="en-US" dirty="0"/>
          </a:p>
          <a:p>
            <a:r>
              <a:rPr lang="en-US" dirty="0"/>
              <a:t>Actually, shared memory is the same as “L1 cache” of CPU, but controllable by user.</a:t>
            </a:r>
          </a:p>
          <a:p>
            <a:endParaRPr lang="en-US" dirty="0"/>
          </a:p>
          <a:p>
            <a:r>
              <a:rPr lang="en-US" dirty="0"/>
              <a:t>One block has one shared memory, that’s the reason why we manage the threads in grid and block way!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35725-2D55-404D-8CE5-EF79ED62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9A554B-C7CC-AF4B-AF53-D486CB412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39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6049476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C435D-0DB8-8A41-8477-9ED8E6590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CUDA Memories characteristics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C757332-0A27-734E-8EBD-1DC071C31A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94638" y="2469931"/>
            <a:ext cx="6596762" cy="2674363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7B99B3-0175-0ADE-8A99-BFF9B00BE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BCDFD5-93E0-F256-83E7-4A109C9DC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40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24592587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Exemplu</a:t>
            </a:r>
            <a:r>
              <a:rPr lang="en-US" dirty="0"/>
              <a:t>: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!!!   __</a:t>
            </a:r>
            <a:r>
              <a:rPr lang="en-US" dirty="0" err="1"/>
              <a:t>syncthreads</a:t>
            </a:r>
            <a:r>
              <a:rPr lang="en-US" dirty="0"/>
              <a:t>() is needed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1621053"/>
            <a:ext cx="4975062" cy="3536139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B652395-4374-0E42-860A-A19CED611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7B77AE5-B554-F448-B522-0D539F492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41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17157134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 </a:t>
            </a:r>
            <a:r>
              <a:rPr lang="en-US" dirty="0" err="1"/>
              <a:t>alta</a:t>
            </a:r>
            <a:r>
              <a:rPr lang="en-US" dirty="0"/>
              <a:t> </a:t>
            </a:r>
            <a:r>
              <a:rPr lang="en-US" dirty="0" err="1"/>
              <a:t>varianta</a:t>
            </a:r>
            <a:r>
              <a:rPr lang="mr-IN" dirty="0"/>
              <a:t>…</a:t>
            </a:r>
            <a:r>
              <a:rPr lang="en-US" dirty="0"/>
              <a:t> </a:t>
            </a:r>
            <a:r>
              <a:rPr lang="en-US" dirty="0" err="1"/>
              <a:t>dar</a:t>
            </a:r>
            <a:r>
              <a:rPr lang="en-US" dirty="0"/>
              <a:t> </a:t>
            </a:r>
            <a:r>
              <a:rPr lang="en-US" dirty="0" err="1"/>
              <a:t>similara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(</a:t>
            </a:r>
            <a:r>
              <a:rPr lang="en-US" i="1" dirty="0"/>
              <a:t>better for CUDA</a:t>
            </a:r>
            <a:r>
              <a:rPr lang="en-US" dirty="0"/>
              <a:t>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340768"/>
            <a:ext cx="8280400" cy="49657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FE6870-EED5-E94C-90F7-B34965919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DAAC9E-A024-D84F-8154-8225953FD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42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33294321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D237DA-FBDF-D258-72E8-CDD6C864061B}"/>
              </a:ext>
            </a:extLst>
          </p:cNvPr>
          <p:cNvSpPr/>
          <p:nvPr/>
        </p:nvSpPr>
        <p:spPr bwMode="auto">
          <a:xfrm>
            <a:off x="251520" y="2996952"/>
            <a:ext cx="6507360" cy="1728192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C410A-D738-024B-9A6B-6A78FD51A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36526"/>
            <a:ext cx="8075240" cy="5989638"/>
          </a:xfrm>
        </p:spPr>
        <p:txBody>
          <a:bodyPr/>
          <a:lstStyle/>
          <a:p>
            <a:pPr marL="0" indent="0">
              <a:buNone/>
            </a:pPr>
            <a:r>
              <a:rPr lang="en-US" sz="1300" dirty="0">
                <a:solidFill>
                  <a:srgbClr val="3366FF"/>
                </a:solidFill>
              </a:rPr>
              <a:t>#define BLOCK_SIZE 512 // can be changed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3366FF"/>
                </a:solidFill>
              </a:rPr>
              <a:t>#define NUM_OF_ELEMS 1024// can be changed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3366FF"/>
                </a:solidFill>
              </a:rPr>
              <a:t>__global__  void total(float * input, float * output, int </a:t>
            </a:r>
            <a:r>
              <a:rPr lang="en-US" sz="1300" b="1" dirty="0" err="1">
                <a:solidFill>
                  <a:srgbClr val="3366FF"/>
                </a:solidFill>
              </a:rPr>
              <a:t>len</a:t>
            </a:r>
            <a:r>
              <a:rPr lang="en-US" sz="1300" b="1" dirty="0">
                <a:solidFill>
                  <a:srgbClr val="3366FF"/>
                </a:solidFill>
              </a:rPr>
              <a:t>)  {</a:t>
            </a:r>
          </a:p>
          <a:p>
            <a:pPr marL="0" indent="0">
              <a:buNone/>
            </a:pPr>
            <a:r>
              <a:rPr lang="en-US" sz="1300" b="1" dirty="0">
                <a:solidFill>
                  <a:schemeClr val="bg2"/>
                </a:solidFill>
              </a:rPr>
              <a:t>    // Load a segment of the input vector into shared memory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3366FF"/>
                </a:solidFill>
              </a:rPr>
              <a:t>    __shared__ float </a:t>
            </a:r>
            <a:r>
              <a:rPr lang="en-US" sz="1300" b="1" dirty="0" err="1">
                <a:solidFill>
                  <a:srgbClr val="3366FF"/>
                </a:solidFill>
              </a:rPr>
              <a:t>partialSum</a:t>
            </a:r>
            <a:r>
              <a:rPr lang="en-US" sz="1300" b="1" dirty="0">
                <a:solidFill>
                  <a:srgbClr val="3366FF"/>
                </a:solidFill>
              </a:rPr>
              <a:t>[2*BLOCK_SIZE];  </a:t>
            </a:r>
            <a:r>
              <a:rPr lang="en-US" sz="1300" dirty="0"/>
              <a:t>// no of elements allocated on shared memory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3366FF"/>
                </a:solidFill>
              </a:rPr>
              <a:t>    int </a:t>
            </a:r>
            <a:r>
              <a:rPr lang="en-US" sz="1300" b="1" dirty="0" err="1">
                <a:solidFill>
                  <a:srgbClr val="3366FF"/>
                </a:solidFill>
              </a:rPr>
              <a:t>globalThreadId</a:t>
            </a:r>
            <a:r>
              <a:rPr lang="en-US" sz="1300" b="1" dirty="0">
                <a:solidFill>
                  <a:srgbClr val="3366FF"/>
                </a:solidFill>
              </a:rPr>
              <a:t> = </a:t>
            </a:r>
            <a:r>
              <a:rPr lang="en-US" sz="1300" b="1" dirty="0" err="1">
                <a:solidFill>
                  <a:srgbClr val="3366FF"/>
                </a:solidFill>
              </a:rPr>
              <a:t>blockIdx.x</a:t>
            </a:r>
            <a:r>
              <a:rPr lang="en-US" sz="1300" b="1" dirty="0">
                <a:solidFill>
                  <a:srgbClr val="3366FF"/>
                </a:solidFill>
              </a:rPr>
              <a:t>*</a:t>
            </a:r>
            <a:r>
              <a:rPr lang="en-US" sz="1300" b="1" dirty="0" err="1">
                <a:solidFill>
                  <a:srgbClr val="3366FF"/>
                </a:solidFill>
              </a:rPr>
              <a:t>blockDim.x</a:t>
            </a:r>
            <a:r>
              <a:rPr lang="en-US" sz="1300" b="1" dirty="0">
                <a:solidFill>
                  <a:srgbClr val="3366FF"/>
                </a:solidFill>
              </a:rPr>
              <a:t> + </a:t>
            </a:r>
            <a:r>
              <a:rPr lang="en-US" sz="1300" b="1" dirty="0" err="1">
                <a:solidFill>
                  <a:srgbClr val="3366FF"/>
                </a:solidFill>
              </a:rPr>
              <a:t>threadIdx.x</a:t>
            </a:r>
            <a:r>
              <a:rPr lang="en-US" sz="1300" b="1" dirty="0">
                <a:solidFill>
                  <a:srgbClr val="3366FF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3366FF"/>
                </a:solidFill>
              </a:rPr>
              <a:t>    unsigned int t = </a:t>
            </a:r>
            <a:r>
              <a:rPr lang="en-US" sz="1300" b="1" dirty="0" err="1">
                <a:solidFill>
                  <a:srgbClr val="3366FF"/>
                </a:solidFill>
              </a:rPr>
              <a:t>threadIdx.x</a:t>
            </a:r>
            <a:r>
              <a:rPr lang="en-US" sz="1300" b="1" dirty="0">
                <a:solidFill>
                  <a:srgbClr val="3366FF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3366FF"/>
                </a:solidFill>
              </a:rPr>
              <a:t>    unsigned int start = 2*</a:t>
            </a:r>
            <a:r>
              <a:rPr lang="en-US" sz="1300" b="1" dirty="0" err="1">
                <a:solidFill>
                  <a:srgbClr val="3366FF"/>
                </a:solidFill>
              </a:rPr>
              <a:t>blockIdx.x</a:t>
            </a:r>
            <a:r>
              <a:rPr lang="en-US" sz="1300" b="1" dirty="0">
                <a:solidFill>
                  <a:srgbClr val="3366FF"/>
                </a:solidFill>
              </a:rPr>
              <a:t>*</a:t>
            </a:r>
            <a:r>
              <a:rPr lang="en-US" sz="1300" b="1" dirty="0" err="1">
                <a:solidFill>
                  <a:srgbClr val="3366FF"/>
                </a:solidFill>
              </a:rPr>
              <a:t>blockDim.x</a:t>
            </a:r>
            <a:r>
              <a:rPr lang="en-US" sz="1300" b="1" dirty="0">
                <a:solidFill>
                  <a:srgbClr val="3366FF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3366FF"/>
                </a:solidFill>
              </a:rPr>
              <a:t>    if ((start + t) &lt; </a:t>
            </a:r>
            <a:r>
              <a:rPr lang="en-US" sz="1300" b="1" dirty="0" err="1">
                <a:solidFill>
                  <a:srgbClr val="3366FF"/>
                </a:solidFill>
              </a:rPr>
              <a:t>len</a:t>
            </a:r>
            <a:r>
              <a:rPr lang="en-US" sz="1300" b="1" dirty="0">
                <a:solidFill>
                  <a:srgbClr val="3366FF"/>
                </a:solidFill>
              </a:rPr>
              <a:t>)    {        </a:t>
            </a:r>
            <a:r>
              <a:rPr lang="en-US" sz="1300" b="1" dirty="0" err="1">
                <a:solidFill>
                  <a:srgbClr val="3366FF"/>
                </a:solidFill>
              </a:rPr>
              <a:t>partialSum</a:t>
            </a:r>
            <a:r>
              <a:rPr lang="en-US" sz="1300" b="1" dirty="0">
                <a:solidFill>
                  <a:srgbClr val="3366FF"/>
                </a:solidFill>
              </a:rPr>
              <a:t>[t] = input[start + t];    }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3366FF"/>
                </a:solidFill>
              </a:rPr>
              <a:t>    else    {        </a:t>
            </a:r>
            <a:r>
              <a:rPr lang="en-US" sz="1300" b="1" dirty="0" err="1">
                <a:solidFill>
                  <a:srgbClr val="3366FF"/>
                </a:solidFill>
              </a:rPr>
              <a:t>partialSum</a:t>
            </a:r>
            <a:r>
              <a:rPr lang="en-US" sz="1300" b="1" dirty="0">
                <a:solidFill>
                  <a:srgbClr val="3366FF"/>
                </a:solidFill>
              </a:rPr>
              <a:t>[t] = 0.0;    }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3366FF"/>
                </a:solidFill>
              </a:rPr>
              <a:t>    if ((start + </a:t>
            </a:r>
            <a:r>
              <a:rPr lang="en-US" sz="1300" b="1" dirty="0" err="1">
                <a:solidFill>
                  <a:srgbClr val="3366FF"/>
                </a:solidFill>
              </a:rPr>
              <a:t>blockDim.x</a:t>
            </a:r>
            <a:r>
              <a:rPr lang="en-US" sz="1300" b="1" dirty="0">
                <a:solidFill>
                  <a:srgbClr val="3366FF"/>
                </a:solidFill>
              </a:rPr>
              <a:t> + t) &lt; </a:t>
            </a:r>
            <a:r>
              <a:rPr lang="en-US" sz="1300" b="1" dirty="0" err="1">
                <a:solidFill>
                  <a:srgbClr val="3366FF"/>
                </a:solidFill>
              </a:rPr>
              <a:t>len</a:t>
            </a:r>
            <a:r>
              <a:rPr lang="en-US" sz="1300" b="1" dirty="0">
                <a:solidFill>
                  <a:srgbClr val="3366FF"/>
                </a:solidFill>
              </a:rPr>
              <a:t>)    {        </a:t>
            </a:r>
            <a:r>
              <a:rPr lang="en-US" sz="1300" b="1" dirty="0" err="1">
                <a:solidFill>
                  <a:srgbClr val="3366FF"/>
                </a:solidFill>
              </a:rPr>
              <a:t>partialSum</a:t>
            </a:r>
            <a:r>
              <a:rPr lang="en-US" sz="1300" b="1" dirty="0">
                <a:solidFill>
                  <a:srgbClr val="3366FF"/>
                </a:solidFill>
              </a:rPr>
              <a:t>[</a:t>
            </a:r>
            <a:r>
              <a:rPr lang="en-US" sz="1300" b="1" dirty="0" err="1">
                <a:solidFill>
                  <a:srgbClr val="3366FF"/>
                </a:solidFill>
              </a:rPr>
              <a:t>blockDim.x</a:t>
            </a:r>
            <a:r>
              <a:rPr lang="en-US" sz="1300" b="1" dirty="0">
                <a:solidFill>
                  <a:srgbClr val="3366FF"/>
                </a:solidFill>
              </a:rPr>
              <a:t> + t] = input[start + </a:t>
            </a:r>
            <a:r>
              <a:rPr lang="en-US" sz="1300" b="1" dirty="0" err="1">
                <a:solidFill>
                  <a:srgbClr val="3366FF"/>
                </a:solidFill>
              </a:rPr>
              <a:t>blockDim.x</a:t>
            </a:r>
            <a:r>
              <a:rPr lang="en-US" sz="1300" b="1" dirty="0">
                <a:solidFill>
                  <a:srgbClr val="3366FF"/>
                </a:solidFill>
              </a:rPr>
              <a:t> + t];    }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3366FF"/>
                </a:solidFill>
              </a:rPr>
              <a:t>    else    {        </a:t>
            </a:r>
            <a:r>
              <a:rPr lang="en-US" sz="1300" b="1" dirty="0" err="1">
                <a:solidFill>
                  <a:srgbClr val="3366FF"/>
                </a:solidFill>
              </a:rPr>
              <a:t>partialSum</a:t>
            </a:r>
            <a:r>
              <a:rPr lang="en-US" sz="1300" b="1" dirty="0">
                <a:solidFill>
                  <a:srgbClr val="3366FF"/>
                </a:solidFill>
              </a:rPr>
              <a:t>[</a:t>
            </a:r>
            <a:r>
              <a:rPr lang="en-US" sz="1300" b="1" dirty="0" err="1">
                <a:solidFill>
                  <a:srgbClr val="3366FF"/>
                </a:solidFill>
              </a:rPr>
              <a:t>blockDim.x</a:t>
            </a:r>
            <a:r>
              <a:rPr lang="en-US" sz="1300" b="1" dirty="0">
                <a:solidFill>
                  <a:srgbClr val="3366FF"/>
                </a:solidFill>
              </a:rPr>
              <a:t> + t] = 0.0;    }</a:t>
            </a:r>
          </a:p>
          <a:p>
            <a:pPr marL="0" indent="0">
              <a:buNone/>
            </a:pPr>
            <a:r>
              <a:rPr lang="en-US" sz="1300" b="1" dirty="0">
                <a:solidFill>
                  <a:schemeClr val="bg2"/>
                </a:solidFill>
              </a:rPr>
              <a:t>    // Traverse reduction tree…  (on each block)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3366FF"/>
                </a:solidFill>
              </a:rPr>
              <a:t>    for (unsigned int stride = </a:t>
            </a:r>
            <a:r>
              <a:rPr lang="en-US" sz="1300" b="1" dirty="0" err="1">
                <a:solidFill>
                  <a:srgbClr val="3366FF"/>
                </a:solidFill>
              </a:rPr>
              <a:t>blockDim.x</a:t>
            </a:r>
            <a:r>
              <a:rPr lang="en-US" sz="1300" b="1" dirty="0">
                <a:solidFill>
                  <a:srgbClr val="3366FF"/>
                </a:solidFill>
              </a:rPr>
              <a:t>; stride &gt; 0; stride /= 2)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3366FF"/>
                </a:solidFill>
              </a:rPr>
              <a:t>    {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3366FF"/>
                </a:solidFill>
              </a:rPr>
              <a:t>      __</a:t>
            </a:r>
            <a:r>
              <a:rPr lang="en-US" sz="1300" b="1" dirty="0" err="1">
                <a:solidFill>
                  <a:srgbClr val="3366FF"/>
                </a:solidFill>
              </a:rPr>
              <a:t>syncthreads</a:t>
            </a:r>
            <a:r>
              <a:rPr lang="en-US" sz="1300" b="1" dirty="0">
                <a:solidFill>
                  <a:srgbClr val="3366FF"/>
                </a:solidFill>
              </a:rPr>
              <a:t>();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3366FF"/>
                </a:solidFill>
              </a:rPr>
              <a:t>        if (t &lt; stride)            </a:t>
            </a:r>
            <a:r>
              <a:rPr lang="en-US" sz="1300" b="1" dirty="0" err="1">
                <a:solidFill>
                  <a:srgbClr val="3366FF"/>
                </a:solidFill>
              </a:rPr>
              <a:t>partialSum</a:t>
            </a:r>
            <a:r>
              <a:rPr lang="en-US" sz="1300" b="1" dirty="0">
                <a:solidFill>
                  <a:srgbClr val="3366FF"/>
                </a:solidFill>
              </a:rPr>
              <a:t>[t] += </a:t>
            </a:r>
            <a:r>
              <a:rPr lang="en-US" sz="1300" b="1" dirty="0" err="1">
                <a:solidFill>
                  <a:srgbClr val="3366FF"/>
                </a:solidFill>
              </a:rPr>
              <a:t>partialSum</a:t>
            </a:r>
            <a:r>
              <a:rPr lang="en-US" sz="1300" b="1" dirty="0">
                <a:solidFill>
                  <a:srgbClr val="3366FF"/>
                </a:solidFill>
              </a:rPr>
              <a:t>[t + stride];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3366FF"/>
                </a:solidFill>
              </a:rPr>
              <a:t>    }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3366FF"/>
                </a:solidFill>
              </a:rPr>
              <a:t>    __</a:t>
            </a:r>
            <a:r>
              <a:rPr lang="en-US" sz="1300" b="1" dirty="0" err="1">
                <a:solidFill>
                  <a:srgbClr val="3366FF"/>
                </a:solidFill>
              </a:rPr>
              <a:t>syncthreads</a:t>
            </a:r>
            <a:r>
              <a:rPr lang="en-US" sz="1300" b="1" dirty="0">
                <a:solidFill>
                  <a:srgbClr val="3366FF"/>
                </a:solidFill>
              </a:rPr>
              <a:t>();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3366FF"/>
                </a:solidFill>
              </a:rPr>
              <a:t>    /</a:t>
            </a:r>
            <a:r>
              <a:rPr lang="en-US" sz="1300" b="1" dirty="0">
                <a:solidFill>
                  <a:schemeClr val="bg2"/>
                </a:solidFill>
              </a:rPr>
              <a:t>/ Write the computed sum of the block to the output vector at correct index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3366FF"/>
                </a:solidFill>
              </a:rPr>
              <a:t>    if (t == 0 &amp;&amp; (</a:t>
            </a:r>
            <a:r>
              <a:rPr lang="en-US" sz="1300" b="1" dirty="0" err="1">
                <a:solidFill>
                  <a:srgbClr val="3366FF"/>
                </a:solidFill>
              </a:rPr>
              <a:t>globalThreadId</a:t>
            </a:r>
            <a:r>
              <a:rPr lang="en-US" sz="1300" b="1" dirty="0">
                <a:solidFill>
                  <a:srgbClr val="3366FF"/>
                </a:solidFill>
              </a:rPr>
              <a:t>*2) &lt; </a:t>
            </a:r>
            <a:r>
              <a:rPr lang="en-US" sz="1300" b="1" dirty="0" err="1">
                <a:solidFill>
                  <a:srgbClr val="3366FF"/>
                </a:solidFill>
              </a:rPr>
              <a:t>len</a:t>
            </a:r>
            <a:r>
              <a:rPr lang="en-US" sz="1300" b="1" dirty="0">
                <a:solidFill>
                  <a:srgbClr val="3366FF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3366FF"/>
                </a:solidFill>
              </a:rPr>
              <a:t>    {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3366FF"/>
                </a:solidFill>
              </a:rPr>
              <a:t>        output[</a:t>
            </a:r>
            <a:r>
              <a:rPr lang="en-US" sz="1300" b="1" dirty="0" err="1">
                <a:solidFill>
                  <a:srgbClr val="3366FF"/>
                </a:solidFill>
              </a:rPr>
              <a:t>blockIdx.x</a:t>
            </a:r>
            <a:r>
              <a:rPr lang="en-US" sz="1300" b="1" dirty="0">
                <a:solidFill>
                  <a:srgbClr val="3366FF"/>
                </a:solidFill>
              </a:rPr>
              <a:t>] = </a:t>
            </a:r>
            <a:r>
              <a:rPr lang="en-US" sz="1300" b="1" dirty="0" err="1">
                <a:solidFill>
                  <a:srgbClr val="3366FF"/>
                </a:solidFill>
              </a:rPr>
              <a:t>partialSum</a:t>
            </a:r>
            <a:r>
              <a:rPr lang="en-US" sz="1300" b="1" dirty="0">
                <a:solidFill>
                  <a:srgbClr val="3366FF"/>
                </a:solidFill>
              </a:rPr>
              <a:t>[t];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3366FF"/>
                </a:solidFill>
              </a:rPr>
              <a:t>    }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3366FF"/>
                </a:solidFill>
              </a:rPr>
              <a:t>}</a:t>
            </a:r>
          </a:p>
          <a:p>
            <a:pPr marL="0" indent="0">
              <a:buNone/>
            </a:pPr>
            <a:endParaRPr lang="en-US" sz="12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CE1883-A6D4-5941-AFAE-EE8673087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 dirty="0" err="1"/>
              <a:t>Curs</a:t>
            </a:r>
            <a:r>
              <a:rPr lang="fr-FR" altLang="zh-TW" dirty="0"/>
              <a:t> 11 - PPD</a:t>
            </a:r>
            <a:endParaRPr lang="es-ES" altLang="zh-TW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CDEC6E-5DEA-3C4F-89F6-5539AACC3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43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19104009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F350F-B2CB-CF4E-894A-6D6C1E930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6526"/>
            <a:ext cx="8229600" cy="5989638"/>
          </a:xfrm>
        </p:spPr>
        <p:txBody>
          <a:bodyPr/>
          <a:lstStyle/>
          <a:p>
            <a:pPr marL="0" indent="0">
              <a:buNone/>
            </a:pPr>
            <a:r>
              <a:rPr lang="en-US" sz="1400" b="1" dirty="0">
                <a:solidFill>
                  <a:srgbClr val="3366FF"/>
                </a:solidFill>
              </a:rPr>
              <a:t>int main(int </a:t>
            </a:r>
            <a:r>
              <a:rPr lang="en-US" sz="1400" b="1" dirty="0" err="1">
                <a:solidFill>
                  <a:srgbClr val="3366FF"/>
                </a:solidFill>
              </a:rPr>
              <a:t>argc</a:t>
            </a:r>
            <a:r>
              <a:rPr lang="en-US" sz="1400" b="1" dirty="0">
                <a:solidFill>
                  <a:srgbClr val="3366FF"/>
                </a:solidFill>
              </a:rPr>
              <a:t>, char ** </a:t>
            </a:r>
            <a:r>
              <a:rPr lang="en-US" sz="1400" b="1" dirty="0" err="1">
                <a:solidFill>
                  <a:srgbClr val="3366FF"/>
                </a:solidFill>
              </a:rPr>
              <a:t>argv</a:t>
            </a:r>
            <a:r>
              <a:rPr lang="en-US" sz="1400" b="1" dirty="0">
                <a:solidFill>
                  <a:srgbClr val="3366FF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3366FF"/>
                </a:solidFill>
              </a:rPr>
              <a:t>{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3366FF"/>
                </a:solidFill>
              </a:rPr>
              <a:t>    int ii;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3366FF"/>
                </a:solidFill>
              </a:rPr>
              <a:t>    float * </a:t>
            </a:r>
            <a:r>
              <a:rPr lang="en-US" sz="1400" b="1" dirty="0" err="1">
                <a:solidFill>
                  <a:srgbClr val="3366FF"/>
                </a:solidFill>
              </a:rPr>
              <a:t>hostInput</a:t>
            </a:r>
            <a:r>
              <a:rPr lang="en-US" sz="1400" b="1" dirty="0">
                <a:solidFill>
                  <a:srgbClr val="3366FF"/>
                </a:solidFill>
              </a:rPr>
              <a:t>; </a:t>
            </a:r>
            <a:r>
              <a:rPr lang="en-US" sz="1400" b="1" dirty="0">
                <a:solidFill>
                  <a:schemeClr val="bg2"/>
                </a:solidFill>
              </a:rPr>
              <a:t>// The input 1D vector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3366FF"/>
                </a:solidFill>
              </a:rPr>
              <a:t>    float * </a:t>
            </a:r>
            <a:r>
              <a:rPr lang="en-US" sz="1400" b="1" dirty="0" err="1">
                <a:solidFill>
                  <a:srgbClr val="3366FF"/>
                </a:solidFill>
              </a:rPr>
              <a:t>hostOutput</a:t>
            </a:r>
            <a:r>
              <a:rPr lang="en-US" sz="1400" b="1" dirty="0">
                <a:solidFill>
                  <a:srgbClr val="3366FF"/>
                </a:solidFill>
              </a:rPr>
              <a:t>; </a:t>
            </a:r>
            <a:r>
              <a:rPr lang="en-US" sz="1400" b="1" dirty="0">
                <a:solidFill>
                  <a:schemeClr val="bg2"/>
                </a:solidFill>
              </a:rPr>
              <a:t>// The output vector (partial sums)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3366FF"/>
                </a:solidFill>
              </a:rPr>
              <a:t>    float * </a:t>
            </a:r>
            <a:r>
              <a:rPr lang="en-US" sz="1400" b="1" dirty="0" err="1">
                <a:solidFill>
                  <a:srgbClr val="3366FF"/>
                </a:solidFill>
              </a:rPr>
              <a:t>deviceInput</a:t>
            </a:r>
            <a:r>
              <a:rPr lang="en-US" sz="1400" b="1" dirty="0">
                <a:solidFill>
                  <a:srgbClr val="3366FF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3366FF"/>
                </a:solidFill>
              </a:rPr>
              <a:t>    float * </a:t>
            </a:r>
            <a:r>
              <a:rPr lang="en-US" sz="1400" b="1" dirty="0" err="1">
                <a:solidFill>
                  <a:srgbClr val="3366FF"/>
                </a:solidFill>
              </a:rPr>
              <a:t>deviceOutput</a:t>
            </a:r>
            <a:r>
              <a:rPr lang="en-US" sz="1400" b="1" dirty="0">
                <a:solidFill>
                  <a:srgbClr val="3366FF"/>
                </a:solidFill>
              </a:rPr>
              <a:t>;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3366FF"/>
                </a:solidFill>
              </a:rPr>
              <a:t>    int </a:t>
            </a:r>
            <a:r>
              <a:rPr lang="en-US" sz="1400" b="1" dirty="0" err="1">
                <a:solidFill>
                  <a:srgbClr val="3366FF"/>
                </a:solidFill>
              </a:rPr>
              <a:t>numInputElements</a:t>
            </a:r>
            <a:r>
              <a:rPr lang="en-US" sz="1400" b="1" dirty="0">
                <a:solidFill>
                  <a:srgbClr val="3366FF"/>
                </a:solidFill>
              </a:rPr>
              <a:t> = NUM_OF_ELEMS; </a:t>
            </a:r>
            <a:r>
              <a:rPr lang="en-US" sz="1400" b="1" dirty="0">
                <a:solidFill>
                  <a:schemeClr val="bg2"/>
                </a:solidFill>
              </a:rPr>
              <a:t>// number of elements in the input list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3366FF"/>
                </a:solidFill>
              </a:rPr>
              <a:t>    int </a:t>
            </a:r>
            <a:r>
              <a:rPr lang="en-US" sz="1400" b="1" dirty="0" err="1">
                <a:solidFill>
                  <a:srgbClr val="3366FF"/>
                </a:solidFill>
              </a:rPr>
              <a:t>numOutputElements</a:t>
            </a:r>
            <a:r>
              <a:rPr lang="en-US" sz="1400" b="1" dirty="0">
                <a:solidFill>
                  <a:srgbClr val="3366FF"/>
                </a:solidFill>
              </a:rPr>
              <a:t>; </a:t>
            </a:r>
            <a:r>
              <a:rPr lang="en-US" sz="1400" b="1" dirty="0">
                <a:solidFill>
                  <a:schemeClr val="bg2"/>
                </a:solidFill>
              </a:rPr>
              <a:t>// number of elements in the output list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3366FF"/>
                </a:solidFill>
              </a:rPr>
              <a:t>    </a:t>
            </a:r>
            <a:r>
              <a:rPr lang="en-US" sz="1400" b="1" dirty="0" err="1">
                <a:solidFill>
                  <a:srgbClr val="3366FF"/>
                </a:solidFill>
              </a:rPr>
              <a:t>hostInput</a:t>
            </a:r>
            <a:r>
              <a:rPr lang="en-US" sz="1400" b="1" dirty="0">
                <a:solidFill>
                  <a:srgbClr val="3366FF"/>
                </a:solidFill>
              </a:rPr>
              <a:t> = (float *) malloc(</a:t>
            </a:r>
            <a:r>
              <a:rPr lang="en-US" sz="1400" b="1" dirty="0" err="1">
                <a:solidFill>
                  <a:srgbClr val="3366FF"/>
                </a:solidFill>
              </a:rPr>
              <a:t>sizeof</a:t>
            </a:r>
            <a:r>
              <a:rPr lang="en-US" sz="1400" b="1" dirty="0">
                <a:solidFill>
                  <a:srgbClr val="3366FF"/>
                </a:solidFill>
              </a:rPr>
              <a:t>(float) * </a:t>
            </a:r>
            <a:r>
              <a:rPr lang="en-US" sz="1400" b="1" dirty="0" err="1">
                <a:solidFill>
                  <a:srgbClr val="3366FF"/>
                </a:solidFill>
              </a:rPr>
              <a:t>numInputElements</a:t>
            </a:r>
            <a:r>
              <a:rPr lang="en-US" sz="1400" b="1" dirty="0">
                <a:solidFill>
                  <a:srgbClr val="3366FF"/>
                </a:solidFill>
              </a:rPr>
              <a:t>);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3366FF"/>
                </a:solidFill>
              </a:rPr>
              <a:t>    </a:t>
            </a:r>
            <a:r>
              <a:rPr lang="en-US" sz="1400" b="1" dirty="0">
                <a:solidFill>
                  <a:schemeClr val="bg2"/>
                </a:solidFill>
              </a:rPr>
              <a:t>//initialization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3366FF"/>
                </a:solidFill>
              </a:rPr>
              <a:t>    for (int </a:t>
            </a:r>
            <a:r>
              <a:rPr lang="en-US" sz="1400" b="1" dirty="0" err="1">
                <a:solidFill>
                  <a:srgbClr val="3366FF"/>
                </a:solidFill>
              </a:rPr>
              <a:t>i</a:t>
            </a:r>
            <a:r>
              <a:rPr lang="en-US" sz="1400" b="1" dirty="0">
                <a:solidFill>
                  <a:srgbClr val="3366FF"/>
                </a:solidFill>
              </a:rPr>
              <a:t>=0; </a:t>
            </a:r>
            <a:r>
              <a:rPr lang="en-US" sz="1400" b="1" dirty="0" err="1">
                <a:solidFill>
                  <a:srgbClr val="3366FF"/>
                </a:solidFill>
              </a:rPr>
              <a:t>i</a:t>
            </a:r>
            <a:r>
              <a:rPr lang="en-US" sz="1400" b="1" dirty="0">
                <a:solidFill>
                  <a:srgbClr val="3366FF"/>
                </a:solidFill>
              </a:rPr>
              <a:t> &lt; NUM_OF_ELEMS; </a:t>
            </a:r>
            <a:r>
              <a:rPr lang="en-US" sz="1400" b="1" dirty="0" err="1">
                <a:solidFill>
                  <a:srgbClr val="3366FF"/>
                </a:solidFill>
              </a:rPr>
              <a:t>i</a:t>
            </a:r>
            <a:r>
              <a:rPr lang="en-US" sz="1400" b="1" dirty="0">
                <a:solidFill>
                  <a:srgbClr val="3366FF"/>
                </a:solidFill>
              </a:rPr>
              <a:t>++)    {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3366FF"/>
                </a:solidFill>
              </a:rPr>
              <a:t>        </a:t>
            </a:r>
            <a:r>
              <a:rPr lang="en-US" sz="1400" b="1" dirty="0" err="1">
                <a:solidFill>
                  <a:srgbClr val="3366FF"/>
                </a:solidFill>
              </a:rPr>
              <a:t>hostInput</a:t>
            </a:r>
            <a:r>
              <a:rPr lang="en-US" sz="1400" b="1" dirty="0">
                <a:solidFill>
                  <a:srgbClr val="3366FF"/>
                </a:solidFill>
              </a:rPr>
              <a:t>[</a:t>
            </a:r>
            <a:r>
              <a:rPr lang="en-US" sz="1400" b="1" dirty="0" err="1">
                <a:solidFill>
                  <a:srgbClr val="3366FF"/>
                </a:solidFill>
              </a:rPr>
              <a:t>i</a:t>
            </a:r>
            <a:r>
              <a:rPr lang="en-US" sz="1400" b="1" dirty="0">
                <a:solidFill>
                  <a:srgbClr val="3366FF"/>
                </a:solidFill>
              </a:rPr>
              <a:t>] = </a:t>
            </a:r>
            <a:r>
              <a:rPr lang="en-US" sz="1400" b="1" dirty="0" err="1">
                <a:solidFill>
                  <a:srgbClr val="3366FF"/>
                </a:solidFill>
              </a:rPr>
              <a:t>i</a:t>
            </a:r>
            <a:r>
              <a:rPr lang="en-US" sz="1400" b="1" dirty="0">
                <a:solidFill>
                  <a:srgbClr val="3366FF"/>
                </a:solidFill>
              </a:rPr>
              <a:t>;     // set the input values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3366FF"/>
                </a:solidFill>
              </a:rPr>
              <a:t>    }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3366FF"/>
                </a:solidFill>
              </a:rPr>
              <a:t>    </a:t>
            </a:r>
            <a:r>
              <a:rPr lang="en-US" sz="1400" b="1" dirty="0" err="1">
                <a:solidFill>
                  <a:srgbClr val="3366FF"/>
                </a:solidFill>
              </a:rPr>
              <a:t>numOutputElements</a:t>
            </a:r>
            <a:r>
              <a:rPr lang="en-US" sz="1400" b="1" dirty="0">
                <a:solidFill>
                  <a:srgbClr val="3366FF"/>
                </a:solidFill>
              </a:rPr>
              <a:t> = </a:t>
            </a:r>
            <a:r>
              <a:rPr lang="en-US" sz="1400" b="1" dirty="0" err="1">
                <a:solidFill>
                  <a:srgbClr val="3366FF"/>
                </a:solidFill>
              </a:rPr>
              <a:t>numInputElements</a:t>
            </a:r>
            <a:r>
              <a:rPr lang="en-US" sz="1400" b="1" dirty="0">
                <a:solidFill>
                  <a:srgbClr val="3366FF"/>
                </a:solidFill>
              </a:rPr>
              <a:t> / (BLOCK_SIZE&lt;&lt;1); 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3366FF"/>
                </a:solidFill>
              </a:rPr>
              <a:t>   if (</a:t>
            </a:r>
            <a:r>
              <a:rPr lang="en-US" sz="1400" b="1" dirty="0" err="1">
                <a:solidFill>
                  <a:srgbClr val="3366FF"/>
                </a:solidFill>
              </a:rPr>
              <a:t>numInputElements</a:t>
            </a:r>
            <a:r>
              <a:rPr lang="en-US" sz="1400" b="1" dirty="0">
                <a:solidFill>
                  <a:srgbClr val="3366FF"/>
                </a:solidFill>
              </a:rPr>
              <a:t> % (BLOCK_SIZE&lt;&lt;1))    {        </a:t>
            </a:r>
            <a:r>
              <a:rPr lang="en-US" sz="1400" b="1" dirty="0" err="1">
                <a:solidFill>
                  <a:srgbClr val="3366FF"/>
                </a:solidFill>
              </a:rPr>
              <a:t>numOutputElements</a:t>
            </a:r>
            <a:r>
              <a:rPr lang="en-US" sz="1400" b="1" dirty="0">
                <a:solidFill>
                  <a:srgbClr val="3366FF"/>
                </a:solidFill>
              </a:rPr>
              <a:t>++;    }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3366FF"/>
                </a:solidFill>
              </a:rPr>
              <a:t>    </a:t>
            </a:r>
            <a:r>
              <a:rPr lang="en-US" sz="1400" b="1" dirty="0" err="1">
                <a:solidFill>
                  <a:srgbClr val="3366FF"/>
                </a:solidFill>
              </a:rPr>
              <a:t>hostOutput</a:t>
            </a:r>
            <a:r>
              <a:rPr lang="en-US" sz="1400" b="1" dirty="0">
                <a:solidFill>
                  <a:srgbClr val="3366FF"/>
                </a:solidFill>
              </a:rPr>
              <a:t> = (float*) malloc(</a:t>
            </a:r>
            <a:r>
              <a:rPr lang="en-US" sz="1400" b="1" dirty="0" err="1">
                <a:solidFill>
                  <a:srgbClr val="3366FF"/>
                </a:solidFill>
              </a:rPr>
              <a:t>numOutputElements</a:t>
            </a:r>
            <a:r>
              <a:rPr lang="en-US" sz="1400" b="1" dirty="0">
                <a:solidFill>
                  <a:srgbClr val="3366FF"/>
                </a:solidFill>
              </a:rPr>
              <a:t> * </a:t>
            </a:r>
            <a:r>
              <a:rPr lang="en-US" sz="1400" b="1" dirty="0" err="1">
                <a:solidFill>
                  <a:srgbClr val="3366FF"/>
                </a:solidFill>
              </a:rPr>
              <a:t>sizeof</a:t>
            </a:r>
            <a:r>
              <a:rPr lang="en-US" sz="1400" b="1" dirty="0">
                <a:solidFill>
                  <a:srgbClr val="3366FF"/>
                </a:solidFill>
              </a:rPr>
              <a:t>(float));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bg2"/>
                </a:solidFill>
              </a:rPr>
              <a:t>    //@Allocate GPU memory 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3366FF"/>
                </a:solidFill>
              </a:rPr>
              <a:t>    </a:t>
            </a:r>
            <a:r>
              <a:rPr lang="en-US" sz="1400" b="1" dirty="0" err="1">
                <a:solidFill>
                  <a:srgbClr val="3366FF"/>
                </a:solidFill>
              </a:rPr>
              <a:t>cudaMalloc</a:t>
            </a:r>
            <a:r>
              <a:rPr lang="en-US" sz="1400" b="1" dirty="0">
                <a:solidFill>
                  <a:srgbClr val="3366FF"/>
                </a:solidFill>
              </a:rPr>
              <a:t>((void **)&amp;</a:t>
            </a:r>
            <a:r>
              <a:rPr lang="en-US" sz="1400" b="1" dirty="0" err="1">
                <a:solidFill>
                  <a:srgbClr val="3366FF"/>
                </a:solidFill>
              </a:rPr>
              <a:t>deviceInput</a:t>
            </a:r>
            <a:r>
              <a:rPr lang="en-US" sz="1400" b="1" dirty="0">
                <a:solidFill>
                  <a:srgbClr val="3366FF"/>
                </a:solidFill>
              </a:rPr>
              <a:t>, </a:t>
            </a:r>
            <a:r>
              <a:rPr lang="en-US" sz="1400" b="1" dirty="0" err="1">
                <a:solidFill>
                  <a:srgbClr val="3366FF"/>
                </a:solidFill>
              </a:rPr>
              <a:t>numInputElements</a:t>
            </a:r>
            <a:r>
              <a:rPr lang="en-US" sz="1400" b="1" dirty="0">
                <a:solidFill>
                  <a:srgbClr val="3366FF"/>
                </a:solidFill>
              </a:rPr>
              <a:t> * </a:t>
            </a:r>
            <a:r>
              <a:rPr lang="en-US" sz="1400" b="1" dirty="0" err="1">
                <a:solidFill>
                  <a:srgbClr val="3366FF"/>
                </a:solidFill>
              </a:rPr>
              <a:t>sizeof</a:t>
            </a:r>
            <a:r>
              <a:rPr lang="en-US" sz="1400" b="1" dirty="0">
                <a:solidFill>
                  <a:srgbClr val="3366FF"/>
                </a:solidFill>
              </a:rPr>
              <a:t>(float));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3366FF"/>
                </a:solidFill>
              </a:rPr>
              <a:t>    </a:t>
            </a:r>
            <a:r>
              <a:rPr lang="en-US" sz="1400" b="1" dirty="0" err="1">
                <a:solidFill>
                  <a:srgbClr val="3366FF"/>
                </a:solidFill>
              </a:rPr>
              <a:t>cudaMalloc</a:t>
            </a:r>
            <a:r>
              <a:rPr lang="en-US" sz="1400" b="1" dirty="0">
                <a:solidFill>
                  <a:srgbClr val="3366FF"/>
                </a:solidFill>
              </a:rPr>
              <a:t>((void **)&amp;</a:t>
            </a:r>
            <a:r>
              <a:rPr lang="en-US" sz="1400" b="1" dirty="0" err="1">
                <a:solidFill>
                  <a:srgbClr val="3366FF"/>
                </a:solidFill>
              </a:rPr>
              <a:t>deviceOutput</a:t>
            </a:r>
            <a:r>
              <a:rPr lang="en-US" sz="1400" b="1" dirty="0">
                <a:solidFill>
                  <a:srgbClr val="3366FF"/>
                </a:solidFill>
              </a:rPr>
              <a:t>, </a:t>
            </a:r>
            <a:r>
              <a:rPr lang="en-US" sz="1400" b="1" dirty="0" err="1">
                <a:solidFill>
                  <a:srgbClr val="3366FF"/>
                </a:solidFill>
              </a:rPr>
              <a:t>numOutputElements</a:t>
            </a:r>
            <a:r>
              <a:rPr lang="en-US" sz="1400" b="1" dirty="0">
                <a:solidFill>
                  <a:srgbClr val="3366FF"/>
                </a:solidFill>
              </a:rPr>
              <a:t> * </a:t>
            </a:r>
            <a:r>
              <a:rPr lang="en-US" sz="1400" b="1" dirty="0" err="1">
                <a:solidFill>
                  <a:srgbClr val="3366FF"/>
                </a:solidFill>
              </a:rPr>
              <a:t>sizeof</a:t>
            </a:r>
            <a:r>
              <a:rPr lang="en-US" sz="1400" b="1" dirty="0">
                <a:solidFill>
                  <a:srgbClr val="3366FF"/>
                </a:solidFill>
              </a:rPr>
              <a:t>(float));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3366FF"/>
                </a:solidFill>
              </a:rPr>
              <a:t>    </a:t>
            </a:r>
            <a:r>
              <a:rPr lang="en-US" sz="1400" b="1" dirty="0">
                <a:solidFill>
                  <a:schemeClr val="bg2"/>
                </a:solidFill>
              </a:rPr>
              <a:t>// Copy memory to the GPU </a:t>
            </a:r>
          </a:p>
          <a:p>
            <a:pPr marL="0" indent="0">
              <a:buNone/>
            </a:pPr>
            <a:r>
              <a:rPr lang="en-US" sz="1400" b="1" dirty="0" err="1">
                <a:solidFill>
                  <a:srgbClr val="3366FF"/>
                </a:solidFill>
              </a:rPr>
              <a:t>cudaMemcpy</a:t>
            </a:r>
            <a:r>
              <a:rPr lang="en-US" sz="1400" b="1" dirty="0">
                <a:solidFill>
                  <a:srgbClr val="3366FF"/>
                </a:solidFill>
              </a:rPr>
              <a:t>(</a:t>
            </a:r>
            <a:r>
              <a:rPr lang="en-US" sz="1400" b="1" dirty="0" err="1">
                <a:solidFill>
                  <a:srgbClr val="3366FF"/>
                </a:solidFill>
              </a:rPr>
              <a:t>deviceInput</a:t>
            </a:r>
            <a:r>
              <a:rPr lang="en-US" sz="1400" b="1" dirty="0">
                <a:solidFill>
                  <a:srgbClr val="3366FF"/>
                </a:solidFill>
              </a:rPr>
              <a:t>, </a:t>
            </a:r>
            <a:r>
              <a:rPr lang="en-US" sz="1400" b="1" dirty="0" err="1">
                <a:solidFill>
                  <a:srgbClr val="3366FF"/>
                </a:solidFill>
              </a:rPr>
              <a:t>hostInput</a:t>
            </a:r>
            <a:r>
              <a:rPr lang="en-US" sz="1400" b="1" dirty="0">
                <a:solidFill>
                  <a:srgbClr val="3366FF"/>
                </a:solidFill>
              </a:rPr>
              <a:t>, </a:t>
            </a:r>
            <a:r>
              <a:rPr lang="en-US" sz="1400" b="1" dirty="0" err="1">
                <a:solidFill>
                  <a:srgbClr val="3366FF"/>
                </a:solidFill>
              </a:rPr>
              <a:t>numInputElements</a:t>
            </a:r>
            <a:r>
              <a:rPr lang="en-US" sz="1400" b="1" dirty="0">
                <a:solidFill>
                  <a:srgbClr val="3366FF"/>
                </a:solidFill>
              </a:rPr>
              <a:t> * </a:t>
            </a:r>
            <a:r>
              <a:rPr lang="en-US" sz="1400" b="1" dirty="0" err="1">
                <a:solidFill>
                  <a:srgbClr val="3366FF"/>
                </a:solidFill>
              </a:rPr>
              <a:t>sizeof</a:t>
            </a:r>
            <a:r>
              <a:rPr lang="en-US" sz="1400" b="1" dirty="0">
                <a:solidFill>
                  <a:srgbClr val="3366FF"/>
                </a:solidFill>
              </a:rPr>
              <a:t>(float), </a:t>
            </a:r>
            <a:r>
              <a:rPr lang="en-US" sz="1400" b="1" dirty="0" err="1">
                <a:solidFill>
                  <a:srgbClr val="3366FF"/>
                </a:solidFill>
              </a:rPr>
              <a:t>cudaMemcpyHostToDevice</a:t>
            </a:r>
            <a:r>
              <a:rPr lang="en-US" sz="1400" b="1" dirty="0">
                <a:solidFill>
                  <a:srgbClr val="3366FF"/>
                </a:solidFill>
              </a:rPr>
              <a:t>);</a:t>
            </a:r>
          </a:p>
          <a:p>
            <a:pPr marL="0" indent="0">
              <a:buNone/>
            </a:pPr>
            <a:endParaRPr lang="en-US" sz="1400" b="1" dirty="0">
              <a:solidFill>
                <a:srgbClr val="3366FF"/>
              </a:solidFill>
            </a:endParaRPr>
          </a:p>
          <a:p>
            <a:pPr marL="0" indent="0">
              <a:buNone/>
            </a:pPr>
            <a:endParaRPr lang="en-US" sz="1400" b="1" dirty="0">
              <a:solidFill>
                <a:srgbClr val="3366FF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05F48E-D293-C948-A03E-F3FC00413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8177F4-0734-E447-A1D2-22231CB3B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44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9341930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E74B4-C990-4D44-8B66-CE170D75A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5865515"/>
          </a:xfrm>
        </p:spPr>
        <p:txBody>
          <a:bodyPr/>
          <a:lstStyle/>
          <a:p>
            <a:pPr marL="0" indent="0">
              <a:buNone/>
            </a:pPr>
            <a:r>
              <a:rPr lang="en-US" sz="1400" b="1" dirty="0">
                <a:solidFill>
                  <a:srgbClr val="3366FF"/>
                </a:solidFill>
              </a:rPr>
              <a:t>// Initialize the grid and block dimensions here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3366FF"/>
                </a:solidFill>
              </a:rPr>
              <a:t>    dim3 </a:t>
            </a:r>
            <a:r>
              <a:rPr lang="en-US" sz="1400" b="1" dirty="0" err="1">
                <a:solidFill>
                  <a:srgbClr val="3366FF"/>
                </a:solidFill>
              </a:rPr>
              <a:t>DimGrid</a:t>
            </a:r>
            <a:r>
              <a:rPr lang="en-US" sz="1400" b="1" dirty="0">
                <a:solidFill>
                  <a:srgbClr val="3366FF"/>
                </a:solidFill>
              </a:rPr>
              <a:t>( </a:t>
            </a:r>
            <a:r>
              <a:rPr lang="en-US" sz="1400" b="1" dirty="0" err="1">
                <a:solidFill>
                  <a:srgbClr val="3366FF"/>
                </a:solidFill>
              </a:rPr>
              <a:t>numOutputElements</a:t>
            </a:r>
            <a:r>
              <a:rPr lang="en-US" sz="1400" b="1" dirty="0">
                <a:solidFill>
                  <a:srgbClr val="3366FF"/>
                </a:solidFill>
              </a:rPr>
              <a:t>, 1, 1); </a:t>
            </a:r>
            <a:r>
              <a:rPr lang="en-US" sz="1400" b="1" dirty="0">
                <a:solidFill>
                  <a:schemeClr val="bg2"/>
                </a:solidFill>
              </a:rPr>
              <a:t>//</a:t>
            </a:r>
            <a:r>
              <a:rPr lang="en-US" sz="1400" b="1" dirty="0" err="1">
                <a:solidFill>
                  <a:schemeClr val="bg2"/>
                </a:solidFill>
              </a:rPr>
              <a:t>numOutputElements</a:t>
            </a:r>
            <a:r>
              <a:rPr lang="en-US" sz="1400" b="1" dirty="0">
                <a:solidFill>
                  <a:schemeClr val="bg2"/>
                </a:solidFill>
              </a:rPr>
              <a:t> = no of blocks!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3366FF"/>
                </a:solidFill>
              </a:rPr>
              <a:t>    dim3 </a:t>
            </a:r>
            <a:r>
              <a:rPr lang="en-US" sz="1400" b="1" dirty="0" err="1">
                <a:solidFill>
                  <a:srgbClr val="3366FF"/>
                </a:solidFill>
              </a:rPr>
              <a:t>DimBlock</a:t>
            </a:r>
            <a:r>
              <a:rPr lang="en-US" sz="1400" b="1" dirty="0">
                <a:solidFill>
                  <a:srgbClr val="3366FF"/>
                </a:solidFill>
              </a:rPr>
              <a:t>(BLOCK_SIZE, 1, 1);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bg2"/>
                </a:solidFill>
              </a:rPr>
              <a:t>    //each block compute a local sum - results are stored into </a:t>
            </a:r>
            <a:r>
              <a:rPr lang="en-US" sz="1400" b="1" dirty="0" err="1">
                <a:solidFill>
                  <a:schemeClr val="bg2"/>
                </a:solidFill>
              </a:rPr>
              <a:t>deviceOutput</a:t>
            </a:r>
            <a:r>
              <a:rPr lang="en-US" sz="1400" b="1" dirty="0">
                <a:solidFill>
                  <a:schemeClr val="bg2"/>
                </a:solidFill>
              </a:rPr>
              <a:t>[</a:t>
            </a:r>
            <a:r>
              <a:rPr lang="en-US" sz="1400" b="1" dirty="0" err="1">
                <a:solidFill>
                  <a:schemeClr val="bg2"/>
                </a:solidFill>
              </a:rPr>
              <a:t>numOutputElements</a:t>
            </a:r>
            <a:r>
              <a:rPr lang="en-US" sz="1400" b="1" dirty="0">
                <a:solidFill>
                  <a:schemeClr val="bg2"/>
                </a:solidFill>
              </a:rPr>
              <a:t>]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3366FF"/>
                </a:solidFill>
              </a:rPr>
              <a:t>//********************************************************************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bg2"/>
                </a:solidFill>
              </a:rPr>
              <a:t> // Launch the GPU Kernel here</a:t>
            </a:r>
            <a:endParaRPr lang="en-US" sz="1400" b="1" dirty="0">
              <a:solidFill>
                <a:srgbClr val="3366FF"/>
              </a:solidFill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3366FF"/>
                </a:solidFill>
              </a:rPr>
              <a:t>    total&lt;&lt;&lt;</a:t>
            </a:r>
            <a:r>
              <a:rPr lang="en-US" sz="1400" b="1" dirty="0" err="1">
                <a:solidFill>
                  <a:srgbClr val="3366FF"/>
                </a:solidFill>
              </a:rPr>
              <a:t>DimGrid</a:t>
            </a:r>
            <a:r>
              <a:rPr lang="en-US" sz="1400" b="1" dirty="0">
                <a:solidFill>
                  <a:srgbClr val="3366FF"/>
                </a:solidFill>
              </a:rPr>
              <a:t>, </a:t>
            </a:r>
            <a:r>
              <a:rPr lang="en-US" sz="1400" b="1" dirty="0" err="1">
                <a:solidFill>
                  <a:srgbClr val="3366FF"/>
                </a:solidFill>
              </a:rPr>
              <a:t>DimBlock</a:t>
            </a:r>
            <a:r>
              <a:rPr lang="en-US" sz="1400" b="1" dirty="0">
                <a:solidFill>
                  <a:srgbClr val="3366FF"/>
                </a:solidFill>
              </a:rPr>
              <a:t>&gt;&gt;&gt;(</a:t>
            </a:r>
            <a:r>
              <a:rPr lang="en-US" sz="1400" b="1" dirty="0" err="1">
                <a:solidFill>
                  <a:srgbClr val="3366FF"/>
                </a:solidFill>
              </a:rPr>
              <a:t>deviceInput</a:t>
            </a:r>
            <a:r>
              <a:rPr lang="en-US" sz="1400" b="1" dirty="0">
                <a:solidFill>
                  <a:srgbClr val="3366FF"/>
                </a:solidFill>
              </a:rPr>
              <a:t>, </a:t>
            </a:r>
            <a:r>
              <a:rPr lang="en-US" sz="1400" b="1" dirty="0" err="1">
                <a:solidFill>
                  <a:srgbClr val="3366FF"/>
                </a:solidFill>
              </a:rPr>
              <a:t>deviceOutput</a:t>
            </a:r>
            <a:r>
              <a:rPr lang="en-US" sz="1400" b="1" dirty="0">
                <a:solidFill>
                  <a:srgbClr val="3366FF"/>
                </a:solidFill>
              </a:rPr>
              <a:t>, </a:t>
            </a:r>
            <a:r>
              <a:rPr lang="en-US" sz="1400" b="1" dirty="0" err="1">
                <a:solidFill>
                  <a:srgbClr val="3366FF"/>
                </a:solidFill>
              </a:rPr>
              <a:t>numInputElements</a:t>
            </a:r>
            <a:r>
              <a:rPr lang="en-US" sz="1400" b="1" dirty="0">
                <a:solidFill>
                  <a:srgbClr val="3366FF"/>
                </a:solidFill>
              </a:rPr>
              <a:t>);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3366FF"/>
                </a:solidFill>
              </a:rPr>
              <a:t>//********************************************************************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bg2"/>
                </a:solidFill>
              </a:rPr>
              <a:t>    // Copy the GPU memory back to the CPU here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3366FF"/>
                </a:solidFill>
              </a:rPr>
              <a:t>    </a:t>
            </a:r>
            <a:r>
              <a:rPr lang="en-US" sz="1400" b="1" dirty="0" err="1">
                <a:solidFill>
                  <a:srgbClr val="3366FF"/>
                </a:solidFill>
              </a:rPr>
              <a:t>cudaMemcpy</a:t>
            </a:r>
            <a:r>
              <a:rPr lang="en-US" sz="1400" b="1" dirty="0">
                <a:solidFill>
                  <a:srgbClr val="3366FF"/>
                </a:solidFill>
              </a:rPr>
              <a:t>(</a:t>
            </a:r>
            <a:r>
              <a:rPr lang="en-US" sz="1400" b="1" dirty="0" err="1">
                <a:solidFill>
                  <a:srgbClr val="3366FF"/>
                </a:solidFill>
              </a:rPr>
              <a:t>hostOutput</a:t>
            </a:r>
            <a:r>
              <a:rPr lang="en-US" sz="1400" b="1" dirty="0">
                <a:solidFill>
                  <a:srgbClr val="3366FF"/>
                </a:solidFill>
              </a:rPr>
              <a:t>, </a:t>
            </a:r>
            <a:r>
              <a:rPr lang="en-US" sz="1400" b="1" dirty="0" err="1">
                <a:solidFill>
                  <a:srgbClr val="3366FF"/>
                </a:solidFill>
              </a:rPr>
              <a:t>deviceOutput</a:t>
            </a:r>
            <a:r>
              <a:rPr lang="en-US" sz="1400" b="1" dirty="0">
                <a:solidFill>
                  <a:srgbClr val="3366FF"/>
                </a:solidFill>
              </a:rPr>
              <a:t>, </a:t>
            </a:r>
            <a:r>
              <a:rPr lang="en-US" sz="1400" b="1" dirty="0" err="1">
                <a:solidFill>
                  <a:srgbClr val="3366FF"/>
                </a:solidFill>
              </a:rPr>
              <a:t>numOutputElements</a:t>
            </a:r>
            <a:r>
              <a:rPr lang="en-US" sz="1400" b="1" dirty="0">
                <a:solidFill>
                  <a:srgbClr val="3366FF"/>
                </a:solidFill>
              </a:rPr>
              <a:t> * </a:t>
            </a:r>
            <a:r>
              <a:rPr lang="en-US" sz="1400" b="1" dirty="0" err="1">
                <a:solidFill>
                  <a:srgbClr val="3366FF"/>
                </a:solidFill>
              </a:rPr>
              <a:t>sizeof</a:t>
            </a:r>
            <a:r>
              <a:rPr lang="en-US" sz="1400" b="1" dirty="0">
                <a:solidFill>
                  <a:srgbClr val="3366FF"/>
                </a:solidFill>
              </a:rPr>
              <a:t>(float), </a:t>
            </a:r>
            <a:r>
              <a:rPr lang="en-US" sz="1400" b="1" dirty="0" err="1">
                <a:solidFill>
                  <a:srgbClr val="3366FF"/>
                </a:solidFill>
              </a:rPr>
              <a:t>cudaMemcpyDeviceToHost</a:t>
            </a:r>
            <a:r>
              <a:rPr lang="en-US" sz="1400" b="1" dirty="0">
                <a:solidFill>
                  <a:srgbClr val="3366FF"/>
                </a:solidFill>
              </a:rPr>
              <a:t>);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bg2"/>
                </a:solidFill>
              </a:rPr>
              <a:t>    / * Reduce output vector on the host*/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3366FF"/>
                </a:solidFill>
              </a:rPr>
              <a:t>    for (ii = 1; ii &lt; </a:t>
            </a:r>
            <a:r>
              <a:rPr lang="en-US" sz="1400" b="1" dirty="0" err="1">
                <a:solidFill>
                  <a:srgbClr val="3366FF"/>
                </a:solidFill>
              </a:rPr>
              <a:t>numOutputElements</a:t>
            </a:r>
            <a:r>
              <a:rPr lang="en-US" sz="1400" b="1" dirty="0">
                <a:solidFill>
                  <a:srgbClr val="3366FF"/>
                </a:solidFill>
              </a:rPr>
              <a:t>; ii++)    {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3366FF"/>
                </a:solidFill>
              </a:rPr>
              <a:t>        </a:t>
            </a:r>
            <a:r>
              <a:rPr lang="en-US" sz="1400" b="1" dirty="0" err="1">
                <a:solidFill>
                  <a:srgbClr val="3366FF"/>
                </a:solidFill>
              </a:rPr>
              <a:t>hostOutput</a:t>
            </a:r>
            <a:r>
              <a:rPr lang="en-US" sz="1400" b="1" dirty="0">
                <a:solidFill>
                  <a:srgbClr val="3366FF"/>
                </a:solidFill>
              </a:rPr>
              <a:t>[0] += </a:t>
            </a:r>
            <a:r>
              <a:rPr lang="en-US" sz="1400" b="1" dirty="0" err="1">
                <a:solidFill>
                  <a:srgbClr val="3366FF"/>
                </a:solidFill>
              </a:rPr>
              <a:t>hostOutput</a:t>
            </a:r>
            <a:r>
              <a:rPr lang="en-US" sz="1400" b="1" dirty="0">
                <a:solidFill>
                  <a:srgbClr val="3366FF"/>
                </a:solidFill>
              </a:rPr>
              <a:t>[ii];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3366FF"/>
                </a:solidFill>
              </a:rPr>
              <a:t>    }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3366FF"/>
                </a:solidFill>
              </a:rPr>
              <a:t>    </a:t>
            </a:r>
            <a:r>
              <a:rPr lang="en-US" sz="1400" b="1" dirty="0" err="1">
                <a:solidFill>
                  <a:srgbClr val="3366FF"/>
                </a:solidFill>
              </a:rPr>
              <a:t>printf</a:t>
            </a:r>
            <a:r>
              <a:rPr lang="en-US" sz="1400" b="1" dirty="0">
                <a:solidFill>
                  <a:srgbClr val="3366FF"/>
                </a:solidFill>
              </a:rPr>
              <a:t>("Reduced Sum from GPU = %f\n", </a:t>
            </a:r>
            <a:r>
              <a:rPr lang="en-US" sz="1400" b="1" dirty="0" err="1">
                <a:solidFill>
                  <a:srgbClr val="3366FF"/>
                </a:solidFill>
              </a:rPr>
              <a:t>hostOutput</a:t>
            </a:r>
            <a:r>
              <a:rPr lang="en-US" sz="1400" b="1" dirty="0">
                <a:solidFill>
                  <a:srgbClr val="3366FF"/>
                </a:solidFill>
              </a:rPr>
              <a:t>[0]);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3366FF"/>
                </a:solidFill>
              </a:rPr>
              <a:t>    </a:t>
            </a:r>
            <a:r>
              <a:rPr lang="en-US" sz="1400" b="1" dirty="0">
                <a:solidFill>
                  <a:schemeClr val="bg2"/>
                </a:solidFill>
              </a:rPr>
              <a:t>// Free the GPU memory here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3366FF"/>
                </a:solidFill>
              </a:rPr>
              <a:t>    </a:t>
            </a:r>
            <a:r>
              <a:rPr lang="en-US" sz="1400" b="1" dirty="0" err="1">
                <a:solidFill>
                  <a:srgbClr val="3366FF"/>
                </a:solidFill>
              </a:rPr>
              <a:t>cudaFree</a:t>
            </a:r>
            <a:r>
              <a:rPr lang="en-US" sz="1400" b="1" dirty="0">
                <a:solidFill>
                  <a:srgbClr val="3366FF"/>
                </a:solidFill>
              </a:rPr>
              <a:t>(</a:t>
            </a:r>
            <a:r>
              <a:rPr lang="en-US" sz="1400" b="1" dirty="0" err="1">
                <a:solidFill>
                  <a:srgbClr val="3366FF"/>
                </a:solidFill>
              </a:rPr>
              <a:t>deviceInput</a:t>
            </a:r>
            <a:r>
              <a:rPr lang="en-US" sz="1400" b="1" dirty="0">
                <a:solidFill>
                  <a:srgbClr val="3366FF"/>
                </a:solidFill>
              </a:rPr>
              <a:t>);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3366FF"/>
                </a:solidFill>
              </a:rPr>
              <a:t>    </a:t>
            </a:r>
            <a:r>
              <a:rPr lang="en-US" sz="1400" b="1" dirty="0" err="1">
                <a:solidFill>
                  <a:srgbClr val="3366FF"/>
                </a:solidFill>
              </a:rPr>
              <a:t>cudaFree</a:t>
            </a:r>
            <a:r>
              <a:rPr lang="en-US" sz="1400" b="1" dirty="0">
                <a:solidFill>
                  <a:srgbClr val="3366FF"/>
                </a:solidFill>
              </a:rPr>
              <a:t>(</a:t>
            </a:r>
            <a:r>
              <a:rPr lang="en-US" sz="1400" b="1" dirty="0" err="1">
                <a:solidFill>
                  <a:srgbClr val="3366FF"/>
                </a:solidFill>
              </a:rPr>
              <a:t>deviceOutput</a:t>
            </a:r>
            <a:r>
              <a:rPr lang="en-US" sz="1400" b="1" dirty="0">
                <a:solidFill>
                  <a:srgbClr val="3366FF"/>
                </a:solidFill>
              </a:rPr>
              <a:t>);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3366FF"/>
                </a:solidFill>
              </a:rPr>
              <a:t>    free(</a:t>
            </a:r>
            <a:r>
              <a:rPr lang="en-US" sz="1400" b="1" dirty="0" err="1">
                <a:solidFill>
                  <a:srgbClr val="3366FF"/>
                </a:solidFill>
              </a:rPr>
              <a:t>hostInput</a:t>
            </a:r>
            <a:r>
              <a:rPr lang="en-US" sz="1400" b="1" dirty="0">
                <a:solidFill>
                  <a:srgbClr val="3366FF"/>
                </a:solidFill>
              </a:rPr>
              <a:t>);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3366FF"/>
                </a:solidFill>
              </a:rPr>
              <a:t>    free(</a:t>
            </a:r>
            <a:r>
              <a:rPr lang="en-US" sz="1400" b="1" dirty="0" err="1">
                <a:solidFill>
                  <a:srgbClr val="3366FF"/>
                </a:solidFill>
              </a:rPr>
              <a:t>hostOutput</a:t>
            </a:r>
            <a:r>
              <a:rPr lang="en-US" sz="1400" b="1" dirty="0">
                <a:solidFill>
                  <a:srgbClr val="3366FF"/>
                </a:solidFill>
              </a:rPr>
              <a:t>);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3366FF"/>
                </a:solidFill>
              </a:rPr>
              <a:t>    return 0;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3366FF"/>
                </a:solidFill>
              </a:rPr>
              <a:t>}</a:t>
            </a:r>
          </a:p>
          <a:p>
            <a:pPr marL="0" indent="0">
              <a:buNone/>
            </a:pPr>
            <a:endParaRPr lang="en-US" sz="1400" b="1" dirty="0">
              <a:solidFill>
                <a:srgbClr val="3366FF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FE6952-8B34-A444-9656-492807CFB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7F00C0-18EE-204E-9F2E-EA7B3CDB2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45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41995770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Coordonare</a:t>
            </a:r>
            <a:r>
              <a:rPr lang="en-US" dirty="0"/>
              <a:t> -&gt; Host &amp; Device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Kernel-</a:t>
            </a:r>
            <a:r>
              <a:rPr lang="en-US" dirty="0" err="1"/>
              <a:t>urile</a:t>
            </a:r>
            <a:r>
              <a:rPr lang="en-US" dirty="0"/>
              <a:t> 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pornite</a:t>
            </a:r>
            <a:r>
              <a:rPr lang="en-US" dirty="0"/>
              <a:t> </a:t>
            </a:r>
            <a:r>
              <a:rPr lang="en-US" dirty="0" err="1"/>
              <a:t>asincron</a:t>
            </a:r>
            <a:endParaRPr lang="en-US" dirty="0"/>
          </a:p>
          <a:p>
            <a:r>
              <a:rPr lang="en-US" dirty="0" err="1"/>
              <a:t>Controlul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returnat</a:t>
            </a:r>
            <a:r>
              <a:rPr lang="en-US" dirty="0"/>
              <a:t> </a:t>
            </a:r>
            <a:r>
              <a:rPr lang="en-US" dirty="0" err="1"/>
              <a:t>catre</a:t>
            </a:r>
            <a:r>
              <a:rPr lang="en-US" dirty="0"/>
              <a:t> CPU </a:t>
            </a:r>
            <a:r>
              <a:rPr lang="en-US" dirty="0" err="1"/>
              <a:t>imediat</a:t>
            </a:r>
            <a:endParaRPr lang="en-US" dirty="0"/>
          </a:p>
          <a:p>
            <a:r>
              <a:rPr lang="en-US" dirty="0"/>
              <a:t>CPU </a:t>
            </a:r>
            <a:r>
              <a:rPr lang="en-US" dirty="0" err="1"/>
              <a:t>necesita</a:t>
            </a:r>
            <a:r>
              <a:rPr lang="en-US" dirty="0"/>
              <a:t> </a:t>
            </a:r>
            <a:r>
              <a:rPr lang="en-US" dirty="0" err="1"/>
              <a:t>sincronizare</a:t>
            </a:r>
            <a:r>
              <a:rPr lang="en-US" dirty="0"/>
              <a:t> </a:t>
            </a:r>
            <a:r>
              <a:rPr lang="en-US" dirty="0" err="1"/>
              <a:t>inainte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foloseasca</a:t>
            </a:r>
            <a:r>
              <a:rPr lang="en-US" dirty="0"/>
              <a:t> </a:t>
            </a:r>
            <a:r>
              <a:rPr lang="en-US" dirty="0" err="1"/>
              <a:t>rezultatele</a:t>
            </a:r>
            <a:r>
              <a:rPr lang="en-US" dirty="0"/>
              <a:t> </a:t>
            </a:r>
            <a:r>
              <a:rPr lang="en-US" dirty="0" err="1"/>
              <a:t>obtinute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device</a:t>
            </a:r>
          </a:p>
          <a:p>
            <a:r>
              <a:rPr lang="en-US" dirty="0" err="1">
                <a:solidFill>
                  <a:srgbClr val="0000FF"/>
                </a:solidFill>
              </a:rPr>
              <a:t>cudaMemcpy</a:t>
            </a:r>
            <a:r>
              <a:rPr lang="en-US" dirty="0">
                <a:solidFill>
                  <a:srgbClr val="0000FF"/>
                </a:solidFill>
              </a:rPr>
              <a:t>() </a:t>
            </a:r>
            <a:r>
              <a:rPr lang="en-US" dirty="0"/>
              <a:t>	</a:t>
            </a:r>
            <a:r>
              <a:rPr lang="en-US" dirty="0" err="1"/>
              <a:t>blocheaza</a:t>
            </a:r>
            <a:r>
              <a:rPr lang="en-US" dirty="0"/>
              <a:t> CPU </a:t>
            </a:r>
            <a:r>
              <a:rPr lang="en-US" dirty="0" err="1"/>
              <a:t>pana</a:t>
            </a:r>
            <a:r>
              <a:rPr lang="en-US" dirty="0"/>
              <a:t> </a:t>
            </a:r>
            <a:r>
              <a:rPr lang="en-US" dirty="0" err="1"/>
              <a:t>cand</a:t>
            </a:r>
            <a:r>
              <a:rPr lang="en-US" dirty="0"/>
              <a:t> </a:t>
            </a:r>
            <a:r>
              <a:rPr lang="en-US" dirty="0" err="1"/>
              <a:t>copierea</a:t>
            </a:r>
            <a:r>
              <a:rPr lang="en-US" dirty="0"/>
              <a:t> se </a:t>
            </a:r>
            <a:r>
              <a:rPr lang="en-US" dirty="0" err="1"/>
              <a:t>finalizeaza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Copierea</a:t>
            </a:r>
            <a:r>
              <a:rPr lang="en-US" dirty="0"/>
              <a:t> </a:t>
            </a:r>
            <a:r>
              <a:rPr lang="en-US" dirty="0" err="1"/>
              <a:t>incepe</a:t>
            </a:r>
            <a:r>
              <a:rPr lang="en-US" dirty="0"/>
              <a:t> </a:t>
            </a:r>
            <a:r>
              <a:rPr lang="en-US" dirty="0" err="1"/>
              <a:t>atunci</a:t>
            </a:r>
            <a:r>
              <a:rPr lang="en-US" dirty="0"/>
              <a:t> </a:t>
            </a:r>
            <a:r>
              <a:rPr lang="en-US" dirty="0" err="1"/>
              <a:t>cand</a:t>
            </a:r>
            <a:r>
              <a:rPr lang="en-US" dirty="0"/>
              <a:t>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apelurile</a:t>
            </a:r>
            <a:r>
              <a:rPr lang="en-US" dirty="0"/>
              <a:t> CUDA </a:t>
            </a:r>
            <a:r>
              <a:rPr lang="en-US" dirty="0" err="1"/>
              <a:t>anterioare</a:t>
            </a:r>
            <a:r>
              <a:rPr lang="en-US" dirty="0"/>
              <a:t> s-au </a:t>
            </a:r>
            <a:r>
              <a:rPr lang="en-US" dirty="0" err="1"/>
              <a:t>terminat</a:t>
            </a:r>
            <a:r>
              <a:rPr lang="en-US" dirty="0"/>
              <a:t>;</a:t>
            </a:r>
          </a:p>
          <a:p>
            <a:r>
              <a:rPr lang="en-US" dirty="0" err="1">
                <a:solidFill>
                  <a:srgbClr val="0000FF"/>
                </a:solidFill>
              </a:rPr>
              <a:t>cudaMemcpyAsync</a:t>
            </a:r>
            <a:r>
              <a:rPr lang="en-US" dirty="0">
                <a:solidFill>
                  <a:srgbClr val="0000FF"/>
                </a:solidFill>
              </a:rPr>
              <a:t>() 	</a:t>
            </a:r>
            <a:r>
              <a:rPr lang="en-US" i="1" dirty="0">
                <a:solidFill>
                  <a:srgbClr val="0000FF"/>
                </a:solidFill>
              </a:rPr>
              <a:t>a</a:t>
            </a:r>
            <a:r>
              <a:rPr lang="en-US" i="1" dirty="0"/>
              <a:t>synchronous  </a:t>
            </a:r>
            <a:r>
              <a:rPr lang="en-US" dirty="0"/>
              <a:t>-&gt; nu </a:t>
            </a:r>
            <a:r>
              <a:rPr lang="en-US" dirty="0" err="1"/>
              <a:t>blocheaza</a:t>
            </a:r>
            <a:r>
              <a:rPr lang="en-US" dirty="0"/>
              <a:t> CPU	</a:t>
            </a:r>
          </a:p>
          <a:p>
            <a:r>
              <a:rPr lang="en-US" dirty="0" err="1">
                <a:solidFill>
                  <a:srgbClr val="0000FF"/>
                </a:solidFill>
              </a:rPr>
              <a:t>cudaDeviceSynchronize</a:t>
            </a:r>
            <a:r>
              <a:rPr lang="en-US" dirty="0">
                <a:solidFill>
                  <a:srgbClr val="0000FF"/>
                </a:solidFill>
              </a:rPr>
              <a:t>() </a:t>
            </a:r>
            <a:r>
              <a:rPr lang="en-US" dirty="0"/>
              <a:t>	</a:t>
            </a:r>
            <a:r>
              <a:rPr lang="en-US" dirty="0" err="1"/>
              <a:t>blocheaza</a:t>
            </a:r>
            <a:r>
              <a:rPr lang="en-US" dirty="0"/>
              <a:t> CPU </a:t>
            </a:r>
            <a:r>
              <a:rPr lang="en-US" dirty="0" err="1"/>
              <a:t>pana</a:t>
            </a:r>
            <a:r>
              <a:rPr lang="en-US" dirty="0"/>
              <a:t> 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apelurile</a:t>
            </a:r>
            <a:r>
              <a:rPr lang="en-US" dirty="0"/>
              <a:t> CUDA se </a:t>
            </a:r>
            <a:r>
              <a:rPr lang="en-US" dirty="0" err="1"/>
              <a:t>finalizeaza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AA6430-3CCD-E646-94B5-BA696AAB0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C2B568-8380-524D-A4CA-246CF0E48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46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9824554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>
                <a:latin typeface="Times New Roman"/>
                <a:ea typeface="ＭＳ Ｐゴシック" charset="0"/>
                <a:cs typeface="Times New Roman"/>
              </a:rPr>
              <a:t>NVIDIA GPU Execution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4648200" cy="571500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 typeface="Arial" charset="0"/>
              <a:buNone/>
            </a:pPr>
            <a:endParaRPr lang="en-US" sz="1300" dirty="0">
              <a:latin typeface="Times New Roman"/>
              <a:ea typeface="ＭＳ Ｐゴシック" charset="0"/>
              <a:cs typeface="Times New Roman"/>
            </a:endParaRP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r>
              <a:rPr lang="en-US" sz="2000" dirty="0">
                <a:latin typeface="Times New Roman"/>
                <a:ea typeface="ＭＳ Ｐゴシック" charset="0"/>
                <a:cs typeface="Times New Roman"/>
              </a:rPr>
              <a:t>I. </a:t>
            </a:r>
            <a:r>
              <a:rPr lang="en-US" sz="2000" dirty="0">
                <a:solidFill>
                  <a:srgbClr val="0000FF"/>
                </a:solidFill>
                <a:latin typeface="Times New Roman"/>
                <a:ea typeface="ＭＳ Ｐゴシック" charset="0"/>
                <a:cs typeface="Times New Roman"/>
              </a:rPr>
              <a:t>SIMD Execution </a:t>
            </a:r>
            <a:r>
              <a:rPr lang="en-US" sz="2000" dirty="0">
                <a:latin typeface="Times New Roman"/>
                <a:ea typeface="ＭＳ Ｐゴシック" charset="0"/>
                <a:cs typeface="Times New Roman"/>
              </a:rPr>
              <a:t>of  </a:t>
            </a:r>
            <a:br>
              <a:rPr lang="en-US" sz="2000" dirty="0">
                <a:latin typeface="Times New Roman"/>
                <a:ea typeface="ＭＳ Ｐゴシック" charset="0"/>
                <a:cs typeface="Times New Roman"/>
              </a:rPr>
            </a:br>
            <a:r>
              <a:rPr lang="en-US" sz="2000" b="1" u="sng" dirty="0" err="1">
                <a:latin typeface="Times New Roman"/>
                <a:ea typeface="ＭＳ Ｐゴシック" charset="0"/>
                <a:cs typeface="Times New Roman"/>
              </a:rPr>
              <a:t>warpsize</a:t>
            </a:r>
            <a:r>
              <a:rPr lang="en-US" sz="2000" dirty="0">
                <a:latin typeface="Times New Roman"/>
                <a:ea typeface="ＭＳ Ｐゴシック" charset="0"/>
                <a:cs typeface="Times New Roman"/>
              </a:rPr>
              <a:t>=M threads </a:t>
            </a:r>
            <a:br>
              <a:rPr lang="en-US" sz="2000" dirty="0">
                <a:latin typeface="Times New Roman"/>
                <a:ea typeface="ＭＳ Ｐゴシック" charset="0"/>
                <a:cs typeface="Times New Roman"/>
              </a:rPr>
            </a:br>
            <a:r>
              <a:rPr lang="en-US" sz="2000" dirty="0">
                <a:latin typeface="Times New Roman"/>
                <a:ea typeface="ＭＳ Ｐゴシック" charset="0"/>
                <a:cs typeface="Times New Roman"/>
              </a:rPr>
              <a:t>(from single block)</a:t>
            </a:r>
          </a:p>
          <a:p>
            <a:pPr eaLnBrk="1" hangingPunct="1">
              <a:lnSpc>
                <a:spcPct val="80000"/>
              </a:lnSpc>
              <a:spcBef>
                <a:spcPts val="1225"/>
              </a:spcBef>
              <a:buFont typeface="Arial" charset="0"/>
              <a:buNone/>
            </a:pPr>
            <a:r>
              <a:rPr lang="en-US" sz="2000" dirty="0">
                <a:latin typeface="Times New Roman"/>
                <a:ea typeface="ＭＳ Ｐゴシック" charset="0"/>
                <a:cs typeface="Times New Roman"/>
              </a:rPr>
              <a:t>II. </a:t>
            </a:r>
            <a:r>
              <a:rPr lang="en-US" sz="2000" dirty="0">
                <a:solidFill>
                  <a:srgbClr val="0000FF"/>
                </a:solidFill>
                <a:latin typeface="Times New Roman"/>
                <a:ea typeface="ＭＳ Ｐゴシック" charset="0"/>
                <a:cs typeface="Times New Roman"/>
              </a:rPr>
              <a:t>Multithreaded Execution </a:t>
            </a:r>
            <a:r>
              <a:rPr lang="en-US" sz="2000" dirty="0">
                <a:latin typeface="Times New Roman"/>
                <a:ea typeface="ＭＳ Ｐゴシック" charset="0"/>
                <a:cs typeface="Times New Roman"/>
              </a:rPr>
              <a:t>across different instruction streams within block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>
                <a:latin typeface="Times New Roman"/>
                <a:ea typeface="ＭＳ Ｐゴシック" charset="0"/>
                <a:cs typeface="Times New Roman"/>
              </a:rPr>
              <a:t>Also, possibly across different blocks if there are more blocks than SMs</a:t>
            </a:r>
          </a:p>
          <a:p>
            <a:pPr eaLnBrk="1" hangingPunct="1">
              <a:lnSpc>
                <a:spcPct val="80000"/>
              </a:lnSpc>
              <a:spcBef>
                <a:spcPts val="1225"/>
              </a:spcBef>
              <a:buFont typeface="Arial" charset="0"/>
              <a:buNone/>
            </a:pPr>
            <a:r>
              <a:rPr lang="en-US" sz="2000" dirty="0">
                <a:latin typeface="Times New Roman"/>
                <a:ea typeface="ＭＳ Ｐゴシック" charset="0"/>
                <a:cs typeface="Times New Roman"/>
              </a:rPr>
              <a:t>III. Each block mapped to single SM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>
                <a:latin typeface="Times New Roman"/>
                <a:ea typeface="ＭＳ Ｐゴシック" charset="0"/>
                <a:cs typeface="Times New Roman"/>
              </a:rPr>
              <a:t>No direct interaction across SMs </a:t>
            </a:r>
          </a:p>
        </p:txBody>
      </p:sp>
      <p:grpSp>
        <p:nvGrpSpPr>
          <p:cNvPr id="22532" name="Group 4"/>
          <p:cNvGrpSpPr>
            <a:grpSpLocks/>
          </p:cNvGrpSpPr>
          <p:nvPr/>
        </p:nvGrpSpPr>
        <p:grpSpPr bwMode="auto">
          <a:xfrm>
            <a:off x="4800600" y="679450"/>
            <a:ext cx="4059237" cy="5492750"/>
            <a:chOff x="3083" y="845"/>
            <a:chExt cx="2557" cy="3268"/>
          </a:xfrm>
        </p:grpSpPr>
        <p:sp>
          <p:nvSpPr>
            <p:cNvPr id="22536" name="AutoShape 5"/>
            <p:cNvSpPr>
              <a:spLocks noChangeAspect="1" noChangeArrowheads="1"/>
            </p:cNvSpPr>
            <p:nvPr/>
          </p:nvSpPr>
          <p:spPr bwMode="auto">
            <a:xfrm>
              <a:off x="3083" y="845"/>
              <a:ext cx="2557" cy="3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22537" name="Text Box 6"/>
            <p:cNvSpPr txBox="1">
              <a:spLocks noChangeArrowheads="1"/>
            </p:cNvSpPr>
            <p:nvPr/>
          </p:nvSpPr>
          <p:spPr bwMode="auto">
            <a:xfrm>
              <a:off x="3086" y="848"/>
              <a:ext cx="2551" cy="2651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003300"/>
                  </a:solidFill>
                  <a:latin typeface="Calibri" charset="0"/>
                </a:rPr>
                <a:t>Device</a:t>
              </a:r>
            </a:p>
          </p:txBody>
        </p:sp>
        <p:sp>
          <p:nvSpPr>
            <p:cNvPr id="22538" name="Text Box 7"/>
            <p:cNvSpPr txBox="1">
              <a:spLocks noChangeArrowheads="1"/>
            </p:cNvSpPr>
            <p:nvPr/>
          </p:nvSpPr>
          <p:spPr bwMode="auto">
            <a:xfrm>
              <a:off x="3238" y="1015"/>
              <a:ext cx="2367" cy="1825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003300"/>
                  </a:solidFill>
                  <a:latin typeface="Calibri" charset="0"/>
                </a:rPr>
                <a:t>Multiprocessor N</a:t>
              </a:r>
              <a:endParaRPr lang="en-US" sz="1800">
                <a:solidFill>
                  <a:srgbClr val="003300"/>
                </a:solidFill>
                <a:latin typeface="Calibri" charset="0"/>
              </a:endParaRPr>
            </a:p>
          </p:txBody>
        </p:sp>
        <p:sp>
          <p:nvSpPr>
            <p:cNvPr id="22539" name="Text Box 8"/>
            <p:cNvSpPr txBox="1">
              <a:spLocks noChangeArrowheads="1"/>
            </p:cNvSpPr>
            <p:nvPr/>
          </p:nvSpPr>
          <p:spPr bwMode="auto">
            <a:xfrm>
              <a:off x="3159" y="1162"/>
              <a:ext cx="2367" cy="1826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003300"/>
                  </a:solidFill>
                  <a:latin typeface="Calibri" charset="0"/>
                </a:rPr>
                <a:t>Multiprocessor 2</a:t>
              </a:r>
              <a:endParaRPr lang="en-US" sz="1800">
                <a:solidFill>
                  <a:srgbClr val="003300"/>
                </a:solidFill>
                <a:latin typeface="Calibri" charset="0"/>
              </a:endParaRPr>
            </a:p>
          </p:txBody>
        </p:sp>
        <p:sp>
          <p:nvSpPr>
            <p:cNvPr id="22540" name="Text Box 9"/>
            <p:cNvSpPr txBox="1">
              <a:spLocks noChangeArrowheads="1"/>
            </p:cNvSpPr>
            <p:nvPr/>
          </p:nvSpPr>
          <p:spPr bwMode="auto">
            <a:xfrm>
              <a:off x="3115" y="1480"/>
              <a:ext cx="2367" cy="1826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003300"/>
                  </a:solidFill>
                  <a:latin typeface="Calibri" charset="0"/>
                </a:rPr>
                <a:t>Multiprocessor 1</a:t>
              </a:r>
              <a:endParaRPr lang="en-US" sz="1800">
                <a:solidFill>
                  <a:srgbClr val="003300"/>
                </a:solidFill>
                <a:latin typeface="Calibri" charset="0"/>
              </a:endParaRPr>
            </a:p>
          </p:txBody>
        </p:sp>
        <p:sp>
          <p:nvSpPr>
            <p:cNvPr id="22541" name="Text Box 10"/>
            <p:cNvSpPr txBox="1">
              <a:spLocks noChangeArrowheads="1"/>
            </p:cNvSpPr>
            <p:nvPr/>
          </p:nvSpPr>
          <p:spPr bwMode="auto">
            <a:xfrm>
              <a:off x="3086" y="3599"/>
              <a:ext cx="2551" cy="511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200" b="1">
                  <a:solidFill>
                    <a:srgbClr val="003300"/>
                  </a:solidFill>
                  <a:latin typeface="Calibri" charset="0"/>
                </a:rPr>
                <a:t>Device memory</a:t>
              </a:r>
              <a:endParaRPr lang="en-US" sz="1800">
                <a:solidFill>
                  <a:srgbClr val="003300"/>
                </a:solidFill>
                <a:latin typeface="Calibri" charset="0"/>
              </a:endParaRPr>
            </a:p>
          </p:txBody>
        </p:sp>
        <p:sp>
          <p:nvSpPr>
            <p:cNvPr id="22542" name="Text Box 11"/>
            <p:cNvSpPr txBox="1">
              <a:spLocks noChangeArrowheads="1"/>
            </p:cNvSpPr>
            <p:nvPr/>
          </p:nvSpPr>
          <p:spPr bwMode="auto">
            <a:xfrm>
              <a:off x="3155" y="1941"/>
              <a:ext cx="1766" cy="20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9144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sz="1000" b="1">
                  <a:solidFill>
                    <a:srgbClr val="003300"/>
                  </a:solidFill>
                  <a:latin typeface="Calibri" charset="0"/>
                </a:rPr>
                <a:t>Shared Memory</a:t>
              </a:r>
              <a:endParaRPr lang="en-US" sz="1000">
                <a:solidFill>
                  <a:srgbClr val="003300"/>
                </a:solidFill>
                <a:latin typeface="Calibri" charset="0"/>
              </a:endParaRPr>
            </a:p>
          </p:txBody>
        </p:sp>
        <p:sp>
          <p:nvSpPr>
            <p:cNvPr id="22543" name="Rectangle 12"/>
            <p:cNvSpPr>
              <a:spLocks noChangeArrowheads="1"/>
            </p:cNvSpPr>
            <p:nvPr/>
          </p:nvSpPr>
          <p:spPr bwMode="auto">
            <a:xfrm>
              <a:off x="3376" y="2491"/>
              <a:ext cx="1811" cy="15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22544" name="Text Box 13"/>
            <p:cNvSpPr txBox="1">
              <a:spLocks noChangeArrowheads="1"/>
            </p:cNvSpPr>
            <p:nvPr/>
          </p:nvSpPr>
          <p:spPr bwMode="auto">
            <a:xfrm>
              <a:off x="4997" y="2245"/>
              <a:ext cx="450" cy="477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13716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sz="900" b="1">
                  <a:solidFill>
                    <a:srgbClr val="003300"/>
                  </a:solidFill>
                  <a:latin typeface="Calibri" charset="0"/>
                </a:rPr>
                <a:t>Instruction</a:t>
              </a:r>
            </a:p>
            <a:p>
              <a:pPr algn="ctr" eaLnBrk="1" hangingPunct="1"/>
              <a:r>
                <a:rPr lang="en-US" sz="900" b="1">
                  <a:solidFill>
                    <a:srgbClr val="003300"/>
                  </a:solidFill>
                  <a:latin typeface="Calibri" charset="0"/>
                </a:rPr>
                <a:t>Unit</a:t>
              </a:r>
              <a:endParaRPr lang="en-US" sz="900">
                <a:solidFill>
                  <a:srgbClr val="003300"/>
                </a:solidFill>
                <a:latin typeface="Calibri" charset="0"/>
              </a:endParaRPr>
            </a:p>
          </p:txBody>
        </p:sp>
        <p:sp>
          <p:nvSpPr>
            <p:cNvPr id="22545" name="Text Box 14"/>
            <p:cNvSpPr txBox="1">
              <a:spLocks noChangeArrowheads="1"/>
            </p:cNvSpPr>
            <p:nvPr/>
          </p:nvSpPr>
          <p:spPr bwMode="auto">
            <a:xfrm>
              <a:off x="3155" y="2427"/>
              <a:ext cx="470" cy="290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146304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sz="900" b="1">
                  <a:solidFill>
                    <a:srgbClr val="003300"/>
                  </a:solidFill>
                  <a:latin typeface="Calibri" charset="0"/>
                </a:rPr>
                <a:t>Processor 1</a:t>
              </a:r>
              <a:endParaRPr lang="en-US" sz="900">
                <a:solidFill>
                  <a:srgbClr val="003300"/>
                </a:solidFill>
                <a:latin typeface="Calibri" charset="0"/>
              </a:endParaRPr>
            </a:p>
          </p:txBody>
        </p:sp>
        <p:sp>
          <p:nvSpPr>
            <p:cNvPr id="22546" name="Text Box 15"/>
            <p:cNvSpPr txBox="1">
              <a:spLocks noChangeArrowheads="1"/>
            </p:cNvSpPr>
            <p:nvPr/>
          </p:nvSpPr>
          <p:spPr bwMode="auto">
            <a:xfrm>
              <a:off x="3156" y="2240"/>
              <a:ext cx="369" cy="17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sz="900" b="1">
                  <a:solidFill>
                    <a:srgbClr val="003300"/>
                  </a:solidFill>
                  <a:latin typeface="Calibri" charset="0"/>
                </a:rPr>
                <a:t>Registers</a:t>
              </a:r>
              <a:endParaRPr lang="en-US" sz="900">
                <a:solidFill>
                  <a:srgbClr val="003300"/>
                </a:solidFill>
                <a:latin typeface="Calibri" charset="0"/>
              </a:endParaRPr>
            </a:p>
          </p:txBody>
        </p:sp>
        <p:sp>
          <p:nvSpPr>
            <p:cNvPr id="22547" name="Line 16"/>
            <p:cNvSpPr>
              <a:spLocks noChangeShapeType="1"/>
            </p:cNvSpPr>
            <p:nvPr/>
          </p:nvSpPr>
          <p:spPr bwMode="auto">
            <a:xfrm flipV="1">
              <a:off x="3575" y="2149"/>
              <a:ext cx="1" cy="27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8" name="Text Box 17"/>
            <p:cNvSpPr txBox="1">
              <a:spLocks noChangeArrowheads="1"/>
            </p:cNvSpPr>
            <p:nvPr/>
          </p:nvSpPr>
          <p:spPr bwMode="auto">
            <a:xfrm>
              <a:off x="4152" y="2382"/>
              <a:ext cx="311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sz="1800" b="1">
                  <a:solidFill>
                    <a:srgbClr val="003300"/>
                  </a:solidFill>
                  <a:latin typeface="Times New Roman" charset="0"/>
                </a:rPr>
                <a:t>…</a:t>
              </a:r>
              <a:endParaRPr lang="en-US" sz="1800">
                <a:solidFill>
                  <a:srgbClr val="003300"/>
                </a:solidFill>
                <a:latin typeface="Calibri" charset="0"/>
              </a:endParaRPr>
            </a:p>
          </p:txBody>
        </p:sp>
        <p:sp>
          <p:nvSpPr>
            <p:cNvPr id="22549" name="Text Box 18"/>
            <p:cNvSpPr txBox="1">
              <a:spLocks noChangeArrowheads="1"/>
            </p:cNvSpPr>
            <p:nvPr/>
          </p:nvSpPr>
          <p:spPr bwMode="auto">
            <a:xfrm>
              <a:off x="3698" y="2427"/>
              <a:ext cx="470" cy="289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146304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sz="900" b="1">
                  <a:solidFill>
                    <a:srgbClr val="003300"/>
                  </a:solidFill>
                  <a:latin typeface="Calibri" charset="0"/>
                </a:rPr>
                <a:t>Processor 2</a:t>
              </a:r>
              <a:endParaRPr lang="en-US" sz="900">
                <a:solidFill>
                  <a:srgbClr val="003300"/>
                </a:solidFill>
                <a:latin typeface="Calibri" charset="0"/>
              </a:endParaRPr>
            </a:p>
          </p:txBody>
        </p:sp>
        <p:sp>
          <p:nvSpPr>
            <p:cNvPr id="22550" name="Text Box 19"/>
            <p:cNvSpPr txBox="1">
              <a:spLocks noChangeArrowheads="1"/>
            </p:cNvSpPr>
            <p:nvPr/>
          </p:nvSpPr>
          <p:spPr bwMode="auto">
            <a:xfrm>
              <a:off x="3695" y="2239"/>
              <a:ext cx="369" cy="177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sz="900" b="1">
                  <a:solidFill>
                    <a:srgbClr val="003300"/>
                  </a:solidFill>
                  <a:latin typeface="Calibri" charset="0"/>
                </a:rPr>
                <a:t>Registers</a:t>
              </a:r>
              <a:endParaRPr lang="en-US" sz="900">
                <a:solidFill>
                  <a:srgbClr val="003300"/>
                </a:solidFill>
                <a:latin typeface="Calibri" charset="0"/>
              </a:endParaRPr>
            </a:p>
          </p:txBody>
        </p:sp>
        <p:sp>
          <p:nvSpPr>
            <p:cNvPr id="22551" name="Line 20"/>
            <p:cNvSpPr>
              <a:spLocks noChangeShapeType="1"/>
            </p:cNvSpPr>
            <p:nvPr/>
          </p:nvSpPr>
          <p:spPr bwMode="auto">
            <a:xfrm flipV="1">
              <a:off x="4117" y="2149"/>
              <a:ext cx="2" cy="27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2" name="Text Box 21"/>
            <p:cNvSpPr txBox="1">
              <a:spLocks noChangeArrowheads="1"/>
            </p:cNvSpPr>
            <p:nvPr/>
          </p:nvSpPr>
          <p:spPr bwMode="auto">
            <a:xfrm>
              <a:off x="4451" y="2428"/>
              <a:ext cx="470" cy="290"/>
            </a:xfrm>
            <a:prstGeom prst="rect">
              <a:avLst/>
            </a:prstGeom>
            <a:solidFill>
              <a:srgbClr val="99FF66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146304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sz="900" b="1">
                  <a:solidFill>
                    <a:srgbClr val="003300"/>
                  </a:solidFill>
                  <a:latin typeface="Calibri" charset="0"/>
                </a:rPr>
                <a:t>Processor M</a:t>
              </a:r>
              <a:endParaRPr lang="en-US" sz="900">
                <a:solidFill>
                  <a:srgbClr val="003300"/>
                </a:solidFill>
                <a:latin typeface="Calibri" charset="0"/>
              </a:endParaRPr>
            </a:p>
          </p:txBody>
        </p:sp>
        <p:sp>
          <p:nvSpPr>
            <p:cNvPr id="22553" name="Text Box 22"/>
            <p:cNvSpPr txBox="1">
              <a:spLocks noChangeArrowheads="1"/>
            </p:cNvSpPr>
            <p:nvPr/>
          </p:nvSpPr>
          <p:spPr bwMode="auto">
            <a:xfrm>
              <a:off x="4451" y="2241"/>
              <a:ext cx="369" cy="176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sz="900" b="1">
                  <a:solidFill>
                    <a:srgbClr val="003300"/>
                  </a:solidFill>
                  <a:latin typeface="Calibri" charset="0"/>
                </a:rPr>
                <a:t>Registers</a:t>
              </a:r>
              <a:endParaRPr lang="en-US" sz="900">
                <a:solidFill>
                  <a:srgbClr val="003300"/>
                </a:solidFill>
                <a:latin typeface="Calibri" charset="0"/>
              </a:endParaRPr>
            </a:p>
          </p:txBody>
        </p:sp>
        <p:sp>
          <p:nvSpPr>
            <p:cNvPr id="22554" name="Line 23"/>
            <p:cNvSpPr>
              <a:spLocks noChangeShapeType="1"/>
            </p:cNvSpPr>
            <p:nvPr/>
          </p:nvSpPr>
          <p:spPr bwMode="auto">
            <a:xfrm flipV="1">
              <a:off x="4870" y="2150"/>
              <a:ext cx="2" cy="27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5" name="Oval 24"/>
            <p:cNvSpPr>
              <a:spLocks noChangeArrowheads="1"/>
            </p:cNvSpPr>
            <p:nvPr/>
          </p:nvSpPr>
          <p:spPr bwMode="auto">
            <a:xfrm>
              <a:off x="3820" y="1403"/>
              <a:ext cx="27" cy="27"/>
            </a:xfrm>
            <a:prstGeom prst="ellipse">
              <a:avLst/>
            </a:prstGeom>
            <a:solidFill>
              <a:srgbClr val="00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22556" name="Oval 25"/>
            <p:cNvSpPr>
              <a:spLocks noChangeArrowheads="1"/>
            </p:cNvSpPr>
            <p:nvPr/>
          </p:nvSpPr>
          <p:spPr bwMode="auto">
            <a:xfrm>
              <a:off x="3852" y="1287"/>
              <a:ext cx="27" cy="27"/>
            </a:xfrm>
            <a:prstGeom prst="ellipse">
              <a:avLst/>
            </a:prstGeom>
            <a:solidFill>
              <a:srgbClr val="00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22557" name="Oval 26"/>
            <p:cNvSpPr>
              <a:spLocks noChangeArrowheads="1"/>
            </p:cNvSpPr>
            <p:nvPr/>
          </p:nvSpPr>
          <p:spPr bwMode="auto">
            <a:xfrm>
              <a:off x="3837" y="1340"/>
              <a:ext cx="27" cy="27"/>
            </a:xfrm>
            <a:prstGeom prst="ellipse">
              <a:avLst/>
            </a:prstGeom>
            <a:solidFill>
              <a:srgbClr val="00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22558" name="Text Box 27"/>
            <p:cNvSpPr txBox="1">
              <a:spLocks noChangeArrowheads="1"/>
            </p:cNvSpPr>
            <p:nvPr/>
          </p:nvSpPr>
          <p:spPr bwMode="auto">
            <a:xfrm>
              <a:off x="3151" y="2825"/>
              <a:ext cx="2286" cy="253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eaLnBrk="1" hangingPunct="1"/>
              <a:r>
                <a:rPr lang="en-US" sz="1000" b="1">
                  <a:solidFill>
                    <a:srgbClr val="003300"/>
                  </a:solidFill>
                  <a:latin typeface="Calibri" charset="0"/>
                </a:rPr>
                <a:t>Constant</a:t>
              </a:r>
            </a:p>
            <a:p>
              <a:pPr algn="r" eaLnBrk="1" hangingPunct="1"/>
              <a:r>
                <a:rPr lang="en-US" sz="1000" b="1">
                  <a:solidFill>
                    <a:srgbClr val="003300"/>
                  </a:solidFill>
                  <a:latin typeface="Calibri" charset="0"/>
                </a:rPr>
                <a:t>Cache</a:t>
              </a:r>
              <a:endParaRPr lang="en-US" sz="1000">
                <a:solidFill>
                  <a:srgbClr val="003300"/>
                </a:solidFill>
                <a:latin typeface="Calibri" charset="0"/>
              </a:endParaRPr>
            </a:p>
          </p:txBody>
        </p:sp>
        <p:sp>
          <p:nvSpPr>
            <p:cNvPr id="22559" name="Text Box 28"/>
            <p:cNvSpPr txBox="1">
              <a:spLocks noChangeArrowheads="1"/>
            </p:cNvSpPr>
            <p:nvPr/>
          </p:nvSpPr>
          <p:spPr bwMode="auto">
            <a:xfrm>
              <a:off x="3151" y="3141"/>
              <a:ext cx="2286" cy="253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rgbClr val="969696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 eaLnBrk="1" hangingPunct="1"/>
              <a:r>
                <a:rPr lang="en-US" sz="1000" b="1">
                  <a:solidFill>
                    <a:srgbClr val="003300"/>
                  </a:solidFill>
                  <a:latin typeface="Calibri" charset="0"/>
                </a:rPr>
                <a:t>Texture</a:t>
              </a:r>
            </a:p>
            <a:p>
              <a:pPr algn="r" eaLnBrk="1" hangingPunct="1"/>
              <a:r>
                <a:rPr lang="en-US" sz="1000" b="1">
                  <a:solidFill>
                    <a:srgbClr val="003300"/>
                  </a:solidFill>
                  <a:latin typeface="Calibri" charset="0"/>
                </a:rPr>
                <a:t>Cache</a:t>
              </a:r>
              <a:endParaRPr lang="en-US" sz="1000">
                <a:solidFill>
                  <a:srgbClr val="003300"/>
                </a:solidFill>
                <a:latin typeface="Calibri" charset="0"/>
              </a:endParaRPr>
            </a:p>
          </p:txBody>
        </p:sp>
        <p:sp>
          <p:nvSpPr>
            <p:cNvPr id="22560" name="Line 29"/>
            <p:cNvSpPr>
              <a:spLocks noChangeShapeType="1"/>
            </p:cNvSpPr>
            <p:nvPr/>
          </p:nvSpPr>
          <p:spPr bwMode="auto">
            <a:xfrm flipV="1">
              <a:off x="3483" y="2714"/>
              <a:ext cx="1" cy="10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1" name="Line 30"/>
            <p:cNvSpPr>
              <a:spLocks noChangeShapeType="1"/>
            </p:cNvSpPr>
            <p:nvPr/>
          </p:nvSpPr>
          <p:spPr bwMode="auto">
            <a:xfrm flipV="1">
              <a:off x="4020" y="2714"/>
              <a:ext cx="2" cy="1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2" name="Line 31"/>
            <p:cNvSpPr>
              <a:spLocks noChangeShapeType="1"/>
            </p:cNvSpPr>
            <p:nvPr/>
          </p:nvSpPr>
          <p:spPr bwMode="auto">
            <a:xfrm flipH="1" flipV="1">
              <a:off x="4773" y="2711"/>
              <a:ext cx="1" cy="1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3" name="Line 32"/>
            <p:cNvSpPr>
              <a:spLocks noChangeShapeType="1"/>
            </p:cNvSpPr>
            <p:nvPr/>
          </p:nvSpPr>
          <p:spPr bwMode="auto">
            <a:xfrm flipV="1">
              <a:off x="5052" y="3393"/>
              <a:ext cx="1" cy="20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4" name="Line 33"/>
            <p:cNvSpPr>
              <a:spLocks noChangeShapeType="1"/>
            </p:cNvSpPr>
            <p:nvPr/>
          </p:nvSpPr>
          <p:spPr bwMode="auto">
            <a:xfrm flipH="1" flipV="1">
              <a:off x="3304" y="2714"/>
              <a:ext cx="1" cy="8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5" name="Line 34"/>
            <p:cNvSpPr>
              <a:spLocks noChangeShapeType="1"/>
            </p:cNvSpPr>
            <p:nvPr/>
          </p:nvSpPr>
          <p:spPr bwMode="auto">
            <a:xfrm>
              <a:off x="3842" y="2714"/>
              <a:ext cx="0" cy="8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6" name="Line 35"/>
            <p:cNvSpPr>
              <a:spLocks noChangeShapeType="1"/>
            </p:cNvSpPr>
            <p:nvPr/>
          </p:nvSpPr>
          <p:spPr bwMode="auto">
            <a:xfrm>
              <a:off x="4595" y="2714"/>
              <a:ext cx="0" cy="8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7" name="Line 36"/>
            <p:cNvSpPr>
              <a:spLocks noChangeShapeType="1"/>
            </p:cNvSpPr>
            <p:nvPr/>
          </p:nvSpPr>
          <p:spPr bwMode="auto">
            <a:xfrm flipV="1">
              <a:off x="3394" y="2714"/>
              <a:ext cx="1" cy="4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8" name="Line 37"/>
            <p:cNvSpPr>
              <a:spLocks noChangeShapeType="1"/>
            </p:cNvSpPr>
            <p:nvPr/>
          </p:nvSpPr>
          <p:spPr bwMode="auto">
            <a:xfrm flipV="1">
              <a:off x="3931" y="2714"/>
              <a:ext cx="0" cy="4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69" name="Line 38"/>
            <p:cNvSpPr>
              <a:spLocks noChangeShapeType="1"/>
            </p:cNvSpPr>
            <p:nvPr/>
          </p:nvSpPr>
          <p:spPr bwMode="auto">
            <a:xfrm flipH="1" flipV="1">
              <a:off x="4689" y="2714"/>
              <a:ext cx="0" cy="4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70" name="Line 39"/>
            <p:cNvSpPr>
              <a:spLocks noChangeShapeType="1"/>
            </p:cNvSpPr>
            <p:nvPr/>
          </p:nvSpPr>
          <p:spPr bwMode="auto">
            <a:xfrm flipV="1">
              <a:off x="4962" y="3079"/>
              <a:ext cx="1" cy="5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3" name="Rectangle 42"/>
          <p:cNvSpPr/>
          <p:nvPr/>
        </p:nvSpPr>
        <p:spPr>
          <a:xfrm>
            <a:off x="4921250" y="2017298"/>
            <a:ext cx="3625850" cy="4381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500" dirty="0">
                <a:solidFill>
                  <a:srgbClr val="FFFFFF"/>
                </a:solidFill>
                <a:latin typeface="Calibri" charset="0"/>
                <a:ea typeface="ＭＳ Ｐゴシック" charset="0"/>
                <a:cs typeface="ＭＳ Ｐゴシック" charset="0"/>
              </a:rPr>
              <a:t>Data Cache: Fermi, Kepler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5FB2C4-B47F-A84C-A046-53B7BD751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1D67FA-5617-1F4B-BFE2-5CB376B73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47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983549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152400" y="-76200"/>
            <a:ext cx="8915400" cy="1143000"/>
          </a:xfrm>
        </p:spPr>
        <p:txBody>
          <a:bodyPr/>
          <a:lstStyle/>
          <a:p>
            <a:r>
              <a:rPr lang="en-US" sz="3200" dirty="0">
                <a:latin typeface="Times New Roman"/>
                <a:ea typeface="ＭＳ Ｐゴシック" charset="0"/>
                <a:cs typeface="Times New Roman"/>
              </a:rPr>
              <a:t>SIMT = Single-Instruction Multiple Threads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525963"/>
          </a:xfrm>
        </p:spPr>
        <p:txBody>
          <a:bodyPr/>
          <a:lstStyle/>
          <a:p>
            <a:endParaRPr lang="en-US" dirty="0">
              <a:latin typeface="Times New Roman"/>
              <a:ea typeface="ＭＳ Ｐゴシック" charset="0"/>
              <a:cs typeface="Times New Roman"/>
            </a:endParaRPr>
          </a:p>
          <a:p>
            <a:r>
              <a:rPr lang="en-US" dirty="0">
                <a:latin typeface="Times New Roman"/>
                <a:ea typeface="ＭＳ Ｐゴシック" charset="0"/>
                <a:cs typeface="Times New Roman"/>
              </a:rPr>
              <a:t>Model </a:t>
            </a:r>
            <a:r>
              <a:rPr lang="en-US" dirty="0" err="1">
                <a:latin typeface="Times New Roman"/>
                <a:ea typeface="ＭＳ Ｐゴシック" charset="0"/>
                <a:cs typeface="Times New Roman"/>
              </a:rPr>
              <a:t>introdus</a:t>
            </a:r>
            <a:r>
              <a:rPr lang="en-US" dirty="0">
                <a:latin typeface="Times New Roman"/>
                <a:ea typeface="ＭＳ Ｐゴシック" charset="0"/>
                <a:cs typeface="Times New Roman"/>
              </a:rPr>
              <a:t> de </a:t>
            </a:r>
            <a:r>
              <a:rPr lang="en-US" dirty="0" err="1">
                <a:latin typeface="Times New Roman"/>
                <a:ea typeface="ＭＳ Ｐゴシック" charset="0"/>
                <a:cs typeface="Times New Roman"/>
              </a:rPr>
              <a:t>catre</a:t>
            </a:r>
            <a:r>
              <a:rPr lang="en-US" dirty="0">
                <a:latin typeface="Times New Roman"/>
                <a:ea typeface="ＭＳ Ｐゴシック" charset="0"/>
                <a:cs typeface="Times New Roman"/>
              </a:rPr>
              <a:t> Nvidia</a:t>
            </a:r>
          </a:p>
          <a:p>
            <a:endParaRPr lang="en-US" dirty="0">
              <a:latin typeface="Times New Roman"/>
              <a:ea typeface="ＭＳ Ｐゴシック" charset="0"/>
              <a:cs typeface="Times New Roman"/>
            </a:endParaRPr>
          </a:p>
          <a:p>
            <a:r>
              <a:rPr lang="en-US" b="1" dirty="0" err="1">
                <a:latin typeface="Times New Roman"/>
                <a:ea typeface="ＭＳ Ｐゴシック" charset="0"/>
                <a:cs typeface="Times New Roman"/>
              </a:rPr>
              <a:t>Combina</a:t>
            </a:r>
            <a:r>
              <a:rPr lang="en-US" dirty="0">
                <a:latin typeface="Times New Roman"/>
                <a:ea typeface="ＭＳ Ｐゴシック" charset="0"/>
                <a:cs typeface="Times New Roman"/>
              </a:rPr>
              <a:t> </a:t>
            </a:r>
            <a:r>
              <a:rPr lang="en-US" dirty="0" err="1">
                <a:latin typeface="Times New Roman"/>
                <a:ea typeface="ＭＳ Ｐゴシック" charset="0"/>
                <a:cs typeface="Times New Roman"/>
              </a:rPr>
              <a:t>executia</a:t>
            </a:r>
            <a:r>
              <a:rPr lang="en-US" dirty="0">
                <a:latin typeface="Times New Roman"/>
                <a:ea typeface="ＭＳ Ｐゴシック" charset="0"/>
                <a:cs typeface="Times New Roman"/>
              </a:rPr>
              <a:t> de tip </a:t>
            </a:r>
          </a:p>
          <a:p>
            <a:pPr lvl="1"/>
            <a:r>
              <a:rPr lang="en-US" b="1" i="1" dirty="0">
                <a:latin typeface="Times New Roman"/>
                <a:ea typeface="ＭＳ Ｐゴシック" charset="0"/>
                <a:cs typeface="Times New Roman"/>
              </a:rPr>
              <a:t>SIMD  din </a:t>
            </a:r>
            <a:r>
              <a:rPr lang="en-US" b="1" i="1" dirty="0" err="1">
                <a:latin typeface="Times New Roman"/>
                <a:ea typeface="ＭＳ Ｐゴシック" charset="0"/>
                <a:cs typeface="Times New Roman"/>
              </a:rPr>
              <a:t>interiorul</a:t>
            </a:r>
            <a:r>
              <a:rPr lang="en-US" b="1" i="1" dirty="0">
                <a:latin typeface="Times New Roman"/>
                <a:ea typeface="ＭＳ Ｐゴシック" charset="0"/>
                <a:cs typeface="Times New Roman"/>
              </a:rPr>
              <a:t> </a:t>
            </a:r>
            <a:r>
              <a:rPr lang="en-US" b="1" i="1" dirty="0" err="1">
                <a:latin typeface="Times New Roman"/>
                <a:ea typeface="ＭＳ Ｐゴシック" charset="0"/>
                <a:cs typeface="Times New Roman"/>
              </a:rPr>
              <a:t>unui</a:t>
            </a:r>
            <a:r>
              <a:rPr lang="en-US" b="1" i="1" dirty="0">
                <a:latin typeface="Times New Roman"/>
                <a:ea typeface="ＭＳ Ｐゴシック" charset="0"/>
                <a:cs typeface="Times New Roman"/>
              </a:rPr>
              <a:t> Block </a:t>
            </a:r>
            <a:r>
              <a:rPr lang="en-US" dirty="0">
                <a:latin typeface="Times New Roman"/>
                <a:ea typeface="ＭＳ Ｐゴシック" charset="0"/>
                <a:cs typeface="Times New Roman"/>
              </a:rPr>
              <a:t>(pe un SM) </a:t>
            </a:r>
            <a:br>
              <a:rPr lang="en-US" dirty="0">
                <a:latin typeface="Times New Roman"/>
                <a:ea typeface="ＭＳ Ｐゴシック" charset="0"/>
                <a:cs typeface="Times New Roman"/>
              </a:rPr>
            </a:br>
            <a:r>
              <a:rPr lang="en-US" dirty="0">
                <a:latin typeface="Times New Roman"/>
                <a:ea typeface="ＭＳ Ｐゴシック" charset="0"/>
                <a:cs typeface="Times New Roman"/>
              </a:rPr>
              <a:t>cu </a:t>
            </a:r>
            <a:r>
              <a:rPr lang="en-US" dirty="0" err="1">
                <a:latin typeface="Times New Roman"/>
                <a:ea typeface="ＭＳ Ｐゴシック" charset="0"/>
                <a:cs typeface="Times New Roman"/>
              </a:rPr>
              <a:t>executia</a:t>
            </a:r>
            <a:r>
              <a:rPr lang="en-US" dirty="0">
                <a:latin typeface="Times New Roman"/>
                <a:ea typeface="ＭＳ Ｐゴシック" charset="0"/>
                <a:cs typeface="Times New Roman"/>
              </a:rPr>
              <a:t> </a:t>
            </a:r>
          </a:p>
          <a:p>
            <a:pPr lvl="1"/>
            <a:r>
              <a:rPr lang="en-US" b="1" i="1" dirty="0">
                <a:latin typeface="Times New Roman"/>
                <a:ea typeface="ＭＳ Ｐゴシック" charset="0"/>
                <a:cs typeface="Times New Roman"/>
              </a:rPr>
              <a:t>SPMD </a:t>
            </a:r>
            <a:r>
              <a:rPr lang="en-US" b="1" i="1" dirty="0" err="1">
                <a:latin typeface="Times New Roman"/>
                <a:ea typeface="ＭＳ Ｐゴシック" charset="0"/>
                <a:cs typeface="Times New Roman"/>
              </a:rPr>
              <a:t>intre</a:t>
            </a:r>
            <a:r>
              <a:rPr lang="en-US" b="1" i="1" dirty="0">
                <a:latin typeface="Times New Roman"/>
                <a:ea typeface="ＭＳ Ｐゴシック" charset="0"/>
                <a:cs typeface="Times New Roman"/>
              </a:rPr>
              <a:t> Block-</a:t>
            </a:r>
            <a:r>
              <a:rPr lang="en-US" b="1" i="1" dirty="0" err="1">
                <a:latin typeface="Times New Roman"/>
                <a:ea typeface="ＭＳ Ｐゴシック" charset="0"/>
                <a:cs typeface="Times New Roman"/>
              </a:rPr>
              <a:t>uri</a:t>
            </a:r>
            <a:r>
              <a:rPr lang="en-US" b="1" i="1" dirty="0">
                <a:latin typeface="Times New Roman"/>
                <a:ea typeface="ＭＳ Ｐゴシック" charset="0"/>
                <a:cs typeface="Times New Roman"/>
              </a:rPr>
              <a:t> </a:t>
            </a:r>
            <a:r>
              <a:rPr lang="en-US" dirty="0">
                <a:latin typeface="Times New Roman"/>
                <a:ea typeface="ＭＳ Ｐゴシック" charset="0"/>
                <a:cs typeface="Times New Roman"/>
              </a:rPr>
              <a:t>(</a:t>
            </a:r>
            <a:r>
              <a:rPr lang="en-US" dirty="0" err="1">
                <a:latin typeface="Times New Roman"/>
                <a:ea typeface="ＭＳ Ｐゴシック" charset="0"/>
                <a:cs typeface="Times New Roman"/>
              </a:rPr>
              <a:t>distribuita</a:t>
            </a:r>
            <a:r>
              <a:rPr lang="en-US" dirty="0">
                <a:latin typeface="Times New Roman"/>
                <a:ea typeface="ＭＳ Ｐゴシック" charset="0"/>
                <a:cs typeface="Times New Roman"/>
              </a:rPr>
              <a:t>  pe /across SMs)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99757B-F523-8D42-897F-87F17FFE6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951CD6-3D1D-E145-809A-2C400D5A0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48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35390070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2EACB-7027-2C4D-AAFA-6C7153C3B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Organizare</a:t>
            </a:r>
            <a:r>
              <a:rPr lang="en-US" dirty="0"/>
              <a:t> - </a:t>
            </a:r>
            <a:r>
              <a:rPr lang="en-US" dirty="0" err="1"/>
              <a:t>Structurare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2876E-9CC0-66E2-3FEF-C41FC00FB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GPU, </a:t>
            </a:r>
            <a:r>
              <a:rPr lang="en-US" dirty="0" err="1"/>
              <a:t>unitatea</a:t>
            </a:r>
            <a:r>
              <a:rPr lang="en-US" dirty="0"/>
              <a:t> de </a:t>
            </a:r>
            <a:r>
              <a:rPr lang="en-US" dirty="0" err="1"/>
              <a:t>procesare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SP (streaming processor); </a:t>
            </a:r>
          </a:p>
          <a:p>
            <a:pPr lvl="1"/>
            <a:r>
              <a:rPr lang="en-US" dirty="0"/>
              <a:t>Mai </a:t>
            </a:r>
            <a:r>
              <a:rPr lang="en-US" dirty="0" err="1"/>
              <a:t>multe</a:t>
            </a:r>
            <a:r>
              <a:rPr lang="en-US" dirty="0"/>
              <a:t> SP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alte</a:t>
            </a:r>
            <a:r>
              <a:rPr lang="en-US" dirty="0"/>
              <a:t> </a:t>
            </a:r>
            <a:r>
              <a:rPr lang="en-US" dirty="0" err="1"/>
              <a:t>componente</a:t>
            </a:r>
            <a:r>
              <a:rPr lang="en-US" dirty="0"/>
              <a:t> </a:t>
            </a:r>
            <a:r>
              <a:rPr lang="en-US" dirty="0" err="1"/>
              <a:t>formeaza</a:t>
            </a:r>
            <a:r>
              <a:rPr lang="en-US" dirty="0"/>
              <a:t> un SM (streaming multiprocessor); </a:t>
            </a:r>
          </a:p>
          <a:p>
            <a:pPr lvl="1"/>
            <a:r>
              <a:rPr lang="en-US" dirty="0"/>
              <a:t>Mai </a:t>
            </a:r>
            <a:r>
              <a:rPr lang="en-US" dirty="0" err="1"/>
              <a:t>multe</a:t>
            </a:r>
            <a:r>
              <a:rPr lang="en-US" dirty="0"/>
              <a:t>  SM </a:t>
            </a:r>
            <a:r>
              <a:rPr lang="en-US" dirty="0" err="1"/>
              <a:t>formeaza</a:t>
            </a:r>
            <a:r>
              <a:rPr lang="en-US" dirty="0"/>
              <a:t> un TPC (texture processing cluster)</a:t>
            </a:r>
          </a:p>
          <a:p>
            <a:r>
              <a:rPr lang="en-US" dirty="0"/>
              <a:t>In CUDA, </a:t>
            </a:r>
            <a:r>
              <a:rPr lang="en-US" dirty="0" err="1"/>
              <a:t>putem</a:t>
            </a:r>
            <a:r>
              <a:rPr lang="en-US" dirty="0"/>
              <a:t> </a:t>
            </a:r>
            <a:r>
              <a:rPr lang="en-US" dirty="0" err="1"/>
              <a:t>spune</a:t>
            </a:r>
            <a:r>
              <a:rPr lang="en-US" dirty="0"/>
              <a:t> ca</a:t>
            </a:r>
          </a:p>
          <a:p>
            <a:pPr lvl="1"/>
            <a:r>
              <a:rPr lang="en-US" dirty="0"/>
              <a:t>un grid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procesat</a:t>
            </a:r>
            <a:r>
              <a:rPr lang="en-US" dirty="0"/>
              <a:t> de </a:t>
            </a:r>
            <a:r>
              <a:rPr lang="en-US" dirty="0" err="1"/>
              <a:t>catre</a:t>
            </a:r>
            <a:r>
              <a:rPr lang="en-US" dirty="0"/>
              <a:t> </a:t>
            </a:r>
            <a:r>
              <a:rPr lang="en-US" dirty="0" err="1"/>
              <a:t>intreg</a:t>
            </a:r>
            <a:r>
              <a:rPr lang="en-US" dirty="0"/>
              <a:t> device-</a:t>
            </a:r>
            <a:r>
              <a:rPr lang="en-US" dirty="0" err="1"/>
              <a:t>ul</a:t>
            </a:r>
            <a:r>
              <a:rPr lang="en-US" dirty="0"/>
              <a:t> GPU, </a:t>
            </a:r>
          </a:p>
          <a:p>
            <a:pPr lvl="1"/>
            <a:r>
              <a:rPr lang="en-US" dirty="0"/>
              <a:t>un block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procesat</a:t>
            </a:r>
            <a:r>
              <a:rPr lang="en-US" dirty="0"/>
              <a:t> de </a:t>
            </a:r>
            <a:r>
              <a:rPr lang="en-US" dirty="0" err="1"/>
              <a:t>catre</a:t>
            </a:r>
            <a:r>
              <a:rPr lang="en-US" dirty="0"/>
              <a:t> un SM, and</a:t>
            </a:r>
          </a:p>
          <a:p>
            <a:pPr lvl="1"/>
            <a:r>
              <a:rPr lang="en-US" dirty="0"/>
              <a:t>un  thread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procesat</a:t>
            </a:r>
            <a:r>
              <a:rPr lang="en-US" dirty="0"/>
              <a:t> de </a:t>
            </a:r>
            <a:r>
              <a:rPr lang="en-US" dirty="0" err="1"/>
              <a:t>catre</a:t>
            </a:r>
            <a:r>
              <a:rPr lang="en-US" dirty="0"/>
              <a:t>  un SP.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B768E0-4BF1-5CC9-BD73-694086EF6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30685C-23F4-3B43-7E81-5E8BE695C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49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29540670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628800"/>
            <a:ext cx="8229600" cy="4464496"/>
          </a:xfrm>
        </p:spPr>
        <p:txBody>
          <a:bodyPr/>
          <a:lstStyle/>
          <a:p>
            <a:r>
              <a:rPr lang="en-US" dirty="0"/>
              <a:t>Cate 32 threads </a:t>
            </a:r>
            <a:r>
              <a:rPr lang="en-US" dirty="0" err="1"/>
              <a:t>compun</a:t>
            </a:r>
            <a:r>
              <a:rPr lang="en-US" dirty="0"/>
              <a:t> un </a:t>
            </a:r>
            <a:r>
              <a:rPr lang="en-US" b="1" i="1" dirty="0"/>
              <a:t>wrap. </a:t>
            </a:r>
          </a:p>
          <a:p>
            <a:pPr lvl="1"/>
            <a:r>
              <a:rPr lang="en-US" dirty="0" err="1"/>
              <a:t>Daca</a:t>
            </a:r>
            <a:r>
              <a:rPr lang="en-US" dirty="0"/>
              <a:t> se </a:t>
            </a:r>
            <a:r>
              <a:rPr lang="en-US" dirty="0" err="1"/>
              <a:t>alege</a:t>
            </a:r>
            <a:r>
              <a:rPr lang="en-US" dirty="0"/>
              <a:t> un </a:t>
            </a:r>
            <a:r>
              <a:rPr lang="en-US" dirty="0" err="1"/>
              <a:t>numar</a:t>
            </a:r>
            <a:r>
              <a:rPr lang="en-US" dirty="0"/>
              <a:t> de </a:t>
            </a:r>
            <a:r>
              <a:rPr lang="en-US" dirty="0" err="1"/>
              <a:t>threaduri</a:t>
            </a:r>
            <a:r>
              <a:rPr lang="en-US" dirty="0"/>
              <a:t> care nu se divide cu 32 </a:t>
            </a:r>
            <a:r>
              <a:rPr lang="en-US" dirty="0" err="1"/>
              <a:t>atunci</a:t>
            </a:r>
            <a:r>
              <a:rPr lang="en-US" dirty="0"/>
              <a:t> </a:t>
            </a:r>
            <a:r>
              <a:rPr lang="en-US" dirty="0" err="1"/>
              <a:t>restul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forma un wrap (-&gt; </a:t>
            </a:r>
            <a:r>
              <a:rPr lang="en-US" dirty="0" err="1"/>
              <a:t>ineficient</a:t>
            </a:r>
            <a:r>
              <a:rPr lang="en-US" dirty="0"/>
              <a:t>)</a:t>
            </a:r>
          </a:p>
          <a:p>
            <a:r>
              <a:rPr lang="en-US" dirty="0"/>
              <a:t>De </a:t>
            </a:r>
            <a:r>
              <a:rPr lang="en-US" dirty="0" err="1"/>
              <a:t>fiecare</a:t>
            </a:r>
            <a:r>
              <a:rPr lang="en-US" dirty="0"/>
              <a:t> data un </a:t>
            </a:r>
            <a:r>
              <a:rPr lang="en-US" b="1" dirty="0"/>
              <a:t>SM </a:t>
            </a:r>
            <a:r>
              <a:rPr lang="en-US" b="1" dirty="0" err="1"/>
              <a:t>proceseaza</a:t>
            </a:r>
            <a:r>
              <a:rPr lang="en-US" b="1" dirty="0"/>
              <a:t> </a:t>
            </a:r>
            <a:r>
              <a:rPr lang="en-US" b="1" dirty="0" err="1"/>
              <a:t>doar</a:t>
            </a:r>
            <a:r>
              <a:rPr lang="en-US" b="1" dirty="0"/>
              <a:t> un wrap </a:t>
            </a:r>
            <a:r>
              <a:rPr lang="en-US" b="1" dirty="0" err="1"/>
              <a:t>si</a:t>
            </a:r>
            <a:r>
              <a:rPr lang="en-US" b="1" dirty="0"/>
              <a:t> </a:t>
            </a:r>
            <a:r>
              <a:rPr lang="en-US" dirty="0" err="1"/>
              <a:t>astfel</a:t>
            </a:r>
            <a:r>
              <a:rPr lang="en-US" dirty="0"/>
              <a:t> ca </a:t>
            </a:r>
            <a:r>
              <a:rPr lang="en-US" dirty="0" err="1"/>
              <a:t>daca</a:t>
            </a:r>
            <a:r>
              <a:rPr lang="en-US" dirty="0"/>
              <a:t> sunt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putin</a:t>
            </a:r>
            <a:r>
              <a:rPr lang="en-US" dirty="0"/>
              <a:t> de 32 threads </a:t>
            </a:r>
            <a:r>
              <a:rPr lang="en-US" dirty="0" err="1"/>
              <a:t>intr</a:t>
            </a:r>
            <a:r>
              <a:rPr lang="en-US" dirty="0"/>
              <a:t>-un wrap </a:t>
            </a:r>
            <a:r>
              <a:rPr lang="en-US" dirty="0" err="1"/>
              <a:t>atunci</a:t>
            </a:r>
            <a:r>
              <a:rPr lang="en-US" dirty="0"/>
              <a:t> </a:t>
            </a:r>
            <a:r>
              <a:rPr lang="en-US" dirty="0" err="1"/>
              <a:t>unele</a:t>
            </a:r>
            <a:r>
              <a:rPr lang="en-US" dirty="0"/>
              <a:t> SP nu sunt </a:t>
            </a:r>
            <a:r>
              <a:rPr lang="en-US" dirty="0" err="1"/>
              <a:t>folosite</a:t>
            </a:r>
            <a:r>
              <a:rPr lang="en-US" dirty="0"/>
              <a:t>.</a:t>
            </a:r>
            <a:endParaRPr lang="en-US" i="1" dirty="0"/>
          </a:p>
          <a:p>
            <a:r>
              <a:rPr lang="en-US" i="1" dirty="0"/>
              <a:t> </a:t>
            </a:r>
            <a:r>
              <a:rPr lang="en-US" b="1" i="1" u="sng" dirty="0">
                <a:solidFill>
                  <a:srgbClr val="008000"/>
                </a:solidFill>
              </a:rPr>
              <a:t>The warp size is the number of threads running concurrently on an SM</a:t>
            </a:r>
            <a:r>
              <a:rPr lang="en-US" i="1" u="sng" dirty="0"/>
              <a:t>. </a:t>
            </a:r>
          </a:p>
          <a:p>
            <a:pPr lvl="1"/>
            <a:r>
              <a:rPr lang="en-US" dirty="0"/>
              <a:t>De </a:t>
            </a:r>
            <a:r>
              <a:rPr lang="en-US" dirty="0" err="1"/>
              <a:t>fapt</a:t>
            </a:r>
            <a:r>
              <a:rPr lang="en-US" dirty="0"/>
              <a:t> </a:t>
            </a:r>
            <a:r>
              <a:rPr lang="en-US" dirty="0" err="1"/>
              <a:t>threadurile</a:t>
            </a:r>
            <a:r>
              <a:rPr lang="en-US" dirty="0"/>
              <a:t> </a:t>
            </a:r>
            <a:r>
              <a:rPr lang="en-US" dirty="0" err="1"/>
              <a:t>ruleaza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in </a:t>
            </a:r>
            <a:r>
              <a:rPr lang="en-US" dirty="0" err="1"/>
              <a:t>paralel</a:t>
            </a:r>
            <a:r>
              <a:rPr lang="en-US" dirty="0"/>
              <a:t> </a:t>
            </a:r>
            <a:r>
              <a:rPr lang="en-US" dirty="0" err="1"/>
              <a:t>dar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pipelined</a:t>
            </a:r>
          </a:p>
          <a:p>
            <a:pPr lvl="2"/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SM </a:t>
            </a:r>
            <a:r>
              <a:rPr lang="en-US" dirty="0" err="1"/>
              <a:t>contine</a:t>
            </a:r>
            <a:r>
              <a:rPr lang="en-US" dirty="0"/>
              <a:t> cate 8 SP  </a:t>
            </a:r>
          </a:p>
          <a:p>
            <a:pPr lvl="2"/>
            <a:r>
              <a:rPr lang="en-US" dirty="0" err="1"/>
              <a:t>cea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rapida</a:t>
            </a:r>
            <a:r>
              <a:rPr lang="en-US" dirty="0"/>
              <a:t> </a:t>
            </a:r>
            <a:r>
              <a:rPr lang="en-US" dirty="0" err="1"/>
              <a:t>instructiune</a:t>
            </a:r>
            <a:r>
              <a:rPr lang="en-US" dirty="0"/>
              <a:t> </a:t>
            </a:r>
            <a:r>
              <a:rPr lang="en-US" dirty="0" err="1"/>
              <a:t>necesita</a:t>
            </a:r>
            <a:r>
              <a:rPr lang="en-US" dirty="0"/>
              <a:t> 4 </a:t>
            </a:r>
            <a:r>
              <a:rPr lang="en-US" dirty="0" err="1"/>
              <a:t>cicluri</a:t>
            </a:r>
            <a:r>
              <a:rPr lang="en-US" dirty="0"/>
              <a:t> (cycles). </a:t>
            </a:r>
          </a:p>
          <a:p>
            <a:pPr lvl="2"/>
            <a:r>
              <a:rPr lang="en-US" dirty="0"/>
              <a:t>=&gt; </a:t>
            </a:r>
            <a:r>
              <a:rPr lang="en-US" dirty="0" err="1"/>
              <a:t>fiecare</a:t>
            </a:r>
            <a:r>
              <a:rPr lang="en-US" dirty="0"/>
              <a:t> SP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avea</a:t>
            </a:r>
            <a:r>
              <a:rPr lang="en-US" dirty="0"/>
              <a:t> 4 </a:t>
            </a:r>
            <a:r>
              <a:rPr lang="en-US" dirty="0" err="1"/>
              <a:t>instructiuni</a:t>
            </a:r>
            <a:r>
              <a:rPr lang="en-US" dirty="0"/>
              <a:t> in </a:t>
            </a:r>
            <a:r>
              <a:rPr lang="en-US" dirty="0" err="1"/>
              <a:t>propriul</a:t>
            </a:r>
            <a:r>
              <a:rPr lang="en-US" dirty="0"/>
              <a:t> pipeline, </a:t>
            </a:r>
            <a:r>
              <a:rPr lang="en-US" dirty="0" err="1"/>
              <a:t>deci</a:t>
            </a:r>
            <a:r>
              <a:rPr lang="en-US" dirty="0"/>
              <a:t> </a:t>
            </a:r>
            <a:r>
              <a:rPr lang="en-US" dirty="0" err="1"/>
              <a:t>avem</a:t>
            </a:r>
            <a:r>
              <a:rPr lang="en-US" dirty="0"/>
              <a:t> un total de 8 × 4 = 32 </a:t>
            </a:r>
            <a:r>
              <a:rPr lang="en-US" dirty="0" err="1"/>
              <a:t>instructiuni</a:t>
            </a:r>
            <a:r>
              <a:rPr lang="en-US" dirty="0"/>
              <a:t> care se </a:t>
            </a:r>
            <a:r>
              <a:rPr lang="en-US" dirty="0" err="1"/>
              <a:t>executa</a:t>
            </a:r>
            <a:r>
              <a:rPr lang="en-US" dirty="0"/>
              <a:t> </a:t>
            </a:r>
            <a:r>
              <a:rPr lang="en-US" dirty="0" err="1"/>
              <a:t>concurent</a:t>
            </a:r>
            <a:r>
              <a:rPr lang="en-US" dirty="0"/>
              <a:t>. </a:t>
            </a:r>
          </a:p>
          <a:p>
            <a:r>
              <a:rPr lang="en-US" dirty="0"/>
              <a:t>In </a:t>
            </a:r>
            <a:r>
              <a:rPr lang="en-US" dirty="0" err="1"/>
              <a:t>interiorul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warp,  thread-</a:t>
            </a:r>
            <a:r>
              <a:rPr lang="en-US" dirty="0" err="1"/>
              <a:t>urile</a:t>
            </a:r>
            <a:r>
              <a:rPr lang="en-US" dirty="0"/>
              <a:t> au </a:t>
            </a:r>
            <a:r>
              <a:rPr lang="en-US" dirty="0" err="1"/>
              <a:t>indecsi</a:t>
            </a:r>
            <a:r>
              <a:rPr lang="en-US" dirty="0"/>
              <a:t> </a:t>
            </a:r>
            <a:r>
              <a:rPr lang="en-US" dirty="0" err="1"/>
              <a:t>secventiali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Primul</a:t>
            </a:r>
            <a:r>
              <a:rPr lang="en-US" dirty="0"/>
              <a:t> 0..31, </a:t>
            </a:r>
            <a:r>
              <a:rPr lang="en-US" dirty="0" err="1"/>
              <a:t>urmatorul</a:t>
            </a:r>
            <a:r>
              <a:rPr lang="en-US" dirty="0"/>
              <a:t> 32..63 </a:t>
            </a:r>
            <a:r>
              <a:rPr lang="en-US" dirty="0" err="1"/>
              <a:t>s.a.md</a:t>
            </a:r>
            <a:r>
              <a:rPr lang="en-US" dirty="0"/>
              <a:t>. </a:t>
            </a:r>
            <a:r>
              <a:rPr lang="en-US" dirty="0" err="1"/>
              <a:t>Pana</a:t>
            </a:r>
            <a:r>
              <a:rPr lang="en-US" dirty="0"/>
              <a:t> la </a:t>
            </a:r>
            <a:r>
              <a:rPr lang="en-US" dirty="0" err="1"/>
              <a:t>numarul</a:t>
            </a:r>
            <a:r>
              <a:rPr lang="en-US" dirty="0"/>
              <a:t> total de </a:t>
            </a:r>
            <a:r>
              <a:rPr lang="en-US" dirty="0" err="1"/>
              <a:t>threaduri</a:t>
            </a:r>
            <a:r>
              <a:rPr lang="en-US" dirty="0"/>
              <a:t> </a:t>
            </a:r>
            <a:r>
              <a:rPr lang="en-US" dirty="0" err="1"/>
              <a:t>dintr</a:t>
            </a:r>
            <a:r>
              <a:rPr lang="en-US" dirty="0"/>
              <a:t>-un block.</a:t>
            </a:r>
            <a:r>
              <a:rPr lang="en-US" sz="1200" i="1" dirty="0"/>
              <a:t>[http://</a:t>
            </a:r>
            <a:r>
              <a:rPr lang="en-US" sz="1200" i="1" dirty="0" err="1"/>
              <a:t>cuda-programming.blogspot.ro</a:t>
            </a:r>
            <a:r>
              <a:rPr lang="en-US" sz="1200" i="1" dirty="0"/>
              <a:t>/2013/01/what-is-warp-in-</a:t>
            </a:r>
            <a:r>
              <a:rPr lang="en-US" sz="1200" i="1" dirty="0" err="1"/>
              <a:t>cuda.html</a:t>
            </a:r>
            <a:r>
              <a:rPr lang="en-US" sz="1200" i="1" dirty="0"/>
              <a:t>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3528" y="692696"/>
            <a:ext cx="86409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WRAP</a:t>
            </a:r>
          </a:p>
          <a:p>
            <a:endParaRPr lang="en-US" dirty="0"/>
          </a:p>
          <a:p>
            <a:pPr marL="285750" indent="-285750">
              <a:buFont typeface="Wingdings" charset="2"/>
              <a:buChar char="v"/>
            </a:pPr>
            <a:r>
              <a:rPr lang="en-US" dirty="0" err="1"/>
              <a:t>fiecare</a:t>
            </a:r>
            <a:r>
              <a:rPr lang="en-US" dirty="0"/>
              <a:t> SM are 8 SP </a:t>
            </a:r>
            <a:r>
              <a:rPr lang="en-US" dirty="0" err="1"/>
              <a:t>si</a:t>
            </a:r>
            <a:r>
              <a:rPr lang="en-US" dirty="0"/>
              <a:t> pot fi 4 </a:t>
            </a:r>
            <a:r>
              <a:rPr lang="en-US" dirty="0" err="1"/>
              <a:t>instructiuni</a:t>
            </a:r>
            <a:r>
              <a:rPr lang="en-US" dirty="0"/>
              <a:t> in </a:t>
            </a:r>
            <a:r>
              <a:rPr lang="en-US" dirty="0" err="1"/>
              <a:t>executie</a:t>
            </a:r>
            <a:r>
              <a:rPr lang="en-US" dirty="0"/>
              <a:t> – pipelined =&gt; 32 threads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613E71-0491-F841-BA81-3A2C1569F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9D2418-CA01-FD4D-96F1-20DDB853D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50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20047021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Efect</a:t>
            </a:r>
            <a:r>
              <a:rPr lang="en-US" dirty="0"/>
              <a:t>-&gt; </a:t>
            </a:r>
            <a:r>
              <a:rPr lang="en-US" i="1" dirty="0"/>
              <a:t>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Omogenitatea</a:t>
            </a:r>
            <a:r>
              <a:rPr lang="en-US" dirty="0"/>
              <a:t> </a:t>
            </a:r>
            <a:r>
              <a:rPr lang="en-US" dirty="0" err="1"/>
              <a:t>threadurilor</a:t>
            </a:r>
            <a:r>
              <a:rPr lang="en-US" dirty="0"/>
              <a:t> </a:t>
            </a:r>
            <a:r>
              <a:rPr lang="en-US" dirty="0" err="1"/>
              <a:t>dintr</a:t>
            </a:r>
            <a:r>
              <a:rPr lang="en-US" dirty="0"/>
              <a:t>-un wrap are un </a:t>
            </a:r>
            <a:r>
              <a:rPr lang="en-US" dirty="0" err="1"/>
              <a:t>efect</a:t>
            </a:r>
            <a:r>
              <a:rPr lang="en-US" dirty="0"/>
              <a:t> important </a:t>
            </a:r>
            <a:r>
              <a:rPr lang="en-US" dirty="0" err="1"/>
              <a:t>asupra</a:t>
            </a:r>
            <a:r>
              <a:rPr lang="en-US" dirty="0"/>
              <a:t> </a:t>
            </a:r>
            <a:r>
              <a:rPr lang="en-US" dirty="0" err="1"/>
              <a:t>performantei</a:t>
            </a:r>
            <a:r>
              <a:rPr lang="en-US" dirty="0"/>
              <a:t> </a:t>
            </a:r>
            <a:r>
              <a:rPr lang="en-US" dirty="0" err="1"/>
              <a:t>calculului</a:t>
            </a:r>
            <a:r>
              <a:rPr lang="en-US" dirty="0"/>
              <a:t> (</a:t>
            </a:r>
            <a:r>
              <a:rPr lang="en-US" i="1" dirty="0"/>
              <a:t>computational throughput</a:t>
            </a:r>
            <a:r>
              <a:rPr lang="en-US" dirty="0"/>
              <a:t>).</a:t>
            </a:r>
          </a:p>
          <a:p>
            <a:pPr lvl="1"/>
            <a:r>
              <a:rPr lang="en-US" dirty="0" err="1"/>
              <a:t>Daca</a:t>
            </a:r>
            <a:r>
              <a:rPr lang="en-US" dirty="0"/>
              <a:t>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threadurile</a:t>
            </a:r>
            <a:r>
              <a:rPr lang="en-US" dirty="0"/>
              <a:t> </a:t>
            </a:r>
            <a:r>
              <a:rPr lang="en-US" dirty="0" err="1"/>
              <a:t>executa</a:t>
            </a:r>
            <a:r>
              <a:rPr lang="en-US" dirty="0"/>
              <a:t> </a:t>
            </a:r>
            <a:r>
              <a:rPr lang="en-US" dirty="0" err="1"/>
              <a:t>aceeasi</a:t>
            </a:r>
            <a:r>
              <a:rPr lang="en-US" dirty="0"/>
              <a:t> </a:t>
            </a:r>
            <a:r>
              <a:rPr lang="en-US" dirty="0" err="1"/>
              <a:t>instructiune</a:t>
            </a:r>
            <a:r>
              <a:rPr lang="en-US" dirty="0"/>
              <a:t> </a:t>
            </a:r>
            <a:r>
              <a:rPr lang="en-US" dirty="0" err="1"/>
              <a:t>atunci</a:t>
            </a:r>
            <a:r>
              <a:rPr lang="en-US" dirty="0"/>
              <a:t> </a:t>
            </a:r>
            <a:r>
              <a:rPr lang="en-US" dirty="0" err="1"/>
              <a:t>toate</a:t>
            </a:r>
            <a:r>
              <a:rPr lang="en-US" dirty="0"/>
              <a:t> SP </a:t>
            </a:r>
            <a:r>
              <a:rPr lang="en-US" dirty="0" err="1"/>
              <a:t>dintr</a:t>
            </a:r>
            <a:r>
              <a:rPr lang="en-US" dirty="0"/>
              <a:t>-un SM pot </a:t>
            </a:r>
            <a:r>
              <a:rPr lang="en-US" dirty="0" err="1"/>
              <a:t>executa</a:t>
            </a:r>
            <a:r>
              <a:rPr lang="en-US" dirty="0"/>
              <a:t> </a:t>
            </a:r>
            <a:r>
              <a:rPr lang="en-US" dirty="0" err="1"/>
              <a:t>aceeasi</a:t>
            </a:r>
            <a:r>
              <a:rPr lang="en-US" dirty="0"/>
              <a:t> </a:t>
            </a:r>
            <a:r>
              <a:rPr lang="en-US" dirty="0" err="1"/>
              <a:t>instructiune</a:t>
            </a:r>
            <a:r>
              <a:rPr lang="en-US" dirty="0"/>
              <a:t> in </a:t>
            </a:r>
            <a:r>
              <a:rPr lang="en-US" dirty="0" err="1"/>
              <a:t>paralel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Daca</a:t>
            </a:r>
            <a:r>
              <a:rPr lang="en-US" dirty="0"/>
              <a:t> un thread </a:t>
            </a:r>
            <a:r>
              <a:rPr lang="en-US" dirty="0" err="1"/>
              <a:t>dintr</a:t>
            </a:r>
            <a:r>
              <a:rPr lang="en-US" dirty="0"/>
              <a:t>-un </a:t>
            </a:r>
            <a:r>
              <a:rPr lang="en-US" dirty="0" err="1"/>
              <a:t>presupus</a:t>
            </a:r>
            <a:r>
              <a:rPr lang="en-US" dirty="0"/>
              <a:t> wrap </a:t>
            </a:r>
            <a:r>
              <a:rPr lang="en-US" dirty="0" err="1"/>
              <a:t>executa</a:t>
            </a:r>
            <a:r>
              <a:rPr lang="en-US" dirty="0"/>
              <a:t> o </a:t>
            </a:r>
            <a:r>
              <a:rPr lang="en-US" dirty="0" err="1"/>
              <a:t>instructiune</a:t>
            </a:r>
            <a:r>
              <a:rPr lang="en-US" dirty="0"/>
              <a:t> </a:t>
            </a:r>
            <a:r>
              <a:rPr lang="en-US" dirty="0" err="1"/>
              <a:t>diferita</a:t>
            </a:r>
            <a:r>
              <a:rPr lang="en-US" dirty="0"/>
              <a:t> de </a:t>
            </a:r>
            <a:r>
              <a:rPr lang="en-US" dirty="0" err="1"/>
              <a:t>celelalte</a:t>
            </a:r>
            <a:r>
              <a:rPr lang="en-US" dirty="0"/>
              <a:t>, </a:t>
            </a:r>
            <a:r>
              <a:rPr lang="en-US" dirty="0" err="1"/>
              <a:t>atunci</a:t>
            </a:r>
            <a:r>
              <a:rPr lang="en-US" dirty="0"/>
              <a:t> </a:t>
            </a:r>
            <a:r>
              <a:rPr lang="en-US" dirty="0" err="1"/>
              <a:t>acel</a:t>
            </a:r>
            <a:r>
              <a:rPr lang="en-US" dirty="0"/>
              <a:t> wrap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fie </a:t>
            </a:r>
            <a:r>
              <a:rPr lang="en-US" dirty="0" err="1"/>
              <a:t>partitionat</a:t>
            </a:r>
            <a:r>
              <a:rPr lang="en-US" dirty="0"/>
              <a:t> in </a:t>
            </a:r>
            <a:r>
              <a:rPr lang="en-US" dirty="0" err="1"/>
              <a:t>grupuri</a:t>
            </a:r>
            <a:r>
              <a:rPr lang="en-US" dirty="0"/>
              <a:t> de </a:t>
            </a:r>
            <a:r>
              <a:rPr lang="en-US" dirty="0" err="1"/>
              <a:t>threaduri</a:t>
            </a:r>
            <a:r>
              <a:rPr lang="en-US" dirty="0"/>
              <a:t> </a:t>
            </a:r>
            <a:r>
              <a:rPr lang="en-US" dirty="0" err="1"/>
              <a:t>bazat</a:t>
            </a:r>
            <a:r>
              <a:rPr lang="en-US" dirty="0"/>
              <a:t> pe </a:t>
            </a:r>
            <a:r>
              <a:rPr lang="en-US" dirty="0" err="1"/>
              <a:t>instructiunile</a:t>
            </a:r>
            <a:r>
              <a:rPr lang="en-US" dirty="0"/>
              <a:t> care </a:t>
            </a:r>
            <a:r>
              <a:rPr lang="en-US" dirty="0" err="1"/>
              <a:t>urmeaza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fie </a:t>
            </a:r>
            <a:r>
              <a:rPr lang="en-US" dirty="0" err="1"/>
              <a:t>executate</a:t>
            </a:r>
            <a:r>
              <a:rPr lang="en-US" dirty="0"/>
              <a:t>; </a:t>
            </a:r>
            <a:r>
              <a:rPr lang="en-US" dirty="0" err="1"/>
              <a:t>apoi</a:t>
            </a:r>
            <a:r>
              <a:rPr lang="en-US" dirty="0"/>
              <a:t> </a:t>
            </a:r>
            <a:r>
              <a:rPr lang="en-US" dirty="0" err="1"/>
              <a:t>grupurile</a:t>
            </a:r>
            <a:r>
              <a:rPr lang="en-US" dirty="0"/>
              <a:t> se </a:t>
            </a:r>
            <a:r>
              <a:rPr lang="en-US" dirty="0" err="1"/>
              <a:t>executa</a:t>
            </a:r>
            <a:r>
              <a:rPr lang="en-US" dirty="0"/>
              <a:t> </a:t>
            </a:r>
            <a:r>
              <a:rPr lang="en-US" dirty="0" err="1"/>
              <a:t>unul</a:t>
            </a:r>
            <a:r>
              <a:rPr lang="en-US" dirty="0"/>
              <a:t> </a:t>
            </a:r>
            <a:r>
              <a:rPr lang="en-US" dirty="0" err="1"/>
              <a:t>dupa</a:t>
            </a:r>
            <a:r>
              <a:rPr lang="en-US" dirty="0"/>
              <a:t> </a:t>
            </a:r>
            <a:r>
              <a:rPr lang="en-US" dirty="0" err="1"/>
              <a:t>altul</a:t>
            </a:r>
            <a:r>
              <a:rPr lang="en-US" dirty="0"/>
              <a:t>. </a:t>
            </a:r>
          </a:p>
          <a:p>
            <a:pPr lvl="2"/>
            <a:r>
              <a:rPr lang="en-US" dirty="0" err="1"/>
              <a:t>Aceasta</a:t>
            </a:r>
            <a:r>
              <a:rPr lang="en-US" dirty="0"/>
              <a:t> </a:t>
            </a:r>
            <a:r>
              <a:rPr lang="en-US" dirty="0" err="1"/>
              <a:t>serializare</a:t>
            </a:r>
            <a:r>
              <a:rPr lang="en-US" dirty="0"/>
              <a:t> reduce ‘throughput-ul’ </a:t>
            </a:r>
          </a:p>
          <a:p>
            <a:pPr lvl="3"/>
            <a:r>
              <a:rPr lang="en-US" dirty="0"/>
              <a:t>pe </a:t>
            </a:r>
            <a:r>
              <a:rPr lang="en-US" dirty="0" err="1"/>
              <a:t>masura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threadurile</a:t>
            </a:r>
            <a:r>
              <a:rPr lang="en-US" dirty="0"/>
              <a:t> </a:t>
            </a:r>
            <a:r>
              <a:rPr lang="en-US" dirty="0" err="1"/>
              <a:t>devin</a:t>
            </a:r>
            <a:r>
              <a:rPr lang="en-US" dirty="0"/>
              <a:t> tot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heterogene</a:t>
            </a:r>
            <a:r>
              <a:rPr lang="en-US" dirty="0"/>
              <a:t> se impart in </a:t>
            </a:r>
            <a:r>
              <a:rPr lang="en-US" dirty="0" err="1"/>
              <a:t>grupuri</a:t>
            </a:r>
            <a:r>
              <a:rPr lang="en-US" dirty="0"/>
              <a:t> tot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mici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Rezulta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important </a:t>
            </a:r>
            <a:r>
              <a:rPr lang="en-US" dirty="0" err="1"/>
              <a:t>sa</a:t>
            </a:r>
            <a:r>
              <a:rPr lang="en-US" dirty="0"/>
              <a:t> se </a:t>
            </a:r>
            <a:r>
              <a:rPr lang="en-US" dirty="0" err="1"/>
              <a:t>pastreze</a:t>
            </a:r>
            <a:r>
              <a:rPr lang="en-US" dirty="0"/>
              <a:t> </a:t>
            </a:r>
            <a:r>
              <a:rPr lang="en-US" dirty="0" err="1"/>
              <a:t>omogenitatatea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cat </a:t>
            </a:r>
            <a:r>
              <a:rPr lang="en-US" dirty="0" err="1"/>
              <a:t>posibil</a:t>
            </a:r>
            <a:r>
              <a:rPr lang="en-US" dirty="0"/>
              <a:t>!</a:t>
            </a:r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8ACD33-64F7-3F4A-A500-9A2AFBF4C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34D04F-A7CA-4442-993A-B173FF858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51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33791801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569371"/>
          </a:xfrm>
        </p:spPr>
        <p:txBody>
          <a:bodyPr/>
          <a:lstStyle/>
          <a:p>
            <a:r>
              <a:rPr lang="en-US" dirty="0" err="1"/>
              <a:t>Atunci</a:t>
            </a:r>
            <a:r>
              <a:rPr lang="en-US" dirty="0"/>
              <a:t> </a:t>
            </a:r>
            <a:r>
              <a:rPr lang="en-US" dirty="0" err="1"/>
              <a:t>cand</a:t>
            </a:r>
            <a:r>
              <a:rPr lang="en-US" dirty="0"/>
              <a:t> un thread </a:t>
            </a:r>
            <a:r>
              <a:rPr lang="en-US" dirty="0" err="1"/>
              <a:t>asteapta</a:t>
            </a:r>
            <a:r>
              <a:rPr lang="en-US" dirty="0"/>
              <a:t> date, </a:t>
            </a:r>
            <a:r>
              <a:rPr lang="en-US" dirty="0" err="1"/>
              <a:t>unitatea</a:t>
            </a:r>
            <a:r>
              <a:rPr lang="en-US" dirty="0"/>
              <a:t> SM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alege</a:t>
            </a:r>
            <a:r>
              <a:rPr lang="en-US" dirty="0"/>
              <a:t> un alt thread </a:t>
            </a:r>
            <a:r>
              <a:rPr lang="en-US" dirty="0" err="1"/>
              <a:t>pentru</a:t>
            </a:r>
            <a:r>
              <a:rPr lang="en-US" dirty="0"/>
              <a:t> a fi </a:t>
            </a:r>
            <a:r>
              <a:rPr lang="en-US" dirty="0" err="1"/>
              <a:t>executat</a:t>
            </a:r>
            <a:r>
              <a:rPr lang="en-US" dirty="0"/>
              <a:t> </a:t>
            </a:r>
            <a:r>
              <a:rPr lang="mr-IN" dirty="0"/>
              <a:t>–</a:t>
            </a:r>
            <a:r>
              <a:rPr lang="en-US" dirty="0"/>
              <a:t> </a:t>
            </a:r>
            <a:r>
              <a:rPr lang="en-US" dirty="0" err="1"/>
              <a:t>astfel</a:t>
            </a:r>
            <a:r>
              <a:rPr lang="en-US" dirty="0"/>
              <a:t> se </a:t>
            </a:r>
            <a:r>
              <a:rPr lang="en-US" dirty="0" err="1"/>
              <a:t>ascunde</a:t>
            </a:r>
            <a:r>
              <a:rPr lang="en-US" dirty="0"/>
              <a:t> </a:t>
            </a:r>
            <a:r>
              <a:rPr lang="en-US" dirty="0" err="1"/>
              <a:t>latenta</a:t>
            </a:r>
            <a:r>
              <a:rPr lang="en-US" dirty="0"/>
              <a:t> de </a:t>
            </a:r>
            <a:r>
              <a:rPr lang="en-US" dirty="0" err="1"/>
              <a:t>acces</a:t>
            </a:r>
            <a:r>
              <a:rPr lang="en-US" dirty="0"/>
              <a:t> la </a:t>
            </a:r>
            <a:r>
              <a:rPr lang="en-US" dirty="0" err="1"/>
              <a:t>memorie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Astfel</a:t>
            </a:r>
            <a:r>
              <a:rPr lang="en-US" dirty="0"/>
              <a:t> </a:t>
            </a:r>
            <a:r>
              <a:rPr lang="en-US" dirty="0" err="1"/>
              <a:t>definirea</a:t>
            </a:r>
            <a:r>
              <a:rPr lang="en-US" dirty="0"/>
              <a:t> a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threaduri</a:t>
            </a:r>
            <a:r>
              <a:rPr lang="en-US" dirty="0"/>
              <a:t> </a:t>
            </a:r>
            <a:r>
              <a:rPr lang="en-US" dirty="0" err="1"/>
              <a:t>dintr</a:t>
            </a:r>
            <a:r>
              <a:rPr lang="en-US" dirty="0"/>
              <a:t>-un block pot </a:t>
            </a:r>
            <a:r>
              <a:rPr lang="en-US" dirty="0" err="1"/>
              <a:t>ascunde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</a:t>
            </a:r>
            <a:r>
              <a:rPr lang="en-US" dirty="0"/>
              <a:t> </a:t>
            </a:r>
            <a:r>
              <a:rPr lang="en-US" dirty="0" err="1"/>
              <a:t>latenta</a:t>
            </a:r>
            <a:r>
              <a:rPr lang="en-US" dirty="0"/>
              <a:t>; </a:t>
            </a:r>
          </a:p>
          <a:p>
            <a:pPr lvl="1"/>
            <a:r>
              <a:rPr lang="en-US" dirty="0"/>
              <a:t>Dar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thread-</a:t>
            </a:r>
            <a:r>
              <a:rPr lang="en-US" dirty="0" err="1"/>
              <a:t>uri</a:t>
            </a:r>
            <a:r>
              <a:rPr lang="en-US" dirty="0"/>
              <a:t> </a:t>
            </a:r>
            <a:r>
              <a:rPr lang="en-US" dirty="0" err="1"/>
              <a:t>intr</a:t>
            </a:r>
            <a:r>
              <a:rPr lang="en-US" dirty="0"/>
              <a:t>-un block </a:t>
            </a:r>
            <a:r>
              <a:rPr lang="en-US" dirty="0" err="1"/>
              <a:t>inseamna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</a:t>
            </a:r>
            <a:r>
              <a:rPr lang="en-US" dirty="0" err="1"/>
              <a:t>memoria</a:t>
            </a:r>
            <a:r>
              <a:rPr lang="en-US" dirty="0"/>
              <a:t> </a:t>
            </a:r>
            <a:r>
              <a:rPr lang="en-US" dirty="0" err="1"/>
              <a:t>partajata</a:t>
            </a:r>
            <a:r>
              <a:rPr lang="en-US" dirty="0"/>
              <a:t> per </a:t>
            </a:r>
            <a:r>
              <a:rPr lang="en-US" dirty="0" err="1"/>
              <a:t>threaduri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mica.</a:t>
            </a:r>
          </a:p>
          <a:p>
            <a:pPr lvl="1"/>
            <a:endParaRPr lang="en-US" dirty="0"/>
          </a:p>
          <a:p>
            <a:r>
              <a:rPr lang="en-US" dirty="0" err="1"/>
              <a:t>Recomandarea</a:t>
            </a:r>
            <a:r>
              <a:rPr lang="en-US" dirty="0"/>
              <a:t> NVIDIA: un block </a:t>
            </a:r>
            <a:r>
              <a:rPr lang="en-US" dirty="0" err="1"/>
              <a:t>necesita</a:t>
            </a:r>
            <a:r>
              <a:rPr lang="en-US" dirty="0"/>
              <a:t> cel </a:t>
            </a:r>
            <a:r>
              <a:rPr lang="en-US" dirty="0" err="1"/>
              <a:t>putin</a:t>
            </a:r>
            <a:r>
              <a:rPr lang="en-US" dirty="0"/>
              <a:t> 192 </a:t>
            </a:r>
            <a:r>
              <a:rPr lang="en-US" dirty="0" err="1"/>
              <a:t>threaduri</a:t>
            </a:r>
            <a:r>
              <a:rPr lang="en-US" dirty="0"/>
              <a:t> pentru a </a:t>
            </a:r>
            <a:r>
              <a:rPr lang="en-US" dirty="0" err="1"/>
              <a:t>ascunde</a:t>
            </a:r>
            <a:r>
              <a:rPr lang="en-US" dirty="0"/>
              <a:t> </a:t>
            </a:r>
            <a:r>
              <a:rPr lang="en-US" dirty="0" err="1"/>
              <a:t>latenta</a:t>
            </a:r>
            <a:r>
              <a:rPr lang="en-US" dirty="0"/>
              <a:t> </a:t>
            </a:r>
            <a:r>
              <a:rPr lang="en-US" dirty="0" err="1"/>
              <a:t>corespunzatoare</a:t>
            </a:r>
            <a:r>
              <a:rPr lang="en-US" dirty="0"/>
              <a:t> </a:t>
            </a:r>
            <a:r>
              <a:rPr lang="en-US" dirty="0" err="1"/>
              <a:t>accesului</a:t>
            </a:r>
            <a:r>
              <a:rPr lang="en-US" dirty="0"/>
              <a:t> la </a:t>
            </a:r>
            <a:r>
              <a:rPr lang="en-US" dirty="0" err="1"/>
              <a:t>memorie</a:t>
            </a:r>
            <a:r>
              <a:rPr lang="en-US"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600" y="548680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Threads in Blocks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EC3B85-2A70-EA48-897B-AAE0F4F05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49FE99-02BF-0F47-B156-B7ABFFD04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52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152704939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Optimizare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 err="1"/>
              <a:t>Evitarea</a:t>
            </a:r>
            <a:r>
              <a:rPr lang="en-US" dirty="0"/>
              <a:t> </a:t>
            </a:r>
            <a:r>
              <a:rPr lang="en-US" dirty="0" err="1"/>
              <a:t>copiilor</a:t>
            </a:r>
            <a:r>
              <a:rPr lang="en-US" dirty="0"/>
              <a:t>/</a:t>
            </a:r>
            <a:r>
              <a:rPr lang="en-US" dirty="0" err="1"/>
              <a:t>transferurilor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memoriile</a:t>
            </a:r>
            <a:r>
              <a:rPr lang="en-US" dirty="0"/>
              <a:t> CPU </a:t>
            </a:r>
            <a:r>
              <a:rPr lang="en-US" dirty="0" err="1"/>
              <a:t>si</a:t>
            </a:r>
            <a:r>
              <a:rPr lang="en-US" dirty="0"/>
              <a:t> GPU</a:t>
            </a:r>
          </a:p>
          <a:p>
            <a:pPr lvl="1"/>
            <a:r>
              <a:rPr lang="en-US" dirty="0" err="1"/>
              <a:t>Folosire</a:t>
            </a:r>
            <a:r>
              <a:rPr lang="en-US" dirty="0"/>
              <a:t> shared memory – </a:t>
            </a:r>
            <a:r>
              <a:rPr lang="en-US" dirty="0" err="1"/>
              <a:t>acces</a:t>
            </a:r>
            <a:r>
              <a:rPr lang="en-US" dirty="0"/>
              <a:t> rapid</a:t>
            </a:r>
          </a:p>
          <a:p>
            <a:pPr lvl="1"/>
            <a:r>
              <a:rPr lang="en-US" dirty="0" err="1"/>
              <a:t>Alegerea</a:t>
            </a:r>
            <a:r>
              <a:rPr lang="en-US" dirty="0"/>
              <a:t> </a:t>
            </a:r>
            <a:r>
              <a:rPr lang="en-US" dirty="0" err="1"/>
              <a:t>potrivita</a:t>
            </a:r>
            <a:r>
              <a:rPr lang="en-US" dirty="0"/>
              <a:t> a </a:t>
            </a:r>
            <a:r>
              <a:rPr lang="en-US" dirty="0" err="1"/>
              <a:t>numarului</a:t>
            </a:r>
            <a:r>
              <a:rPr lang="en-US" dirty="0"/>
              <a:t> de </a:t>
            </a:r>
            <a:r>
              <a:rPr lang="en-US" dirty="0" err="1"/>
              <a:t>blocuri</a:t>
            </a:r>
            <a:endParaRPr lang="en-US" dirty="0"/>
          </a:p>
          <a:p>
            <a:pPr lvl="1"/>
            <a:r>
              <a:rPr lang="en-US" dirty="0"/>
              <a:t>Array alignment ( alignment at 64 byte boundary)</a:t>
            </a:r>
          </a:p>
          <a:p>
            <a:pPr lvl="1"/>
            <a:r>
              <a:rPr lang="en-US" dirty="0"/>
              <a:t>Continuous memory access</a:t>
            </a:r>
          </a:p>
          <a:p>
            <a:pPr lvl="1"/>
            <a:r>
              <a:rPr lang="en-US" dirty="0" err="1"/>
              <a:t>Folosirea</a:t>
            </a:r>
            <a:r>
              <a:rPr lang="en-US" dirty="0"/>
              <a:t> </a:t>
            </a:r>
            <a:r>
              <a:rPr lang="en-US" dirty="0" err="1"/>
              <a:t>functiilor</a:t>
            </a:r>
            <a:r>
              <a:rPr lang="en-US" dirty="0"/>
              <a:t> din  CUDA API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65F93B-A6AF-E04F-943D-E84705F41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F32FC7-B427-BA40-A4FB-373CA0896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53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20990441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8307388" cy="1144588"/>
          </a:xfrm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/>
          <a:p>
            <a:pPr defTabSz="449263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dirty="0">
                <a:latin typeface="Times New Roman" charset="0"/>
              </a:rPr>
              <a:t>Floating Point Operations</a:t>
            </a:r>
          </a:p>
        </p:txBody>
      </p:sp>
      <p:sp>
        <p:nvSpPr>
          <p:cNvPr id="839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8307388" cy="4573588"/>
          </a:xfrm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/>
          <a:p>
            <a:pPr marL="341313" indent="-341313" defTabSz="449263">
              <a:buClr>
                <a:srgbClr val="3333CC"/>
              </a:buCl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>
                <a:solidFill>
                  <a:srgbClr val="3333CC"/>
                </a:solidFill>
                <a:latin typeface="Times New Roman" charset="0"/>
              </a:rPr>
              <a:t>Results of floating-point computations</a:t>
            </a:r>
            <a:r>
              <a:rPr lang="en-US" dirty="0">
                <a:latin typeface="Times New Roman" charset="0"/>
              </a:rPr>
              <a:t> will slightly differ because of:</a:t>
            </a:r>
          </a:p>
          <a:p>
            <a:pPr marL="741363" lvl="1" indent="-284163" defTabSz="4492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>
                <a:latin typeface="Times New Roman" charset="0"/>
              </a:rPr>
              <a:t>Different compiler outputs, instruction sets</a:t>
            </a:r>
          </a:p>
          <a:p>
            <a:pPr marL="741363" lvl="1" indent="-284163" defTabSz="4492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>
                <a:latin typeface="Times New Roman" charset="0"/>
              </a:rPr>
              <a:t>Use of extended precision for intermediate results</a:t>
            </a:r>
          </a:p>
          <a:p>
            <a:pPr lvl="2" defTabSz="44926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dirty="0">
                <a:latin typeface="Times New Roman" charset="0"/>
              </a:rPr>
              <a:t>There are various options to force strict single precision on the host</a:t>
            </a:r>
          </a:p>
          <a:p>
            <a:pPr marL="341313" indent="-341313" defTabSz="449263">
              <a:buFontTx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dirty="0">
              <a:latin typeface="Times New Roman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2CC4194-4DD3-B44C-BE64-DD7608AD4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70E93C-DC3A-7A4F-85C4-68AAA2986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54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31280804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71B8F-4644-0A1E-7389-617A7AD11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D4FC8-0065-6BD7-5EF8-C9351ED387AD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accent5">
              <a:alpha val="14000"/>
            </a:schemeClr>
          </a:solidFill>
        </p:spPr>
        <p:txBody>
          <a:bodyPr/>
          <a:lstStyle/>
          <a:p>
            <a:r>
              <a:rPr lang="en-US" b="1" dirty="0"/>
              <a:t>Using Cooperative Groups (Since Volta - Architecture 7.0+)</a:t>
            </a:r>
          </a:p>
          <a:p>
            <a:r>
              <a:rPr lang="en-US" dirty="0"/>
              <a:t>Cooperative Groups introduced a powerful way to organize threads beyond the traditional block/grid structure, supporting explicit synchronization across a user-defined group of threads.</a:t>
            </a:r>
          </a:p>
          <a:p>
            <a:r>
              <a:rPr lang="en-US" b="1" dirty="0"/>
              <a:t>Cooperative Launch:</a:t>
            </a:r>
            <a:r>
              <a:rPr lang="en-US" dirty="0"/>
              <a:t> Allows launching grids where all blocks run simultaneously.</a:t>
            </a:r>
          </a:p>
          <a:p>
            <a:r>
              <a:rPr lang="en-US" b="1" dirty="0" err="1"/>
              <a:t>cooperative_groups</a:t>
            </a:r>
            <a:r>
              <a:rPr lang="en-US" b="1" dirty="0"/>
              <a:t>::</a:t>
            </a:r>
            <a:r>
              <a:rPr lang="en-US" b="1" dirty="0" err="1"/>
              <a:t>grid_group</a:t>
            </a:r>
            <a:r>
              <a:rPr lang="en-US" b="1" dirty="0"/>
              <a:t>:</a:t>
            </a:r>
            <a:r>
              <a:rPr lang="en-US" dirty="0"/>
              <a:t> This group type allows all blocks in the </a:t>
            </a:r>
            <a:r>
              <a:rPr lang="en-US" i="1" dirty="0"/>
              <a:t>cooperatively launched grid</a:t>
            </a:r>
            <a:r>
              <a:rPr lang="en-US" dirty="0"/>
              <a:t> to synchronize with each other using the </a:t>
            </a:r>
            <a:r>
              <a:rPr lang="en-US" b="1" dirty="0" err="1"/>
              <a:t>group.sync</a:t>
            </a:r>
            <a:r>
              <a:rPr lang="en-US" b="1" dirty="0"/>
              <a:t>()</a:t>
            </a:r>
            <a:r>
              <a:rPr lang="en-US" dirty="0"/>
              <a:t> command.</a:t>
            </a:r>
          </a:p>
          <a:p>
            <a:r>
              <a:rPr lang="en-US" b="1" dirty="0"/>
              <a:t>Constraint:</a:t>
            </a:r>
            <a:r>
              <a:rPr lang="en-US" dirty="0"/>
              <a:t> This feature is limited by hardware and driver constraints, typically only supporting a specific number of blocks per launch, depending on the GPU architecture. It is mainly used for fine-grained parallel algorithms that cannot be easily broken into two separate kernels.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35BC0E-F337-D58D-A2EF-63D38EE10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E47B7B-C45F-0D58-5903-B89ACE736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55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236242221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COMPILARE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EXECUTIE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1858FF-92BB-ED42-A681-00BC996DB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BCC0D1-CA90-B547-AA6D-4C9947AF6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56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12495115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2" name="Rectangle 2"/>
          <p:cNvSpPr>
            <a:spLocks noChangeArrowheads="1"/>
          </p:cNvSpPr>
          <p:nvPr/>
        </p:nvSpPr>
        <p:spPr bwMode="auto">
          <a:xfrm>
            <a:off x="341989" y="674365"/>
            <a:ext cx="4690864" cy="2306960"/>
          </a:xfrm>
          <a:prstGeom prst="rect">
            <a:avLst/>
          </a:prstGeom>
          <a:solidFill>
            <a:srgbClr val="993300">
              <a:alpha val="27058"/>
            </a:srgb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53" name="Rectangle 3"/>
          <p:cNvSpPr>
            <a:spLocks noChangeArrowheads="1"/>
          </p:cNvSpPr>
          <p:nvPr/>
        </p:nvSpPr>
        <p:spPr bwMode="auto">
          <a:xfrm>
            <a:off x="469900" y="3848100"/>
            <a:ext cx="4822180" cy="2101180"/>
          </a:xfrm>
          <a:prstGeom prst="rect">
            <a:avLst/>
          </a:prstGeom>
          <a:solidFill>
            <a:srgbClr val="00CC99">
              <a:alpha val="27058"/>
            </a:srgbClr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54" name="Text Box 4"/>
          <p:cNvSpPr txBox="1">
            <a:spLocks noChangeArrowheads="1"/>
          </p:cNvSpPr>
          <p:nvPr/>
        </p:nvSpPr>
        <p:spPr bwMode="auto">
          <a:xfrm>
            <a:off x="19000" y="116632"/>
            <a:ext cx="83058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1pPr>
            <a:lvl2pPr marL="742950" indent="-28575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2pPr>
            <a:lvl3pPr marL="11430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3pPr>
            <a:lvl4pPr marL="16002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4pPr>
            <a:lvl5pPr marL="20574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ct val="100000"/>
              <a:buFont typeface="Arial" charset="0"/>
              <a:buNone/>
            </a:pPr>
            <a:r>
              <a:rPr lang="en-US" sz="3200" dirty="0">
                <a:solidFill>
                  <a:srgbClr val="000000"/>
                </a:solidFill>
                <a:latin typeface="Arial" charset="0"/>
              </a:rPr>
              <a:t>Compiling a CUDA Program</a:t>
            </a:r>
          </a:p>
        </p:txBody>
      </p:sp>
      <p:sp>
        <p:nvSpPr>
          <p:cNvPr id="78855" name="Oval 5"/>
          <p:cNvSpPr>
            <a:spLocks noChangeArrowheads="1"/>
          </p:cNvSpPr>
          <p:nvPr/>
        </p:nvSpPr>
        <p:spPr bwMode="auto">
          <a:xfrm>
            <a:off x="1778000" y="2032000"/>
            <a:ext cx="1524000" cy="762000"/>
          </a:xfrm>
          <a:prstGeom prst="ellipse">
            <a:avLst/>
          </a:prstGeom>
          <a:solidFill>
            <a:srgbClr val="008000"/>
          </a:solidFill>
          <a:ln w="1908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algn="ctr" defTabSz="449263">
              <a:buClr>
                <a:srgbClr val="000000"/>
              </a:buClr>
              <a:buSzPct val="180000"/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>
                <a:solidFill>
                  <a:srgbClr val="000000"/>
                </a:solidFill>
                <a:latin typeface="Arial" charset="0"/>
              </a:rPr>
              <a:t>NVCC</a:t>
            </a:r>
          </a:p>
        </p:txBody>
      </p:sp>
      <p:sp>
        <p:nvSpPr>
          <p:cNvPr id="78856" name="AutoShape 6"/>
          <p:cNvSpPr>
            <a:spLocks noChangeArrowheads="1"/>
          </p:cNvSpPr>
          <p:nvPr/>
        </p:nvSpPr>
        <p:spPr bwMode="auto">
          <a:xfrm>
            <a:off x="1778000" y="927100"/>
            <a:ext cx="1524000" cy="762000"/>
          </a:xfrm>
          <a:prstGeom prst="flowChartDocument">
            <a:avLst/>
          </a:prstGeom>
          <a:solidFill>
            <a:srgbClr val="0066CC"/>
          </a:solidFill>
          <a:ln w="1908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1588" lvl="1" algn="ctr" defTabSz="449263">
              <a:buClr>
                <a:srgbClr val="000000"/>
              </a:buClr>
              <a:buSzPct val="180000"/>
              <a:buFont typeface="Arial" charset="0"/>
              <a:buNone/>
              <a:tabLst>
                <a:tab pos="1588" algn="l"/>
                <a:tab pos="915988" algn="l"/>
                <a:tab pos="1830388" algn="l"/>
                <a:tab pos="2744788" algn="l"/>
                <a:tab pos="3659188" algn="l"/>
                <a:tab pos="4573588" algn="l"/>
                <a:tab pos="5487988" algn="l"/>
                <a:tab pos="6402388" algn="l"/>
                <a:tab pos="7316788" algn="l"/>
                <a:tab pos="8231188" algn="l"/>
                <a:tab pos="9145588" algn="l"/>
                <a:tab pos="10059988" algn="l"/>
              </a:tabLst>
            </a:pPr>
            <a:r>
              <a:rPr lang="en-US" sz="1800" b="1">
                <a:solidFill>
                  <a:srgbClr val="000000"/>
                </a:solidFill>
                <a:latin typeface="Arial" charset="0"/>
              </a:rPr>
              <a:t>C/C++ CUDA</a:t>
            </a:r>
          </a:p>
          <a:p>
            <a:pPr marL="1588" lvl="1" algn="ctr" defTabSz="449263">
              <a:buClr>
                <a:srgbClr val="000000"/>
              </a:buClr>
              <a:buSzPct val="180000"/>
              <a:buFont typeface="Arial" charset="0"/>
              <a:buNone/>
              <a:tabLst>
                <a:tab pos="1588" algn="l"/>
                <a:tab pos="915988" algn="l"/>
                <a:tab pos="1830388" algn="l"/>
                <a:tab pos="2744788" algn="l"/>
                <a:tab pos="3659188" algn="l"/>
                <a:tab pos="4573588" algn="l"/>
                <a:tab pos="5487988" algn="l"/>
                <a:tab pos="6402388" algn="l"/>
                <a:tab pos="7316788" algn="l"/>
                <a:tab pos="8231188" algn="l"/>
                <a:tab pos="9145588" algn="l"/>
                <a:tab pos="10059988" algn="l"/>
              </a:tabLst>
            </a:pPr>
            <a:r>
              <a:rPr lang="en-US" sz="1800" b="1">
                <a:solidFill>
                  <a:srgbClr val="000000"/>
                </a:solidFill>
                <a:latin typeface="Arial" charset="0"/>
              </a:rPr>
              <a:t>Application</a:t>
            </a:r>
          </a:p>
        </p:txBody>
      </p:sp>
      <p:sp>
        <p:nvSpPr>
          <p:cNvPr id="78857" name="Oval 7"/>
          <p:cNvSpPr>
            <a:spLocks noChangeArrowheads="1"/>
          </p:cNvSpPr>
          <p:nvPr/>
        </p:nvSpPr>
        <p:spPr bwMode="auto">
          <a:xfrm>
            <a:off x="1541463" y="3984625"/>
            <a:ext cx="1984375" cy="838200"/>
          </a:xfrm>
          <a:prstGeom prst="ellipse">
            <a:avLst/>
          </a:prstGeom>
          <a:solidFill>
            <a:srgbClr val="008000"/>
          </a:solidFill>
          <a:ln w="1908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algn="ctr" defTabSz="449263">
              <a:buClr>
                <a:srgbClr val="000000"/>
              </a:buClr>
              <a:buSzPct val="180000"/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 dirty="0">
                <a:solidFill>
                  <a:srgbClr val="000000"/>
                </a:solidFill>
                <a:latin typeface="Arial" charset="0"/>
              </a:rPr>
              <a:t>PTX to Target</a:t>
            </a:r>
          </a:p>
          <a:p>
            <a:pPr algn="ctr" defTabSz="449263">
              <a:buClr>
                <a:srgbClr val="000000"/>
              </a:buClr>
              <a:buSzPct val="180000"/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000" b="1" dirty="0">
                <a:solidFill>
                  <a:srgbClr val="000000"/>
                </a:solidFill>
                <a:latin typeface="Arial" charset="0"/>
              </a:rPr>
              <a:t>Compiler</a:t>
            </a:r>
          </a:p>
        </p:txBody>
      </p:sp>
      <p:cxnSp>
        <p:nvCxnSpPr>
          <p:cNvPr id="78858" name="AutoShape 8"/>
          <p:cNvCxnSpPr>
            <a:cxnSpLocks noChangeShapeType="1"/>
            <a:stCxn id="78856" idx="2"/>
            <a:endCxn id="78855" idx="0"/>
          </p:cNvCxnSpPr>
          <p:nvPr/>
        </p:nvCxnSpPr>
        <p:spPr bwMode="auto">
          <a:xfrm>
            <a:off x="2540000" y="1655763"/>
            <a:ext cx="0" cy="366712"/>
          </a:xfrm>
          <a:prstGeom prst="straightConnector1">
            <a:avLst/>
          </a:prstGeom>
          <a:noFill/>
          <a:ln w="1908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78859" name="AutoShape 9"/>
          <p:cNvCxnSpPr>
            <a:cxnSpLocks noChangeShapeType="1"/>
            <a:stCxn id="78855" idx="4"/>
            <a:endCxn id="78865" idx="0"/>
          </p:cNvCxnSpPr>
          <p:nvPr/>
        </p:nvCxnSpPr>
        <p:spPr bwMode="auto">
          <a:xfrm>
            <a:off x="2540000" y="2794000"/>
            <a:ext cx="49386" cy="406400"/>
          </a:xfrm>
          <a:prstGeom prst="straightConnector1">
            <a:avLst/>
          </a:prstGeom>
          <a:noFill/>
          <a:ln w="1908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78860" name="AutoShape 10"/>
          <p:cNvCxnSpPr>
            <a:cxnSpLocks noChangeShapeType="1"/>
            <a:stCxn id="78865" idx="2"/>
            <a:endCxn id="78857" idx="0"/>
          </p:cNvCxnSpPr>
          <p:nvPr/>
        </p:nvCxnSpPr>
        <p:spPr bwMode="auto">
          <a:xfrm rot="5400000">
            <a:off x="2382894" y="3778132"/>
            <a:ext cx="357251" cy="55735"/>
          </a:xfrm>
          <a:prstGeom prst="curvedConnector3">
            <a:avLst>
              <a:gd name="adj1" fmla="val 50000"/>
            </a:avLst>
          </a:prstGeom>
          <a:noFill/>
          <a:ln w="1908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78861" name="AutoShape 11"/>
          <p:cNvSpPr>
            <a:spLocks noChangeArrowheads="1"/>
          </p:cNvSpPr>
          <p:nvPr/>
        </p:nvSpPr>
        <p:spPr bwMode="auto">
          <a:xfrm>
            <a:off x="1285875" y="5356225"/>
            <a:ext cx="769938" cy="577850"/>
          </a:xfrm>
          <a:prstGeom prst="flowChartDocument">
            <a:avLst/>
          </a:prstGeom>
          <a:solidFill>
            <a:srgbClr val="000099"/>
          </a:solidFill>
          <a:ln w="1908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0" tIns="46800" rIns="182880" bIns="46800" anchor="ctr"/>
          <a:lstStyle/>
          <a:p>
            <a:pPr marL="0" lvl="1" algn="ctr" defTabSz="449263">
              <a:spcBef>
                <a:spcPts val="450"/>
              </a:spcBef>
              <a:buClr>
                <a:srgbClr val="000000"/>
              </a:buClr>
              <a:buSzPct val="180000"/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>
                <a:solidFill>
                  <a:srgbClr val="000000"/>
                </a:solidFill>
                <a:latin typeface="Arial" charset="0"/>
              </a:rPr>
              <a:t> G80</a:t>
            </a:r>
          </a:p>
        </p:txBody>
      </p:sp>
      <p:sp>
        <p:nvSpPr>
          <p:cNvPr id="78862" name="AutoShape 12"/>
          <p:cNvSpPr>
            <a:spLocks noChangeArrowheads="1"/>
          </p:cNvSpPr>
          <p:nvPr/>
        </p:nvSpPr>
        <p:spPr bwMode="auto">
          <a:xfrm>
            <a:off x="2151063" y="5356225"/>
            <a:ext cx="769937" cy="577850"/>
          </a:xfrm>
          <a:prstGeom prst="flowChartDocument">
            <a:avLst/>
          </a:prstGeom>
          <a:solidFill>
            <a:srgbClr val="000099"/>
          </a:solidFill>
          <a:ln w="1908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0" tIns="46800" rIns="182880" bIns="46800" anchor="ctr"/>
          <a:lstStyle/>
          <a:p>
            <a:pPr marL="0" lvl="1" algn="ctr" defTabSz="449263">
              <a:spcBef>
                <a:spcPts val="450"/>
              </a:spcBef>
              <a:buClr>
                <a:srgbClr val="000000"/>
              </a:buClr>
              <a:buSzPct val="180000"/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>
                <a:solidFill>
                  <a:srgbClr val="000000"/>
                </a:solidFill>
                <a:latin typeface="Arial" charset="0"/>
              </a:rPr>
              <a:t>   …</a:t>
            </a:r>
          </a:p>
        </p:txBody>
      </p:sp>
      <p:sp>
        <p:nvSpPr>
          <p:cNvPr id="78863" name="AutoShape 13"/>
          <p:cNvSpPr>
            <a:spLocks noChangeArrowheads="1"/>
          </p:cNvSpPr>
          <p:nvPr/>
        </p:nvSpPr>
        <p:spPr bwMode="auto">
          <a:xfrm>
            <a:off x="3017838" y="5356225"/>
            <a:ext cx="769937" cy="577850"/>
          </a:xfrm>
          <a:prstGeom prst="flowChartDocument">
            <a:avLst/>
          </a:prstGeom>
          <a:solidFill>
            <a:srgbClr val="000099"/>
          </a:solidFill>
          <a:ln w="1908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0" tIns="46800" rIns="182880" bIns="46800" anchor="ctr"/>
          <a:lstStyle/>
          <a:p>
            <a:pPr algn="ctr" defTabSz="449263">
              <a:spcBef>
                <a:spcPts val="450"/>
              </a:spcBef>
              <a:buClr>
                <a:srgbClr val="000000"/>
              </a:buClr>
              <a:buSzPct val="180000"/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1">
                <a:solidFill>
                  <a:srgbClr val="000000"/>
                </a:solidFill>
                <a:latin typeface="Arial" charset="0"/>
              </a:rPr>
              <a:t>    GPU </a:t>
            </a:r>
          </a:p>
        </p:txBody>
      </p:sp>
      <p:sp>
        <p:nvSpPr>
          <p:cNvPr id="78864" name="Text Box 14"/>
          <p:cNvSpPr txBox="1">
            <a:spLocks noChangeArrowheads="1"/>
          </p:cNvSpPr>
          <p:nvPr/>
        </p:nvSpPr>
        <p:spPr bwMode="auto">
          <a:xfrm>
            <a:off x="914400" y="5965825"/>
            <a:ext cx="3200400" cy="39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1pPr>
            <a:lvl2pPr marL="742950" indent="-28575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2pPr>
            <a:lvl3pPr marL="11430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3pPr>
            <a:lvl4pPr marL="16002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4pPr>
            <a:lvl5pPr marL="20574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ts val="500"/>
              </a:spcBef>
              <a:buClr>
                <a:srgbClr val="000000"/>
              </a:buClr>
              <a:buSzPct val="180000"/>
              <a:buFont typeface="Arial" charset="0"/>
              <a:buNone/>
            </a:pPr>
            <a:r>
              <a:rPr lang="en-US" sz="2000" b="1">
                <a:solidFill>
                  <a:srgbClr val="000000"/>
                </a:solidFill>
                <a:latin typeface="Arial" charset="0"/>
              </a:rPr>
              <a:t>Target code</a:t>
            </a:r>
          </a:p>
        </p:txBody>
      </p:sp>
      <p:sp>
        <p:nvSpPr>
          <p:cNvPr id="78865" name="AutoShape 15"/>
          <p:cNvSpPr>
            <a:spLocks noChangeArrowheads="1"/>
          </p:cNvSpPr>
          <p:nvPr/>
        </p:nvSpPr>
        <p:spPr bwMode="auto">
          <a:xfrm>
            <a:off x="1865486" y="3200400"/>
            <a:ext cx="1447800" cy="457200"/>
          </a:xfrm>
          <a:prstGeom prst="flowChartDocument">
            <a:avLst/>
          </a:prstGeom>
          <a:solidFill>
            <a:srgbClr val="6666FF"/>
          </a:solidFill>
          <a:ln w="1908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3175" lvl="1" algn="ctr" defTabSz="449263">
              <a:buClr>
                <a:srgbClr val="000000"/>
              </a:buClr>
              <a:buSzPct val="180000"/>
              <a:buFont typeface="Arial" charset="0"/>
              <a:buNone/>
              <a:tabLst>
                <a:tab pos="3175" algn="l"/>
                <a:tab pos="917575" algn="l"/>
                <a:tab pos="1831975" algn="l"/>
                <a:tab pos="2746375" algn="l"/>
                <a:tab pos="3660775" algn="l"/>
                <a:tab pos="4575175" algn="l"/>
                <a:tab pos="5489575" algn="l"/>
                <a:tab pos="6403975" algn="l"/>
                <a:tab pos="7318375" algn="l"/>
                <a:tab pos="8232775" algn="l"/>
                <a:tab pos="9147175" algn="l"/>
                <a:tab pos="10061575" algn="l"/>
              </a:tabLst>
            </a:pPr>
            <a:r>
              <a:rPr lang="en-US" sz="1800" b="1" dirty="0">
                <a:solidFill>
                  <a:srgbClr val="000000"/>
                </a:solidFill>
                <a:latin typeface="Arial" charset="0"/>
              </a:rPr>
              <a:t>PTX Code</a:t>
            </a:r>
          </a:p>
        </p:txBody>
      </p:sp>
      <p:cxnSp>
        <p:nvCxnSpPr>
          <p:cNvPr id="78866" name="AutoShape 16"/>
          <p:cNvCxnSpPr>
            <a:cxnSpLocks noChangeShapeType="1"/>
            <a:stCxn id="78857" idx="3"/>
            <a:endCxn id="78861" idx="0"/>
          </p:cNvCxnSpPr>
          <p:nvPr/>
        </p:nvCxnSpPr>
        <p:spPr bwMode="auto">
          <a:xfrm rot="5400000">
            <a:off x="1433513" y="4948238"/>
            <a:ext cx="636587" cy="160337"/>
          </a:xfrm>
          <a:prstGeom prst="curvedConnector3">
            <a:avLst>
              <a:gd name="adj1" fmla="val 59602"/>
            </a:avLst>
          </a:prstGeom>
          <a:noFill/>
          <a:ln w="1908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78867" name="AutoShape 17"/>
          <p:cNvCxnSpPr>
            <a:cxnSpLocks noChangeShapeType="1"/>
            <a:stCxn id="78857" idx="4"/>
            <a:endCxn id="78863" idx="0"/>
          </p:cNvCxnSpPr>
          <p:nvPr/>
        </p:nvCxnSpPr>
        <p:spPr bwMode="auto">
          <a:xfrm rot="16200000" flipH="1">
            <a:off x="2711450" y="4654550"/>
            <a:ext cx="514350" cy="869950"/>
          </a:xfrm>
          <a:prstGeom prst="curvedConnector3">
            <a:avLst>
              <a:gd name="adj1" fmla="val 50000"/>
            </a:avLst>
          </a:prstGeom>
          <a:noFill/>
          <a:ln w="1908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78868" name="AutoShape 18"/>
          <p:cNvCxnSpPr>
            <a:cxnSpLocks noChangeShapeType="1"/>
            <a:stCxn id="78857" idx="4"/>
            <a:endCxn id="78863" idx="0"/>
          </p:cNvCxnSpPr>
          <p:nvPr/>
        </p:nvCxnSpPr>
        <p:spPr bwMode="auto">
          <a:xfrm>
            <a:off x="2020888" y="4832350"/>
            <a:ext cx="515937" cy="869950"/>
          </a:xfrm>
          <a:prstGeom prst="curvedConnector3">
            <a:avLst>
              <a:gd name="adj1" fmla="val 50000"/>
            </a:avLst>
          </a:prstGeom>
          <a:noFill/>
          <a:ln w="1908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78869" name="Text Box 19"/>
          <p:cNvSpPr txBox="1">
            <a:spLocks noChangeArrowheads="1"/>
          </p:cNvSpPr>
          <p:nvPr/>
        </p:nvSpPr>
        <p:spPr bwMode="auto">
          <a:xfrm>
            <a:off x="620713" y="3200400"/>
            <a:ext cx="110807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1pPr>
            <a:lvl2pPr marL="742950" indent="-28575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2pPr>
            <a:lvl3pPr marL="11430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3pPr>
            <a:lvl4pPr marL="16002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4pPr>
            <a:lvl5pPr marL="20574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Arial" charset="0"/>
              <a:buNone/>
            </a:pPr>
            <a:r>
              <a:rPr lang="en-US" b="1">
                <a:solidFill>
                  <a:srgbClr val="000000"/>
                </a:solidFill>
                <a:latin typeface="Arial" charset="0"/>
              </a:rPr>
              <a:t>Virtual</a:t>
            </a:r>
          </a:p>
        </p:txBody>
      </p:sp>
      <p:sp>
        <p:nvSpPr>
          <p:cNvPr id="78870" name="Text Box 20"/>
          <p:cNvSpPr txBox="1">
            <a:spLocks noChangeArrowheads="1"/>
          </p:cNvSpPr>
          <p:nvPr/>
        </p:nvSpPr>
        <p:spPr bwMode="auto">
          <a:xfrm>
            <a:off x="471488" y="3886200"/>
            <a:ext cx="1222583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1pPr>
            <a:lvl2pPr marL="742950" indent="-28575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2pPr>
            <a:lvl3pPr marL="11430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3pPr>
            <a:lvl4pPr marL="16002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4pPr>
            <a:lvl5pPr marL="20574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Arial" charset="0"/>
              <a:buNone/>
            </a:pPr>
            <a:r>
              <a:rPr lang="en-US" sz="2000" b="1" dirty="0">
                <a:solidFill>
                  <a:srgbClr val="000000"/>
                </a:solidFill>
                <a:latin typeface="Arial" charset="0"/>
              </a:rPr>
              <a:t>Physical</a:t>
            </a:r>
          </a:p>
        </p:txBody>
      </p:sp>
      <p:cxnSp>
        <p:nvCxnSpPr>
          <p:cNvPr id="78871" name="AutoShape 21"/>
          <p:cNvCxnSpPr>
            <a:cxnSpLocks noChangeShapeType="1"/>
            <a:endCxn id="78872" idx="1"/>
          </p:cNvCxnSpPr>
          <p:nvPr/>
        </p:nvCxnSpPr>
        <p:spPr bwMode="auto">
          <a:xfrm flipV="1">
            <a:off x="3324225" y="2409825"/>
            <a:ext cx="539750" cy="3175"/>
          </a:xfrm>
          <a:prstGeom prst="curvedConnector3">
            <a:avLst>
              <a:gd name="adj1" fmla="val 50000"/>
            </a:avLst>
          </a:prstGeom>
          <a:noFill/>
          <a:ln w="1908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78872" name="AutoShape 22"/>
          <p:cNvSpPr>
            <a:spLocks noChangeArrowheads="1"/>
          </p:cNvSpPr>
          <p:nvPr/>
        </p:nvSpPr>
        <p:spPr bwMode="auto">
          <a:xfrm>
            <a:off x="3873500" y="2181225"/>
            <a:ext cx="1447800" cy="457200"/>
          </a:xfrm>
          <a:prstGeom prst="flowChartDocument">
            <a:avLst/>
          </a:prstGeom>
          <a:solidFill>
            <a:srgbClr val="6666FF"/>
          </a:solidFill>
          <a:ln w="1908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3175" lvl="1" algn="ctr" defTabSz="449263">
              <a:buClr>
                <a:srgbClr val="000000"/>
              </a:buClr>
              <a:buSzPct val="180000"/>
              <a:buFont typeface="Arial" charset="0"/>
              <a:buNone/>
              <a:tabLst>
                <a:tab pos="3175" algn="l"/>
                <a:tab pos="917575" algn="l"/>
                <a:tab pos="1831975" algn="l"/>
                <a:tab pos="2746375" algn="l"/>
                <a:tab pos="3660775" algn="l"/>
                <a:tab pos="4575175" algn="l"/>
                <a:tab pos="5489575" algn="l"/>
                <a:tab pos="6403975" algn="l"/>
                <a:tab pos="7318375" algn="l"/>
                <a:tab pos="8232775" algn="l"/>
                <a:tab pos="9147175" algn="l"/>
                <a:tab pos="10061575" algn="l"/>
              </a:tabLst>
            </a:pPr>
            <a:r>
              <a:rPr lang="en-US" sz="1800" b="1" dirty="0">
                <a:solidFill>
                  <a:srgbClr val="000000"/>
                </a:solidFill>
                <a:latin typeface="Arial" charset="0"/>
              </a:rPr>
              <a:t>CPU Code</a:t>
            </a:r>
          </a:p>
        </p:txBody>
      </p:sp>
      <p:sp>
        <p:nvSpPr>
          <p:cNvPr id="78873" name="Rectangle 23"/>
          <p:cNvSpPr>
            <a:spLocks noChangeArrowheads="1"/>
          </p:cNvSpPr>
          <p:nvPr/>
        </p:nvSpPr>
        <p:spPr bwMode="auto">
          <a:xfrm>
            <a:off x="5868144" y="764704"/>
            <a:ext cx="3259296" cy="331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marL="457200" indent="-457200" defTabSz="449263">
              <a:lnSpc>
                <a:spcPct val="9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charset="0"/>
              <a:buChar char="•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</a:pPr>
            <a:r>
              <a:rPr lang="en-US" dirty="0">
                <a:solidFill>
                  <a:srgbClr val="000000"/>
                </a:solidFill>
                <a:latin typeface="Arial" charset="0"/>
              </a:rPr>
              <a:t>Parallel Thread </a:t>
            </a:r>
            <a:r>
              <a:rPr lang="en-US" dirty="0" err="1">
                <a:solidFill>
                  <a:srgbClr val="000000"/>
                </a:solidFill>
                <a:latin typeface="Arial" charset="0"/>
              </a:rPr>
              <a:t>eXecution</a:t>
            </a:r>
            <a:r>
              <a:rPr lang="en-US" dirty="0">
                <a:solidFill>
                  <a:srgbClr val="000000"/>
                </a:solidFill>
                <a:latin typeface="Arial" charset="0"/>
              </a:rPr>
              <a:t> (PTX)</a:t>
            </a:r>
            <a:r>
              <a:rPr lang="ar-sa" dirty="0">
                <a:solidFill>
                  <a:srgbClr val="000000"/>
                </a:solidFill>
                <a:latin typeface="Arial" charset="0"/>
                <a:cs typeface="Arial" charset="0"/>
              </a:rPr>
              <a:t>‏</a:t>
            </a:r>
            <a:endParaRPr lang="en-US" dirty="0">
              <a:solidFill>
                <a:srgbClr val="000000"/>
              </a:solidFill>
              <a:latin typeface="Arial" charset="0"/>
            </a:endParaRPr>
          </a:p>
          <a:p>
            <a:pPr marL="973138" lvl="1" indent="-401638" defTabSz="449263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charset="0"/>
              <a:buChar char="–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</a:pPr>
            <a:r>
              <a:rPr lang="en-US" dirty="0">
                <a:solidFill>
                  <a:srgbClr val="000000"/>
                </a:solidFill>
                <a:latin typeface="Arial" charset="0"/>
              </a:rPr>
              <a:t>Virtual Machine and ISA</a:t>
            </a:r>
          </a:p>
          <a:p>
            <a:pPr marL="973138" lvl="1" indent="-401638" defTabSz="449263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charset="0"/>
              <a:buChar char="–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</a:pPr>
            <a:r>
              <a:rPr lang="en-US" dirty="0">
                <a:solidFill>
                  <a:srgbClr val="000000"/>
                </a:solidFill>
                <a:latin typeface="Arial" charset="0"/>
              </a:rPr>
              <a:t>Programming model</a:t>
            </a:r>
          </a:p>
          <a:p>
            <a:pPr marL="973138" lvl="1" indent="-401638" defTabSz="449263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charset="0"/>
              <a:buChar char="–"/>
              <a:tabLst>
                <a:tab pos="457200" algn="l"/>
                <a:tab pos="1371600" algn="l"/>
                <a:tab pos="2286000" algn="l"/>
                <a:tab pos="3200400" algn="l"/>
                <a:tab pos="4114800" algn="l"/>
                <a:tab pos="5029200" algn="l"/>
                <a:tab pos="5943600" algn="l"/>
                <a:tab pos="6858000" algn="l"/>
                <a:tab pos="7772400" algn="l"/>
                <a:tab pos="8686800" algn="l"/>
                <a:tab pos="9601200" algn="l"/>
                <a:tab pos="10515600" algn="l"/>
              </a:tabLst>
            </a:pPr>
            <a:r>
              <a:rPr lang="en-US" dirty="0">
                <a:solidFill>
                  <a:srgbClr val="000000"/>
                </a:solidFill>
                <a:latin typeface="Arial" charset="0"/>
              </a:rPr>
              <a:t>Execution resources and state</a:t>
            </a:r>
          </a:p>
        </p:txBody>
      </p:sp>
      <p:sp>
        <p:nvSpPr>
          <p:cNvPr id="78874" name="Text Box 24"/>
          <p:cNvSpPr txBox="1">
            <a:spLocks noChangeArrowheads="1"/>
          </p:cNvSpPr>
          <p:nvPr/>
        </p:nvSpPr>
        <p:spPr bwMode="auto">
          <a:xfrm>
            <a:off x="3505200" y="914400"/>
            <a:ext cx="3200400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1pPr>
            <a:lvl2pPr marL="742950" indent="-28575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2pPr>
            <a:lvl3pPr marL="11430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3pPr>
            <a:lvl4pPr marL="16002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4pPr>
            <a:lvl5pPr marL="20574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Lucida Console" charset="0"/>
              <a:buNone/>
            </a:pPr>
            <a:r>
              <a:rPr lang="en-US" sz="1400" dirty="0">
                <a:solidFill>
                  <a:srgbClr val="000000"/>
                </a:solidFill>
                <a:latin typeface="Lucida Console" charset="0"/>
              </a:rPr>
              <a:t>float me = </a:t>
            </a:r>
            <a:r>
              <a:rPr lang="en-US" sz="1400" dirty="0" err="1">
                <a:solidFill>
                  <a:srgbClr val="000000"/>
                </a:solidFill>
                <a:latin typeface="Lucida Console" charset="0"/>
              </a:rPr>
              <a:t>gx</a:t>
            </a:r>
            <a:r>
              <a:rPr lang="en-US" sz="1400" dirty="0">
                <a:solidFill>
                  <a:srgbClr val="000000"/>
                </a:solidFill>
                <a:latin typeface="Lucida Console" charset="0"/>
              </a:rPr>
              <a:t>[</a:t>
            </a:r>
            <a:r>
              <a:rPr lang="en-US" sz="1400" dirty="0" err="1">
                <a:solidFill>
                  <a:srgbClr val="000000"/>
                </a:solidFill>
                <a:latin typeface="Lucida Console" charset="0"/>
              </a:rPr>
              <a:t>gtid</a:t>
            </a:r>
            <a:r>
              <a:rPr lang="en-US" sz="1400" dirty="0">
                <a:solidFill>
                  <a:srgbClr val="000000"/>
                </a:solidFill>
                <a:latin typeface="Lucida Console" charset="0"/>
              </a:rPr>
              <a:t>];</a:t>
            </a:r>
          </a:p>
          <a:p>
            <a:pPr eaLnBrk="1" hangingPunct="1">
              <a:buClr>
                <a:srgbClr val="000000"/>
              </a:buClr>
              <a:buSzPct val="100000"/>
              <a:buFont typeface="Lucida Console" charset="0"/>
              <a:buNone/>
            </a:pPr>
            <a:r>
              <a:rPr lang="en-US" sz="1400" dirty="0" err="1">
                <a:solidFill>
                  <a:srgbClr val="000000"/>
                </a:solidFill>
                <a:latin typeface="Lucida Console" charset="0"/>
              </a:rPr>
              <a:t>me.x</a:t>
            </a:r>
            <a:r>
              <a:rPr lang="en-US" sz="1400" dirty="0">
                <a:solidFill>
                  <a:srgbClr val="000000"/>
                </a:solidFill>
                <a:latin typeface="Lucida Console" charset="0"/>
              </a:rPr>
              <a:t> += </a:t>
            </a:r>
            <a:r>
              <a:rPr lang="en-US" sz="1400" dirty="0" err="1">
                <a:solidFill>
                  <a:srgbClr val="000000"/>
                </a:solidFill>
                <a:latin typeface="Lucida Console" charset="0"/>
              </a:rPr>
              <a:t>me.y</a:t>
            </a:r>
            <a:r>
              <a:rPr lang="en-US" sz="1400" dirty="0">
                <a:solidFill>
                  <a:srgbClr val="000000"/>
                </a:solidFill>
                <a:latin typeface="Lucida Console" charset="0"/>
              </a:rPr>
              <a:t> * </a:t>
            </a:r>
            <a:r>
              <a:rPr lang="en-US" sz="1400" dirty="0" err="1">
                <a:solidFill>
                  <a:srgbClr val="000000"/>
                </a:solidFill>
                <a:latin typeface="Lucida Console" charset="0"/>
              </a:rPr>
              <a:t>me.z</a:t>
            </a:r>
            <a:r>
              <a:rPr lang="en-US" sz="1400" dirty="0">
                <a:solidFill>
                  <a:srgbClr val="000000"/>
                </a:solidFill>
                <a:latin typeface="Lucida Console" charset="0"/>
              </a:rPr>
              <a:t>;</a:t>
            </a:r>
          </a:p>
        </p:txBody>
      </p:sp>
      <p:sp>
        <p:nvSpPr>
          <p:cNvPr id="78875" name="Text Box 25"/>
          <p:cNvSpPr txBox="1">
            <a:spLocks noChangeArrowheads="1"/>
          </p:cNvSpPr>
          <p:nvPr/>
        </p:nvSpPr>
        <p:spPr bwMode="auto">
          <a:xfrm>
            <a:off x="3657600" y="4038600"/>
            <a:ext cx="5791200" cy="52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1pPr>
            <a:lvl2pPr marL="742950" indent="-28575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2pPr>
            <a:lvl3pPr marL="11430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3pPr>
            <a:lvl4pPr marL="16002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4pPr>
            <a:lvl5pPr marL="20574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Lucida Console" charset="0"/>
              <a:buNone/>
            </a:pPr>
            <a:r>
              <a:rPr lang="en-US" sz="1400">
                <a:solidFill>
                  <a:srgbClr val="000000"/>
                </a:solidFill>
                <a:latin typeface="Lucida Console" charset="0"/>
              </a:rPr>
              <a:t>ld.global.v4.f32  {$f1,$f3,$f5,$f7}, [$r9+0];</a:t>
            </a:r>
          </a:p>
          <a:p>
            <a:pPr eaLnBrk="1" hangingPunct="1">
              <a:buClr>
                <a:srgbClr val="000000"/>
              </a:buClr>
              <a:buSzPct val="100000"/>
              <a:buFont typeface="Lucida Console" charset="0"/>
              <a:buNone/>
            </a:pPr>
            <a:r>
              <a:rPr lang="en-US" sz="1400">
                <a:solidFill>
                  <a:srgbClr val="000000"/>
                </a:solidFill>
                <a:latin typeface="Lucida Console" charset="0"/>
              </a:rPr>
              <a:t>mad.f32           $f1, $f5, $f3, $f1;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BC1195-269C-E94A-8FBD-FC4B39315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831DF-A074-914E-8FB4-C80132825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CE7269-5C5D-4C29-A9CA-FF87F6AC4DB5}" type="slidenum">
              <a:rPr lang="es-ES" altLang="zh-TW" smtClean="0"/>
              <a:pPr>
                <a:defRPr/>
              </a:pPr>
              <a:t>57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9275817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6" name="Text Box 2"/>
          <p:cNvSpPr txBox="1">
            <a:spLocks noChangeArrowheads="1"/>
          </p:cNvSpPr>
          <p:nvPr/>
        </p:nvSpPr>
        <p:spPr bwMode="auto">
          <a:xfrm>
            <a:off x="685800" y="228600"/>
            <a:ext cx="8305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1pPr>
            <a:lvl2pPr marL="742950" indent="-28575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2pPr>
            <a:lvl3pPr marL="11430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3pPr>
            <a:lvl4pPr marL="16002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4pPr>
            <a:lvl5pPr marL="2057400" indent="-228600" defTabSz="449263" eaLnBrk="0" hangingPunct="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ct val="100000"/>
              <a:buFont typeface="Arial" charset="0"/>
              <a:buNone/>
            </a:pPr>
            <a:r>
              <a:rPr lang="en-US" sz="3200" dirty="0">
                <a:solidFill>
                  <a:srgbClr val="000000"/>
                </a:solidFill>
                <a:latin typeface="Arial" charset="0"/>
              </a:rPr>
              <a:t>Compilation</a:t>
            </a:r>
          </a:p>
        </p:txBody>
      </p:sp>
      <p:sp>
        <p:nvSpPr>
          <p:cNvPr id="79877" name="Text Box 3"/>
          <p:cNvSpPr txBox="1">
            <a:spLocks noChangeArrowheads="1"/>
          </p:cNvSpPr>
          <p:nvPr/>
        </p:nvSpPr>
        <p:spPr bwMode="auto">
          <a:xfrm>
            <a:off x="457200" y="1282700"/>
            <a:ext cx="8229600" cy="504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marL="457200" indent="-457200" defTabSz="449263" eaLnBrk="0" hangingPunct="0"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1pPr>
            <a:lvl2pPr marL="973138" indent="-401638" defTabSz="449263" eaLnBrk="0" hangingPunct="0"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2pPr>
            <a:lvl3pPr marL="1430338" indent="-341313" defTabSz="449263" eaLnBrk="0" hangingPunct="0"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3pPr>
            <a:lvl4pPr marL="1600200" indent="-228600" defTabSz="449263" eaLnBrk="0" hangingPunct="0"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4pPr>
            <a:lvl5pPr marL="2057400" indent="-228600" defTabSz="449263" eaLnBrk="0" hangingPunct="0"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1027113" algn="l"/>
                <a:tab pos="1941513" algn="l"/>
                <a:tab pos="2855913" algn="l"/>
                <a:tab pos="3770313" algn="l"/>
                <a:tab pos="4684713" algn="l"/>
                <a:tab pos="5599113" algn="l"/>
                <a:tab pos="6513513" algn="l"/>
                <a:tab pos="7427913" algn="l"/>
                <a:tab pos="8342313" algn="l"/>
                <a:tab pos="9256713" algn="l"/>
                <a:tab pos="10171113" algn="l"/>
              </a:tabLst>
              <a:defRPr sz="2400">
                <a:solidFill>
                  <a:schemeClr val="tx1"/>
                </a:solidFill>
                <a:latin typeface="Palatino" charset="0"/>
                <a:ea typeface="ＭＳ Ｐゴシック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charset="0"/>
              </a:rPr>
              <a:t>Any source file containing CUDA language extensions must be compiled with</a:t>
            </a:r>
            <a:r>
              <a:rPr lang="en-US" sz="1800" dirty="0">
                <a:solidFill>
                  <a:srgbClr val="3333CC"/>
                </a:solidFill>
                <a:latin typeface="Arial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Arial" charset="0"/>
              </a:rPr>
              <a:t>NVCC</a:t>
            </a:r>
          </a:p>
          <a:p>
            <a:pPr eaLnBrk="1" hangingPunct="1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charset="0"/>
              </a:rPr>
              <a:t>NVCC is a</a:t>
            </a:r>
            <a:r>
              <a:rPr lang="en-US" sz="1800" dirty="0">
                <a:solidFill>
                  <a:srgbClr val="3333CC"/>
                </a:solidFill>
                <a:latin typeface="Arial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Arial" charset="0"/>
              </a:rPr>
              <a:t>compiler driver</a:t>
            </a:r>
          </a:p>
          <a:p>
            <a:pPr lvl="1" eaLnBrk="1" hangingPunct="1">
              <a:lnSpc>
                <a:spcPct val="90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charset="0"/>
              <a:buChar char="–"/>
            </a:pPr>
            <a:r>
              <a:rPr lang="en-US" sz="1800" dirty="0">
                <a:solidFill>
                  <a:srgbClr val="000000"/>
                </a:solidFill>
                <a:latin typeface="Arial" charset="0"/>
              </a:rPr>
              <a:t>Works by invoking all the necessary tools and compilers like </a:t>
            </a:r>
            <a:r>
              <a:rPr lang="en-US" sz="1800" dirty="0" err="1">
                <a:solidFill>
                  <a:srgbClr val="000000"/>
                </a:solidFill>
                <a:latin typeface="Arial" charset="0"/>
              </a:rPr>
              <a:t>cudacc</a:t>
            </a:r>
            <a:r>
              <a:rPr lang="en-US" sz="1800" dirty="0">
                <a:solidFill>
                  <a:srgbClr val="000000"/>
                </a:solidFill>
                <a:latin typeface="Arial" charset="0"/>
              </a:rPr>
              <a:t>, g++, cl, ...</a:t>
            </a:r>
          </a:p>
          <a:p>
            <a:pPr eaLnBrk="1" hangingPunct="1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SzPct val="100000"/>
              <a:buFont typeface="Arial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charset="0"/>
              </a:rPr>
              <a:t>NVCC outputs:</a:t>
            </a:r>
          </a:p>
          <a:p>
            <a:pPr lvl="1" eaLnBrk="1" hangingPunct="1">
              <a:spcBef>
                <a:spcPts val="600"/>
              </a:spcBef>
              <a:buClr>
                <a:srgbClr val="000000"/>
              </a:buClr>
              <a:buSzPct val="100000"/>
              <a:buFont typeface="Arial" charset="0"/>
              <a:buChar char="–"/>
            </a:pPr>
            <a:r>
              <a:rPr lang="en-US" sz="1800" dirty="0">
                <a:solidFill>
                  <a:srgbClr val="000000"/>
                </a:solidFill>
                <a:latin typeface="Arial" charset="0"/>
              </a:rPr>
              <a:t>C code (host CPU Code)</a:t>
            </a:r>
          </a:p>
          <a:p>
            <a:pPr lvl="2" eaLnBrk="1" hangingPunct="1">
              <a:spcBef>
                <a:spcPts val="400"/>
              </a:spcBef>
              <a:buClr>
                <a:srgbClr val="000000"/>
              </a:buClr>
              <a:buSzPct val="100000"/>
              <a:buFont typeface="Arial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charset="0"/>
              </a:rPr>
              <a:t>Must then be compiled with the rest of the application using another tool</a:t>
            </a:r>
          </a:p>
          <a:p>
            <a:pPr lvl="1" eaLnBrk="1" hangingPunct="1">
              <a:spcBef>
                <a:spcPts val="600"/>
              </a:spcBef>
              <a:buClr>
                <a:srgbClr val="000000"/>
              </a:buClr>
              <a:buSzPct val="100000"/>
              <a:buFont typeface="Arial" charset="0"/>
              <a:buChar char="–"/>
            </a:pPr>
            <a:r>
              <a:rPr lang="en-US" sz="1800" dirty="0">
                <a:solidFill>
                  <a:srgbClr val="000000"/>
                </a:solidFill>
                <a:latin typeface="Arial" charset="0"/>
              </a:rPr>
              <a:t>PTX</a:t>
            </a:r>
          </a:p>
          <a:p>
            <a:pPr lvl="2" eaLnBrk="1" hangingPunct="1">
              <a:spcBef>
                <a:spcPts val="500"/>
              </a:spcBef>
              <a:buClr>
                <a:srgbClr val="000000"/>
              </a:buClr>
              <a:buSzPct val="100000"/>
              <a:buFont typeface="Arial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charset="0"/>
              </a:rPr>
              <a:t>Object code directly</a:t>
            </a:r>
          </a:p>
          <a:p>
            <a:pPr lvl="2" eaLnBrk="1" hangingPunct="1">
              <a:spcBef>
                <a:spcPts val="500"/>
              </a:spcBef>
              <a:buClr>
                <a:srgbClr val="000000"/>
              </a:buClr>
              <a:buSzPct val="100000"/>
              <a:buFont typeface="Arial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charset="0"/>
              </a:rPr>
              <a:t>Or, PTX source, interpreted at runtime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3214DA0-5259-2140-A943-62A2B31EC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AB3ADC-E6E3-E649-9922-CF66FB589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CE7269-5C5D-4C29-A9CA-FF87F6AC4DB5}" type="slidenum">
              <a:rPr lang="es-ES" altLang="zh-TW" smtClean="0"/>
              <a:pPr>
                <a:defRPr/>
              </a:pPr>
              <a:t>58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190688378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Referinte</a:t>
            </a:r>
            <a:r>
              <a:rPr lang="en-US" dirty="0"/>
              <a:t> </a:t>
            </a:r>
            <a:r>
              <a:rPr lang="en-US" dirty="0" err="1"/>
              <a:t>prezentare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525963"/>
          </a:xfrm>
        </p:spPr>
        <p:txBody>
          <a:bodyPr/>
          <a:lstStyle/>
          <a:p>
            <a:endParaRPr lang="en-US" altLang="zh-TW" sz="1600" dirty="0"/>
          </a:p>
          <a:p>
            <a:pPr marL="0" indent="0">
              <a:buNone/>
            </a:pPr>
            <a:r>
              <a:rPr lang="en-US" altLang="zh-TW" sz="1600" dirty="0" err="1"/>
              <a:t>Prezentarea</a:t>
            </a:r>
            <a:r>
              <a:rPr lang="en-US" altLang="zh-TW" sz="1600" dirty="0"/>
              <a:t> </a:t>
            </a:r>
            <a:r>
              <a:rPr lang="en-US" altLang="zh-TW" sz="1600" dirty="0" err="1"/>
              <a:t>este</a:t>
            </a:r>
            <a:r>
              <a:rPr lang="en-US" altLang="zh-TW" sz="1600" dirty="0"/>
              <a:t> </a:t>
            </a:r>
            <a:r>
              <a:rPr lang="en-US" altLang="zh-TW" sz="1600" dirty="0" err="1"/>
              <a:t>bazata</a:t>
            </a:r>
            <a:r>
              <a:rPr lang="en-US" altLang="zh-TW" sz="1600" dirty="0"/>
              <a:t> </a:t>
            </a:r>
            <a:r>
              <a:rPr lang="en-US" altLang="zh-TW" sz="1600" dirty="0" err="1"/>
              <a:t>pe</a:t>
            </a:r>
            <a:r>
              <a:rPr lang="en-US" altLang="zh-TW" sz="1600" dirty="0"/>
              <a:t> slide-</a:t>
            </a:r>
            <a:r>
              <a:rPr lang="en-US" altLang="zh-TW" sz="1600" dirty="0" err="1"/>
              <a:t>uri</a:t>
            </a:r>
            <a:r>
              <a:rPr lang="en-US" altLang="zh-TW" sz="1600" dirty="0"/>
              <a:t> din </a:t>
            </a:r>
            <a:r>
              <a:rPr lang="en-US" altLang="zh-TW" sz="1600" dirty="0" err="1"/>
              <a:t>urmatoarele</a:t>
            </a:r>
            <a:r>
              <a:rPr lang="en-US" altLang="zh-TW" sz="1600" dirty="0"/>
              <a:t> </a:t>
            </a:r>
            <a:r>
              <a:rPr lang="en-US" altLang="zh-TW" sz="1600" dirty="0" err="1"/>
              <a:t>referinte</a:t>
            </a:r>
            <a:r>
              <a:rPr lang="en-US" altLang="zh-TW" sz="1600" dirty="0"/>
              <a:t>:</a:t>
            </a:r>
          </a:p>
          <a:p>
            <a:endParaRPr lang="en-US" altLang="zh-TW" sz="1600" dirty="0"/>
          </a:p>
          <a:p>
            <a:pPr eaLnBrk="1" hangingPunct="1"/>
            <a:r>
              <a:rPr lang="en-US" sz="1600" dirty="0"/>
              <a:t>David Kirk/NVIDIA and Wen-</a:t>
            </a:r>
            <a:r>
              <a:rPr lang="en-US" sz="1600" dirty="0" err="1"/>
              <a:t>mei</a:t>
            </a:r>
            <a:r>
              <a:rPr lang="en-US" sz="1600" dirty="0"/>
              <a:t> W. </a:t>
            </a:r>
            <a:r>
              <a:rPr lang="en-US" sz="1600" dirty="0" err="1"/>
              <a:t>Hwu</a:t>
            </a:r>
            <a:r>
              <a:rPr lang="en-US" sz="1600" dirty="0"/>
              <a:t>, 2007-2010. ECE 498AL, University of Illinois, Urbana-Champaign</a:t>
            </a:r>
          </a:p>
          <a:p>
            <a:pPr marL="0" indent="0">
              <a:buNone/>
            </a:pPr>
            <a:endParaRPr lang="en-US" altLang="zh-TW" sz="1600" dirty="0"/>
          </a:p>
          <a:p>
            <a:r>
              <a:rPr lang="en-US" altLang="zh-TW" sz="1600" dirty="0"/>
              <a:t>http://</a:t>
            </a:r>
            <a:r>
              <a:rPr lang="en-US" altLang="zh-TW" sz="1600" dirty="0" err="1"/>
              <a:t>cuda-programming.blogspot.ro</a:t>
            </a:r>
            <a:r>
              <a:rPr lang="en-US" altLang="zh-TW" sz="1600" dirty="0"/>
              <a:t>/2013/01/what-is-constant-memory-in-</a:t>
            </a:r>
            <a:r>
              <a:rPr lang="en-US" altLang="zh-TW" sz="1600" dirty="0" err="1"/>
              <a:t>cuda.html</a:t>
            </a:r>
            <a:endParaRPr lang="en-US" altLang="zh-TW" sz="1600" dirty="0"/>
          </a:p>
          <a:p>
            <a:endParaRPr lang="en-US" altLang="zh-TW" sz="1600" dirty="0"/>
          </a:p>
          <a:p>
            <a:r>
              <a:rPr lang="en-US" altLang="zh-TW" sz="1600" dirty="0"/>
              <a:t>Li Sung-Chi. Taiwan Evolutionary Intelligence Laboratory. 2016/12/14 Group Meeting Presentation</a:t>
            </a:r>
          </a:p>
          <a:p>
            <a:endParaRPr lang="en-US" altLang="zh-TW" sz="1600" dirty="0"/>
          </a:p>
          <a:p>
            <a:r>
              <a:rPr lang="de-DE" altLang="zh-TW" sz="1600" dirty="0"/>
              <a:t>Cyril Zeller. CUDA C/C++ Basics. </a:t>
            </a:r>
            <a:r>
              <a:rPr lang="de-DE" altLang="zh-TW" sz="1600" dirty="0" err="1"/>
              <a:t>Supercomputing</a:t>
            </a:r>
            <a:r>
              <a:rPr lang="de-DE" altLang="zh-TW" sz="1600" dirty="0"/>
              <a:t> 2011 </a:t>
            </a:r>
            <a:r>
              <a:rPr lang="de-DE" altLang="zh-TW" sz="1600" dirty="0" err="1"/>
              <a:t>Tutorial</a:t>
            </a:r>
            <a:r>
              <a:rPr lang="de-DE" altLang="zh-TW" sz="1600" dirty="0"/>
              <a:t>, NVIDIA Corporation</a:t>
            </a:r>
            <a:br>
              <a:rPr lang="de-DE" altLang="zh-TW" sz="1600" dirty="0"/>
            </a:br>
            <a:r>
              <a:rPr lang="en-US" altLang="zh-TW" sz="1600" dirty="0"/>
              <a:t>http://</a:t>
            </a:r>
            <a:r>
              <a:rPr lang="en-US" altLang="zh-TW" sz="1600" dirty="0" err="1"/>
              <a:t>www.nvidia.com</a:t>
            </a:r>
            <a:r>
              <a:rPr lang="en-US" altLang="zh-TW" sz="1600" dirty="0"/>
              <a:t>/docs/</a:t>
            </a:r>
            <a:r>
              <a:rPr lang="en-US" altLang="zh-TW" sz="1600" dirty="0" err="1"/>
              <a:t>io</a:t>
            </a:r>
            <a:r>
              <a:rPr lang="en-US" altLang="zh-TW" sz="1600" dirty="0"/>
              <a:t>/116711/sc11-cuda-c-basics.pdf</a:t>
            </a:r>
          </a:p>
          <a:p>
            <a:pPr marL="0" indent="0">
              <a:buNone/>
            </a:pPr>
            <a:endParaRPr lang="en-US" sz="1600" dirty="0">
              <a:hlinkClick r:id="rId3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A17DA8-C506-5F40-9F94-35B58F6DB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FR" altLang="zh-TW"/>
              <a:t>Curs 11 - PPD</a:t>
            </a:r>
            <a:endParaRPr lang="es-ES" altLang="zh-TW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E7A7BB-8CCF-7D49-8965-056664D5F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92AFF8-8043-48C3-83EB-0AE57A32FA31}" type="slidenum">
              <a:rPr lang="es-ES" altLang="zh-TW" smtClean="0"/>
              <a:pPr>
                <a:defRPr/>
              </a:pPr>
              <a:t>59</a:t>
            </a:fld>
            <a:endParaRPr lang="es-ES" altLang="zh-TW" dirty="0"/>
          </a:p>
        </p:txBody>
      </p:sp>
    </p:spTree>
    <p:extLst>
      <p:ext uri="{BB962C8B-B14F-4D97-AF65-F5344CB8AC3E}">
        <p14:creationId xmlns:p14="http://schemas.microsoft.com/office/powerpoint/2010/main" val="2079635657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" altLang="zh-TW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" altLang="zh-TW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b97ba85-579e-411b-948c-311c2e42328f" xsi:nil="true"/>
    <lcf76f155ced4ddcb4097134ff3c332f xmlns="fa0e77c9-1a0d-4ee8-b1f5-4ac48c790630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04CC3ACF4D0747AA1FE12D19DCF021" ma:contentTypeVersion="10" ma:contentTypeDescription="Create a new document." ma:contentTypeScope="" ma:versionID="cf0654d96355e5c774fe312a9360f39c">
  <xsd:schema xmlns:xsd="http://www.w3.org/2001/XMLSchema" xmlns:xs="http://www.w3.org/2001/XMLSchema" xmlns:p="http://schemas.microsoft.com/office/2006/metadata/properties" xmlns:ns2="fa0e77c9-1a0d-4ee8-b1f5-4ac48c790630" xmlns:ns3="db97ba85-579e-411b-948c-311c2e42328f" targetNamespace="http://schemas.microsoft.com/office/2006/metadata/properties" ma:root="true" ma:fieldsID="f7981f665096fce5a90f5de9115eb9b1" ns2:_="" ns3:_="">
    <xsd:import namespace="fa0e77c9-1a0d-4ee8-b1f5-4ac48c790630"/>
    <xsd:import namespace="db97ba85-579e-411b-948c-311c2e423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0e77c9-1a0d-4ee8-b1f5-4ac48c7906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f85decb-1301-438d-8b3f-81c7864c2a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97ba85-579e-411b-948c-311c2e42328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1b05b6d-07b3-467d-867e-37daeb951625}" ma:internalName="TaxCatchAll" ma:showField="CatchAllData" ma:web="db97ba85-579e-411b-948c-311c2e42328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8CCB8AC-B3C6-46CE-9024-8A49D9D43A7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4F48E36-1857-4003-BD0A-DF1210A148A0}">
  <ds:schemaRefs>
    <ds:schemaRef ds:uri="http://schemas.microsoft.com/office/2006/metadata/properties"/>
    <ds:schemaRef ds:uri="http://schemas.microsoft.com/office/infopath/2007/PartnerControls"/>
    <ds:schemaRef ds:uri="db97ba85-579e-411b-948c-311c2e42328f"/>
    <ds:schemaRef ds:uri="fa0e77c9-1a0d-4ee8-b1f5-4ac48c790630"/>
  </ds:schemaRefs>
</ds:datastoreItem>
</file>

<file path=customXml/itemProps3.xml><?xml version="1.0" encoding="utf-8"?>
<ds:datastoreItem xmlns:ds="http://schemas.openxmlformats.org/officeDocument/2006/customXml" ds:itemID="{071A5F6F-B817-41F3-AB65-775F2B4C734B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41866</TotalTime>
  <Words>4658</Words>
  <Application>Microsoft Office PowerPoint</Application>
  <PresentationFormat>On-screen Show (4:3)</PresentationFormat>
  <Paragraphs>814</Paragraphs>
  <Slides>59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0" baseType="lpstr">
      <vt:lpstr>Diseño predeterminado</vt:lpstr>
      <vt:lpstr>Curs 11 Introducere in CUDA</vt:lpstr>
      <vt:lpstr>Ce este CUDA?</vt:lpstr>
      <vt:lpstr>Istoric</vt:lpstr>
      <vt:lpstr>Aplicatii</vt:lpstr>
      <vt:lpstr>GPGPU</vt:lpstr>
      <vt:lpstr>CPU vs. GPU</vt:lpstr>
      <vt:lpstr>Terminologie</vt:lpstr>
      <vt:lpstr>Heterogeneous Computing</vt:lpstr>
      <vt:lpstr>Architecture of a CUDA-capable GPU</vt:lpstr>
      <vt:lpstr>GPU device</vt:lpstr>
      <vt:lpstr>GeForce 8800 Architecture (Tesla)</vt:lpstr>
      <vt:lpstr>PowerPoint Presentation</vt:lpstr>
      <vt:lpstr>Other NVidia architectures</vt:lpstr>
      <vt:lpstr>Hardware Requirement</vt:lpstr>
      <vt:lpstr>Fluxul de procesare</vt:lpstr>
      <vt:lpstr>Extended C</vt:lpstr>
      <vt:lpstr>CUDA Function Declarations</vt:lpstr>
      <vt:lpstr> __device__   and __host__</vt:lpstr>
      <vt:lpstr>CUDA Function Declarations</vt:lpstr>
      <vt:lpstr>PowerPoint Presentation</vt:lpstr>
      <vt:lpstr>Thread Blocks: Scalable Cooperation</vt:lpstr>
      <vt:lpstr>Exemplu: Adunare vectori</vt:lpstr>
      <vt:lpstr>PowerPoint Presentation</vt:lpstr>
      <vt:lpstr>PowerPoint Presentation</vt:lpstr>
      <vt:lpstr>&gt;&lt;&gt;&lt;&gt;&lt;&gt;&lt;&gt;&lt;&gt;&lt;&gt;&lt;&gt;&lt;&gt;&lt;</vt:lpstr>
      <vt:lpstr>Thread, Block, Grid</vt:lpstr>
      <vt:lpstr>PowerPoint Presentation</vt:lpstr>
      <vt:lpstr>PowerPoint Presentation</vt:lpstr>
      <vt:lpstr>PowerPoint Presentation</vt:lpstr>
      <vt:lpstr>dim3  struct</vt:lpstr>
      <vt:lpstr>CUDA Built-In Variables</vt:lpstr>
      <vt:lpstr>PowerPoint Presentation</vt:lpstr>
      <vt:lpstr>Exemplul 2</vt:lpstr>
      <vt:lpstr>Block sizes</vt:lpstr>
      <vt:lpstr>Memory Types</vt:lpstr>
      <vt:lpstr>PowerPoint Presentation</vt:lpstr>
      <vt:lpstr>Memory Types</vt:lpstr>
      <vt:lpstr>Memory Types</vt:lpstr>
      <vt:lpstr>Memory Types</vt:lpstr>
      <vt:lpstr>CUDA Memories characteristics</vt:lpstr>
      <vt:lpstr>Exemplu: Reduction</vt:lpstr>
      <vt:lpstr>O alta varianta… dar similara  (better for CUDA)</vt:lpstr>
      <vt:lpstr>PowerPoint Presentation</vt:lpstr>
      <vt:lpstr>PowerPoint Presentation</vt:lpstr>
      <vt:lpstr>PowerPoint Presentation</vt:lpstr>
      <vt:lpstr>Coordonare -&gt; Host &amp; Device </vt:lpstr>
      <vt:lpstr>NVIDIA GPU Execution Model</vt:lpstr>
      <vt:lpstr>SIMT = Single-Instruction Multiple Threads</vt:lpstr>
      <vt:lpstr>Organizare - Structurare</vt:lpstr>
      <vt:lpstr>PowerPoint Presentation</vt:lpstr>
      <vt:lpstr>Efect-&gt; wrap</vt:lpstr>
      <vt:lpstr>PowerPoint Presentation</vt:lpstr>
      <vt:lpstr>Optimizare</vt:lpstr>
      <vt:lpstr>Floating Point Operations</vt:lpstr>
      <vt:lpstr>Synchronization</vt:lpstr>
      <vt:lpstr>PowerPoint Presentation</vt:lpstr>
      <vt:lpstr>PowerPoint Presentation</vt:lpstr>
      <vt:lpstr>PowerPoint Presentation</vt:lpstr>
      <vt:lpstr>Referinte prezentare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Mariajose</dc:creator>
  <cp:lastModifiedBy>Virginia Niculescu</cp:lastModifiedBy>
  <cp:revision>1526</cp:revision>
  <dcterms:created xsi:type="dcterms:W3CDTF">2010-05-23T14:28:12Z</dcterms:created>
  <dcterms:modified xsi:type="dcterms:W3CDTF">2026-02-02T08:44:26Z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0x0101008904CC3ACF4D0747AA1FE12D19DCF021</vt:lpwstr>
  </property>
  <property fmtid="{D5CDD505-2E9C-101B-9397-08002B2CF9AE}" pid="3" name="MediaServiceImageTags">
    <vt:lpwstr/>
  </property>
</Properties>
</file>